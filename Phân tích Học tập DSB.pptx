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sldIdLst>
    <p:sldId id="256" r:id="rId2"/>
    <p:sldId id="269" r:id="rId3"/>
    <p:sldId id="270" r:id="rId4"/>
    <p:sldId id="257" r:id="rId5"/>
    <p:sldId id="271" r:id="rId6"/>
    <p:sldId id="272" r:id="rId7"/>
    <p:sldId id="278" r:id="rId8"/>
    <p:sldId id="276" r:id="rId9"/>
    <p:sldId id="279" r:id="rId10"/>
    <p:sldId id="280" r:id="rId11"/>
    <p:sldId id="273" r:id="rId12"/>
    <p:sldId id="281" r:id="rId13"/>
    <p:sldId id="282" r:id="rId14"/>
    <p:sldId id="286" r:id="rId15"/>
    <p:sldId id="284" r:id="rId16"/>
    <p:sldId id="285" r:id="rId17"/>
    <p:sldId id="287" r:id="rId18"/>
    <p:sldId id="289" r:id="rId19"/>
    <p:sldId id="274" r:id="rId20"/>
    <p:sldId id="291" r:id="rId21"/>
    <p:sldId id="292" r:id="rId22"/>
    <p:sldId id="293" r:id="rId23"/>
    <p:sldId id="294" r:id="rId24"/>
    <p:sldId id="296" r:id="rId25"/>
    <p:sldId id="298" r:id="rId26"/>
    <p:sldId id="300" r:id="rId27"/>
    <p:sldId id="299" r:id="rId28"/>
    <p:sldId id="301" r:id="rId29"/>
    <p:sldId id="302" r:id="rId30"/>
  </p:sldIdLst>
  <p:sldSz cx="12192000" cy="6858000"/>
  <p:notesSz cx="6858000" cy="9144000"/>
  <p:embeddedFontLst>
    <p:embeddedFont>
      <p:font typeface="Cambria Math" panose="02040503050406030204" pitchFamily="18" charset="0"/>
      <p:regular r:id="rId32"/>
    </p:embeddedFont>
    <p:embeddedFont>
      <p:font typeface="Montserrat" panose="00000500000000000000" pitchFamily="2" charset="0"/>
      <p:regular r:id="rId33"/>
      <p:bold r:id="rId34"/>
      <p:italic r:id="rId35"/>
      <p:boldItalic r:id="rId36"/>
    </p:embeddedFont>
    <p:embeddedFont>
      <p:font typeface="Montserrat Light" panose="00000400000000000000" pitchFamily="2" charset="0"/>
      <p:regular r:id="rId37"/>
      <p:italic r:id="rId38"/>
    </p:embeddedFont>
    <p:embeddedFont>
      <p:font typeface="Roboto" panose="02000000000000000000" pitchFamily="2" charset="0"/>
      <p:regular r:id="rId39"/>
      <p:bold r:id="rId40"/>
      <p:italic r:id="rId41"/>
      <p:boldItalic r:id="rId42"/>
    </p:embeddedFont>
    <p:embeddedFont>
      <p:font typeface="Roboto Light" panose="02000000000000000000" pitchFamily="2" charset="0"/>
      <p:regular r:id="rId43"/>
      <p: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ED8"/>
    <a:srgbClr val="EAEDEF"/>
    <a:srgbClr val="0B60EB"/>
    <a:srgbClr val="F59E0B"/>
    <a:srgbClr val="FAD18E"/>
    <a:srgbClr val="643F04"/>
    <a:srgbClr val="F0F6FF"/>
    <a:srgbClr val="3B82F6"/>
    <a:srgbClr val="C7DFF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CB87EC-9BF8-4C09-A8AF-C5087D76018C}">
  <a:tblStyle styleId="{7DCB87EC-9BF8-4C09-A8AF-C5087D76018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2337" autoAdjust="0"/>
  </p:normalViewPr>
  <p:slideViewPr>
    <p:cSldViewPr snapToGrid="0">
      <p:cViewPr varScale="1">
        <p:scale>
          <a:sx n="98" d="100"/>
          <a:sy n="98" d="100"/>
        </p:scale>
        <p:origin x="1236"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0.fntdata"/></Relationships>
</file>

<file path=ppt/charts/_rels/chart1.xml.rels><?xml version="1.0" encoding="UTF-8" standalone="yes"?>
<Relationships xmlns="http://schemas.openxmlformats.org/package/2006/relationships"><Relationship Id="rId3" Type="http://schemas.openxmlformats.org/officeDocument/2006/relationships/oleObject" Target="file:///E:\Project\khdl_hub_k39\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Project\khdl_hub_k39\montuch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98677677048382E-2"/>
          <c:y val="0.28918260397687018"/>
          <c:w val="0.96013223263507363"/>
          <c:h val="0.67683549460223857"/>
        </c:manualLayout>
      </c:layout>
      <c:barChart>
        <c:barDir val="bar"/>
        <c:grouping val="stacked"/>
        <c:varyColors val="0"/>
        <c:ser>
          <c:idx val="0"/>
          <c:order val="0"/>
          <c:tx>
            <c:strRef>
              <c:f>Sheet1!$C$1</c:f>
              <c:strCache>
                <c:ptCount val="1"/>
                <c:pt idx="0">
                  <c:v>Thấp</c:v>
                </c:pt>
              </c:strCache>
            </c:strRef>
          </c:tx>
          <c:spPr>
            <a:solidFill>
              <a:srgbClr val="E57373"/>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Sheet1!$B$2:$B$3</c:f>
              <c:strCache>
                <c:ptCount val="2"/>
                <c:pt idx="0">
                  <c:v>Môn kinh tế</c:v>
                </c:pt>
                <c:pt idx="1">
                  <c:v>Môn kỹ thuật</c:v>
                </c:pt>
              </c:strCache>
            </c:strRef>
          </c:cat>
          <c:val>
            <c:numRef>
              <c:f>Sheet1!$C$2:$C$3</c:f>
              <c:numCache>
                <c:formatCode>0.00%</c:formatCode>
                <c:ptCount val="2"/>
                <c:pt idx="0">
                  <c:v>0.4</c:v>
                </c:pt>
                <c:pt idx="1">
                  <c:v>0.23080000000000001</c:v>
                </c:pt>
              </c:numCache>
            </c:numRef>
          </c:val>
          <c:extLst>
            <c:ext xmlns:c16="http://schemas.microsoft.com/office/drawing/2014/chart" uri="{C3380CC4-5D6E-409C-BE32-E72D297353CC}">
              <c16:uniqueId val="{00000000-5A8F-4660-8902-0EE08662DEF0}"/>
            </c:ext>
          </c:extLst>
        </c:ser>
        <c:ser>
          <c:idx val="1"/>
          <c:order val="1"/>
          <c:tx>
            <c:strRef>
              <c:f>Sheet1!$D$1</c:f>
              <c:strCache>
                <c:ptCount val="1"/>
                <c:pt idx="0">
                  <c:v>Tiêu chuẩn</c:v>
                </c:pt>
              </c:strCache>
            </c:strRef>
          </c:tx>
          <c:spPr>
            <a:solidFill>
              <a:srgbClr val="90A4AE"/>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Sheet1!$B$2:$B$3</c:f>
              <c:strCache>
                <c:ptCount val="2"/>
                <c:pt idx="0">
                  <c:v>Môn kinh tế</c:v>
                </c:pt>
                <c:pt idx="1">
                  <c:v>Môn kỹ thuật</c:v>
                </c:pt>
              </c:strCache>
            </c:strRef>
          </c:cat>
          <c:val>
            <c:numRef>
              <c:f>Sheet1!$D$2:$D$3</c:f>
              <c:numCache>
                <c:formatCode>0.00%</c:formatCode>
                <c:ptCount val="2"/>
                <c:pt idx="0">
                  <c:v>0.33329999999999999</c:v>
                </c:pt>
                <c:pt idx="1">
                  <c:v>0.15379999999999999</c:v>
                </c:pt>
              </c:numCache>
            </c:numRef>
          </c:val>
          <c:extLst>
            <c:ext xmlns:c16="http://schemas.microsoft.com/office/drawing/2014/chart" uri="{C3380CC4-5D6E-409C-BE32-E72D297353CC}">
              <c16:uniqueId val="{00000001-5A8F-4660-8902-0EE08662DEF0}"/>
            </c:ext>
          </c:extLst>
        </c:ser>
        <c:ser>
          <c:idx val="2"/>
          <c:order val="2"/>
          <c:tx>
            <c:strRef>
              <c:f>Sheet1!$E$1</c:f>
              <c:strCache>
                <c:ptCount val="1"/>
                <c:pt idx="0">
                  <c:v>Cao</c:v>
                </c:pt>
              </c:strCache>
            </c:strRef>
          </c:tx>
          <c:spPr>
            <a:solidFill>
              <a:srgbClr val="42A5F5"/>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Sheet1!$B$2:$B$3</c:f>
              <c:strCache>
                <c:ptCount val="2"/>
                <c:pt idx="0">
                  <c:v>Môn kinh tế</c:v>
                </c:pt>
                <c:pt idx="1">
                  <c:v>Môn kỹ thuật</c:v>
                </c:pt>
              </c:strCache>
            </c:strRef>
          </c:cat>
          <c:val>
            <c:numRef>
              <c:f>Sheet1!$E$2:$E$3</c:f>
              <c:numCache>
                <c:formatCode>0.00%</c:formatCode>
                <c:ptCount val="2"/>
                <c:pt idx="0">
                  <c:v>0.26669999999999999</c:v>
                </c:pt>
                <c:pt idx="1">
                  <c:v>0.61539999999999995</c:v>
                </c:pt>
              </c:numCache>
            </c:numRef>
          </c:val>
          <c:extLst>
            <c:ext xmlns:c16="http://schemas.microsoft.com/office/drawing/2014/chart" uri="{C3380CC4-5D6E-409C-BE32-E72D297353CC}">
              <c16:uniqueId val="{00000002-5A8F-4660-8902-0EE08662DEF0}"/>
            </c:ext>
          </c:extLst>
        </c:ser>
        <c:dLbls>
          <c:dLblPos val="ctr"/>
          <c:showLegendKey val="0"/>
          <c:showVal val="1"/>
          <c:showCatName val="0"/>
          <c:showSerName val="0"/>
          <c:showPercent val="0"/>
          <c:showBubbleSize val="0"/>
        </c:dLbls>
        <c:gapWidth val="150"/>
        <c:overlap val="100"/>
        <c:axId val="522693919"/>
        <c:axId val="522685279"/>
      </c:barChart>
      <c:catAx>
        <c:axId val="522693919"/>
        <c:scaling>
          <c:orientation val="minMax"/>
        </c:scaling>
        <c:delete val="1"/>
        <c:axPos val="l"/>
        <c:numFmt formatCode="General" sourceLinked="1"/>
        <c:majorTickMark val="none"/>
        <c:minorTickMark val="none"/>
        <c:tickLblPos val="nextTo"/>
        <c:crossAx val="522685279"/>
        <c:crosses val="autoZero"/>
        <c:auto val="1"/>
        <c:lblAlgn val="ctr"/>
        <c:lblOffset val="100"/>
        <c:noMultiLvlLbl val="0"/>
      </c:catAx>
      <c:valAx>
        <c:axId val="522685279"/>
        <c:scaling>
          <c:orientation val="minMax"/>
        </c:scaling>
        <c:delete val="1"/>
        <c:axPos val="b"/>
        <c:title>
          <c:tx>
            <c:rich>
              <a:bodyPr rot="0" spcFirstLastPara="1" vertOverflow="ellipsis" vert="horz" wrap="square" anchor="ctr" anchorCtr="1"/>
              <a:lstStyle/>
              <a:p>
                <a:pPr>
                  <a:defRPr sz="1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vi-VN" sz="1800" b="0">
                    <a:solidFill>
                      <a:schemeClr val="tx1"/>
                    </a:solidFill>
                    <a:latin typeface="Times New Roman" panose="02020603050405020304" pitchFamily="18" charset="0"/>
                    <a:cs typeface="Times New Roman" panose="02020603050405020304" pitchFamily="18" charset="0"/>
                  </a:rPr>
                  <a:t>Tỷ lệ các khối ngành trong từng vùng phân hóa</a:t>
                </a:r>
                <a:endParaRPr lang="en-US" sz="1800" b="0">
                  <a:solidFill>
                    <a:schemeClr val="tx1"/>
                  </a:solidFill>
                  <a:latin typeface="Times New Roman" panose="02020603050405020304" pitchFamily="18" charset="0"/>
                  <a:cs typeface="Times New Roman" panose="02020603050405020304" pitchFamily="18" charset="0"/>
                </a:endParaRPr>
              </a:p>
            </c:rich>
          </c:tx>
          <c:layout>
            <c:manualLayout>
              <c:xMode val="edge"/>
              <c:yMode val="edge"/>
              <c:x val="0.14427975756400191"/>
              <c:y val="4.1320142471630419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0.00%" sourceLinked="1"/>
        <c:majorTickMark val="none"/>
        <c:minorTickMark val="none"/>
        <c:tickLblPos val="nextTo"/>
        <c:crossAx val="522693919"/>
        <c:crosses val="autoZero"/>
        <c:crossBetween val="between"/>
      </c:valAx>
      <c:spPr>
        <a:noFill/>
        <a:ln w="25400">
          <a:noFill/>
        </a:ln>
        <a:effectLst/>
      </c:spPr>
    </c:plotArea>
    <c:legend>
      <c:legendPos val="t"/>
      <c:layout>
        <c:manualLayout>
          <c:xMode val="edge"/>
          <c:yMode val="edge"/>
          <c:x val="0.12074772734143914"/>
          <c:y val="0.17558366254853569"/>
          <c:w val="0.69140404616151685"/>
          <c:h val="8.8252972387097894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151823020175095"/>
          <c:y val="0.26481879574746492"/>
          <c:w val="0.74359933216019403"/>
          <c:h val="0.70966004218183498"/>
        </c:manualLayout>
      </c:layout>
      <c:barChart>
        <c:barDir val="bar"/>
        <c:grouping val="clustered"/>
        <c:varyColors val="0"/>
        <c:ser>
          <c:idx val="0"/>
          <c:order val="0"/>
          <c:spPr>
            <a:solidFill>
              <a:schemeClr val="accent1"/>
            </a:solidFill>
            <a:ln w="3175">
              <a:solidFill>
                <a:schemeClr val="bg1">
                  <a:lumMod val="75000"/>
                </a:schemeClr>
              </a:solidFill>
            </a:ln>
            <a:effectLst/>
          </c:spPr>
          <c:invertIfNegative val="0"/>
          <c:dPt>
            <c:idx val="2"/>
            <c:invertIfNegative val="0"/>
            <c:bubble3D val="0"/>
            <c:spPr>
              <a:solidFill>
                <a:schemeClr val="bg1">
                  <a:lumMod val="50000"/>
                </a:schemeClr>
              </a:solidFill>
              <a:ln w="3175">
                <a:solidFill>
                  <a:schemeClr val="bg1">
                    <a:lumMod val="75000"/>
                  </a:schemeClr>
                </a:solidFill>
              </a:ln>
              <a:effectLst/>
            </c:spPr>
            <c:extLst>
              <c:ext xmlns:c16="http://schemas.microsoft.com/office/drawing/2014/chart" uri="{C3380CC4-5D6E-409C-BE32-E72D297353CC}">
                <c16:uniqueId val="{00000001-D598-4000-A759-490203B8744C}"/>
              </c:ext>
            </c:extLst>
          </c:dPt>
          <c:dPt>
            <c:idx val="3"/>
            <c:invertIfNegative val="0"/>
            <c:bubble3D val="0"/>
            <c:spPr>
              <a:solidFill>
                <a:schemeClr val="bg1">
                  <a:lumMod val="50000"/>
                </a:schemeClr>
              </a:solidFill>
              <a:ln w="3175">
                <a:solidFill>
                  <a:schemeClr val="bg1">
                    <a:lumMod val="75000"/>
                  </a:schemeClr>
                </a:solidFill>
              </a:ln>
              <a:effectLst/>
            </c:spPr>
            <c:extLst>
              <c:ext xmlns:c16="http://schemas.microsoft.com/office/drawing/2014/chart" uri="{C3380CC4-5D6E-409C-BE32-E72D297353CC}">
                <c16:uniqueId val="{00000003-D598-4000-A759-490203B8744C}"/>
              </c:ext>
            </c:extLst>
          </c:dPt>
          <c:dPt>
            <c:idx val="4"/>
            <c:invertIfNegative val="0"/>
            <c:bubble3D val="0"/>
            <c:spPr>
              <a:solidFill>
                <a:schemeClr val="bg1">
                  <a:lumMod val="65000"/>
                </a:schemeClr>
              </a:solidFill>
              <a:ln w="3175">
                <a:solidFill>
                  <a:schemeClr val="bg1">
                    <a:lumMod val="75000"/>
                  </a:schemeClr>
                </a:solidFill>
              </a:ln>
              <a:effectLst/>
            </c:spPr>
            <c:extLst>
              <c:ext xmlns:c16="http://schemas.microsoft.com/office/drawing/2014/chart" uri="{C3380CC4-5D6E-409C-BE32-E72D297353CC}">
                <c16:uniqueId val="{00000005-D598-4000-A759-490203B8744C}"/>
              </c:ext>
            </c:extLst>
          </c:dPt>
          <c:dPt>
            <c:idx val="5"/>
            <c:invertIfNegative val="0"/>
            <c:bubble3D val="0"/>
            <c:spPr>
              <a:solidFill>
                <a:srgbClr val="0070C0"/>
              </a:solidFill>
              <a:ln w="3175">
                <a:solidFill>
                  <a:schemeClr val="bg1">
                    <a:lumMod val="75000"/>
                  </a:schemeClr>
                </a:solidFill>
              </a:ln>
              <a:effectLst/>
            </c:spPr>
            <c:extLst>
              <c:ext xmlns:c16="http://schemas.microsoft.com/office/drawing/2014/chart" uri="{C3380CC4-5D6E-409C-BE32-E72D297353CC}">
                <c16:uniqueId val="{00000007-D598-4000-A759-490203B8744C}"/>
              </c:ext>
            </c:extLst>
          </c:dPt>
          <c:dPt>
            <c:idx val="6"/>
            <c:invertIfNegative val="0"/>
            <c:bubble3D val="0"/>
            <c:spPr>
              <a:solidFill>
                <a:srgbClr val="0070C0"/>
              </a:solidFill>
              <a:ln w="3175">
                <a:solidFill>
                  <a:schemeClr val="bg1">
                    <a:lumMod val="75000"/>
                  </a:schemeClr>
                </a:solidFill>
              </a:ln>
              <a:effectLst/>
            </c:spPr>
            <c:extLst>
              <c:ext xmlns:c16="http://schemas.microsoft.com/office/drawing/2014/chart" uri="{C3380CC4-5D6E-409C-BE32-E72D297353CC}">
                <c16:uniqueId val="{00000009-D598-4000-A759-490203B8744C}"/>
              </c:ext>
            </c:extLst>
          </c:dPt>
          <c:dPt>
            <c:idx val="7"/>
            <c:invertIfNegative val="0"/>
            <c:bubble3D val="0"/>
            <c:spPr>
              <a:solidFill>
                <a:srgbClr val="0070C0"/>
              </a:solidFill>
              <a:ln w="3175">
                <a:solidFill>
                  <a:schemeClr val="bg1">
                    <a:lumMod val="75000"/>
                  </a:schemeClr>
                </a:solidFill>
              </a:ln>
              <a:effectLst/>
            </c:spPr>
            <c:extLst>
              <c:ext xmlns:c16="http://schemas.microsoft.com/office/drawing/2014/chart" uri="{C3380CC4-5D6E-409C-BE32-E72D297353CC}">
                <c16:uniqueId val="{0000000B-D598-4000-A759-490203B8744C}"/>
              </c:ext>
            </c:extLst>
          </c:dPt>
          <c:dLbls>
            <c:dLbl>
              <c:idx val="5"/>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1E3A8A"/>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7-D598-4000-A759-490203B8744C}"/>
                </c:ext>
              </c:extLst>
            </c:dLbl>
            <c:dLbl>
              <c:idx val="6"/>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1E3A8A"/>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9-D598-4000-A759-490203B8744C}"/>
                </c:ext>
              </c:extLst>
            </c:dLbl>
            <c:dLbl>
              <c:idx val="7"/>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1E3A8A"/>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B-D598-4000-A759-490203B8744C}"/>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Thanh toán điện tử</c:v>
                </c:pt>
                <c:pt idx="1">
                  <c:v>Thuế</c:v>
                </c:pt>
                <c:pt idx="2">
                  <c:v>Kinh tế học quốc tế</c:v>
                </c:pt>
                <c:pt idx="3">
                  <c:v>Phân tích tài chính doanh nghiệp</c:v>
                </c:pt>
                <c:pt idx="4">
                  <c:v>Thương mại điện tử</c:v>
                </c:pt>
                <c:pt idx="5">
                  <c:v>Lập trình hướng đối tượng</c:v>
                </c:pt>
                <c:pt idx="6">
                  <c:v>Phân tích kinh doanh</c:v>
                </c:pt>
                <c:pt idx="7">
                  <c:v>Phân tích dữ liệu mạng xã hội</c:v>
                </c:pt>
              </c:strCache>
            </c:strRef>
          </c:cat>
          <c:val>
            <c:numRef>
              <c:f>Sheet1!$D$2:$D$9</c:f>
              <c:numCache>
                <c:formatCode>General</c:formatCode>
                <c:ptCount val="8"/>
                <c:pt idx="0">
                  <c:v>0</c:v>
                </c:pt>
                <c:pt idx="1">
                  <c:v>0</c:v>
                </c:pt>
                <c:pt idx="2">
                  <c:v>3</c:v>
                </c:pt>
                <c:pt idx="3">
                  <c:v>3</c:v>
                </c:pt>
                <c:pt idx="4">
                  <c:v>16</c:v>
                </c:pt>
                <c:pt idx="5">
                  <c:v>61</c:v>
                </c:pt>
                <c:pt idx="6">
                  <c:v>78</c:v>
                </c:pt>
                <c:pt idx="7">
                  <c:v>82</c:v>
                </c:pt>
              </c:numCache>
            </c:numRef>
          </c:val>
          <c:extLst>
            <c:ext xmlns:c16="http://schemas.microsoft.com/office/drawing/2014/chart" uri="{C3380CC4-5D6E-409C-BE32-E72D297353CC}">
              <c16:uniqueId val="{0000000C-D598-4000-A759-490203B8744C}"/>
            </c:ext>
          </c:extLst>
        </c:ser>
        <c:dLbls>
          <c:dLblPos val="outEnd"/>
          <c:showLegendKey val="0"/>
          <c:showVal val="1"/>
          <c:showCatName val="0"/>
          <c:showSerName val="0"/>
          <c:showPercent val="0"/>
          <c:showBubbleSize val="0"/>
        </c:dLbls>
        <c:gapWidth val="40"/>
        <c:overlap val="12"/>
        <c:axId val="678533839"/>
        <c:axId val="678540559"/>
      </c:barChart>
      <c:catAx>
        <c:axId val="678533839"/>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just">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crossAx val="678540559"/>
        <c:crosses val="autoZero"/>
        <c:auto val="1"/>
        <c:lblAlgn val="r"/>
        <c:lblOffset val="100"/>
        <c:noMultiLvlLbl val="0"/>
      </c:catAx>
      <c:valAx>
        <c:axId val="678540559"/>
        <c:scaling>
          <c:orientation val="minMax"/>
        </c:scaling>
        <c:delete val="1"/>
        <c:axPos val="b"/>
        <c:numFmt formatCode="General" sourceLinked="1"/>
        <c:majorTickMark val="none"/>
        <c:minorTickMark val="none"/>
        <c:tickLblPos val="nextTo"/>
        <c:crossAx val="67853383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D5714D0-E70C-C2C4-7262-0D18106F0BD2}"/>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ACC2DE84-6D01-F8DE-1AE8-5A4C357DF3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90BE1B13-F278-3BC2-434F-7E7CC0929C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7145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BBCDAEC-801B-272C-8D6C-1C528EF2B96E}"/>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99C1ABD8-17B1-B28B-2DE5-0A8B737EA2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7D9E52B2-5E00-1EA6-2C64-3C1DDFE222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7875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C352A81-2652-5024-DEA2-890904F6C415}"/>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552E004B-A952-62C1-C69E-7E85667738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E8B26490-46E3-FFC7-6EB5-84539DC725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7026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73268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306997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282981F-828D-C4B1-3102-8BF4FA154CC1}"/>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2771620B-75F4-D095-17AD-FFD323F456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FD511E5A-4CA4-935E-C93A-55D343680E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57093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852EE69-E252-57F7-375A-648E62ED9FC6}"/>
            </a:ext>
          </a:extLst>
        </p:cNvPr>
        <p:cNvGrpSpPr/>
        <p:nvPr/>
      </p:nvGrpSpPr>
      <p:grpSpPr>
        <a:xfrm>
          <a:off x="0" y="0"/>
          <a:ext cx="0" cy="0"/>
          <a:chOff x="0" y="0"/>
          <a:chExt cx="0" cy="0"/>
        </a:xfrm>
      </p:grpSpPr>
      <p:sp>
        <p:nvSpPr>
          <p:cNvPr id="105" name="Google Shape;105;p3:notes">
            <a:extLst>
              <a:ext uri="{FF2B5EF4-FFF2-40B4-BE49-F238E27FC236}">
                <a16:creationId xmlns:a16="http://schemas.microsoft.com/office/drawing/2014/main" id="{1023FC52-0EC4-0710-979A-A02646FD96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a:extLst>
              <a:ext uri="{FF2B5EF4-FFF2-40B4-BE49-F238E27FC236}">
                <a16:creationId xmlns:a16="http://schemas.microsoft.com/office/drawing/2014/main" id="{5BE734E4-72CA-91FD-CBFC-191957C4E3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1051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3B001F8-6F11-2F73-44D9-0298ADBC0447}"/>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B2AD5489-F69C-22E3-F487-976B3459E6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A6EF4021-D9C7-7759-EAFB-F23E6281E0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2734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F0008C62-D32F-440E-E140-23630A313606}"/>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2A14E03B-9B20-FA21-BA92-ECDDB43F57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6AA03902-EB92-467D-1F24-6F6109DCC1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65968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3631CA4-0265-7971-FB2B-D9CA70C5BDA4}"/>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84CA3EF8-F954-ABCE-133D-6B0E8605F9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541EE93E-34EB-D792-98D0-18A5EAD57B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73964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E1383F7-2654-3717-E584-86C9AB83A378}"/>
            </a:ext>
          </a:extLst>
        </p:cNvPr>
        <p:cNvGrpSpPr/>
        <p:nvPr/>
      </p:nvGrpSpPr>
      <p:grpSpPr>
        <a:xfrm>
          <a:off x="0" y="0"/>
          <a:ext cx="0" cy="0"/>
          <a:chOff x="0" y="0"/>
          <a:chExt cx="0" cy="0"/>
        </a:xfrm>
      </p:grpSpPr>
      <p:sp>
        <p:nvSpPr>
          <p:cNvPr id="105" name="Google Shape;105;p3:notes">
            <a:extLst>
              <a:ext uri="{FF2B5EF4-FFF2-40B4-BE49-F238E27FC236}">
                <a16:creationId xmlns:a16="http://schemas.microsoft.com/office/drawing/2014/main" id="{52710BFF-54B2-6204-DE43-33E66F8157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a:extLst>
              <a:ext uri="{FF2B5EF4-FFF2-40B4-BE49-F238E27FC236}">
                <a16:creationId xmlns:a16="http://schemas.microsoft.com/office/drawing/2014/main" id="{25914E38-F531-4018-1DEA-753D43C3AA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6364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lt1"/>
        </a:solidFill>
        <a:effectLst/>
      </p:bgPr>
    </p:bg>
    <p:spTree>
      <p:nvGrpSpPr>
        <p:cNvPr id="1" name="Shape 5"/>
        <p:cNvGrpSpPr/>
        <p:nvPr/>
      </p:nvGrpSpPr>
      <p:grpSpPr>
        <a:xfrm>
          <a:off x="0" y="0"/>
          <a:ext cx="0" cy="0"/>
          <a:chOff x="0" y="0"/>
          <a:chExt cx="0" cy="0"/>
        </a:xfrm>
      </p:grpSpPr>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7.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7.png"/><Relationship Id="rId7"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7.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_rels/slide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4.png"/><Relationship Id="rId7"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7.png"/><Relationship Id="rId4" Type="http://schemas.openxmlformats.org/officeDocument/2006/relationships/image" Target="../media/image49.png"/><Relationship Id="rId9" Type="http://schemas.openxmlformats.org/officeDocument/2006/relationships/image" Target="../media/image53.png"/></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10" Type="http://schemas.openxmlformats.org/officeDocument/2006/relationships/hyperlink" Target="https://surl.li/yjvdlt" TargetMode="External"/><Relationship Id="rId4" Type="http://schemas.openxmlformats.org/officeDocument/2006/relationships/image" Target="../media/image62.png"/><Relationship Id="rId9" Type="http://schemas.openxmlformats.org/officeDocument/2006/relationships/image" Target="../media/image67.png"/></Relationships>
</file>

<file path=ppt/slides/_rels/slide1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png"/><Relationship Id="rId3" Type="http://schemas.openxmlformats.org/officeDocument/2006/relationships/image" Target="../media/image79.png"/><Relationship Id="rId7" Type="http://schemas.openxmlformats.org/officeDocument/2006/relationships/image" Target="../media/image83.png"/><Relationship Id="rId12" Type="http://schemas.openxmlformats.org/officeDocument/2006/relationships/image" Target="../media/image8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2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98.png"/><Relationship Id="rId4" Type="http://schemas.openxmlformats.org/officeDocument/2006/relationships/image" Target="../media/image9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762000" y="6191250"/>
            <a:ext cx="10668000" cy="381000"/>
          </a:xfrm>
          <a:prstGeom prst="rect">
            <a:avLst/>
          </a:prstGeom>
          <a:noFill/>
          <a:ln>
            <a:noFill/>
          </a:ln>
        </p:spPr>
      </p:pic>
      <p:sp>
        <p:nvSpPr>
          <p:cNvPr id="86" name="Google Shape;86;p13"/>
          <p:cNvSpPr/>
          <p:nvPr/>
        </p:nvSpPr>
        <p:spPr>
          <a:xfrm>
            <a:off x="762000" y="1912739"/>
            <a:ext cx="762000" cy="57150"/>
          </a:xfrm>
          <a:prstGeom prst="rect">
            <a:avLst/>
          </a:prstGeom>
          <a:solidFill>
            <a:srgbClr val="60A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87" name="Google Shape;87;p13"/>
          <p:cNvSpPr txBox="1"/>
          <p:nvPr/>
        </p:nvSpPr>
        <p:spPr>
          <a:xfrm>
            <a:off x="697992" y="2160389"/>
            <a:ext cx="11201400" cy="182819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5400" b="1" i="0" u="none" strike="noStrike" cap="none">
                <a:solidFill>
                  <a:srgbClr val="FFFFFF"/>
                </a:solidFill>
                <a:latin typeface="Times New Roman" panose="02020603050405020304" pitchFamily="18" charset="0"/>
                <a:ea typeface="Montserrat"/>
                <a:cs typeface="Times New Roman" panose="02020603050405020304" pitchFamily="18" charset="0"/>
                <a:sym typeface="Montserrat"/>
              </a:rPr>
              <a:t>PHÂN TÍCH TÌNH HÌNH</a:t>
            </a:r>
            <a:br>
              <a:rPr lang="en-US"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rPr>
            </a:br>
            <a:r>
              <a:rPr lang="en-US" sz="5400" b="1" i="0" u="none" strike="noStrike" cap="none">
                <a:solidFill>
                  <a:srgbClr val="FFFFFF"/>
                </a:solidFill>
                <a:latin typeface="Times New Roman" panose="02020603050405020304" pitchFamily="18" charset="0"/>
                <a:ea typeface="Montserrat"/>
                <a:cs typeface="Times New Roman" panose="02020603050405020304" pitchFamily="18" charset="0"/>
                <a:sym typeface="Montserrat"/>
              </a:rPr>
              <a:t>HỌC TẬP SINH VIÊN</a:t>
            </a:r>
            <a:endParaRPr>
              <a:latin typeface="Times New Roman" panose="02020603050405020304" pitchFamily="18" charset="0"/>
              <a:cs typeface="Times New Roman" panose="02020603050405020304" pitchFamily="18" charset="0"/>
            </a:endParaRPr>
          </a:p>
        </p:txBody>
      </p:sp>
      <p:sp>
        <p:nvSpPr>
          <p:cNvPr id="88" name="Google Shape;88;p13"/>
          <p:cNvSpPr txBox="1"/>
          <p:nvPr/>
        </p:nvSpPr>
        <p:spPr>
          <a:xfrm>
            <a:off x="762000" y="4062108"/>
            <a:ext cx="1066800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FFFFFF"/>
                </a:solidFill>
                <a:latin typeface="Times New Roman" panose="02020603050405020304" pitchFamily="18" charset="0"/>
                <a:ea typeface="Roboto"/>
                <a:cs typeface="Times New Roman" panose="02020603050405020304" pitchFamily="18" charset="0"/>
                <a:sym typeface="Roboto"/>
              </a:rPr>
              <a:t>Khoa Khoa học Dữ liệu trong Kinh doanh (DSB)</a:t>
            </a:r>
            <a:endParaRPr>
              <a:latin typeface="Times New Roman" panose="02020603050405020304" pitchFamily="18" charset="0"/>
              <a:cs typeface="Times New Roman" panose="02020603050405020304" pitchFamily="18" charset="0"/>
            </a:endParaRPr>
          </a:p>
        </p:txBody>
      </p:sp>
      <p:sp>
        <p:nvSpPr>
          <p:cNvPr id="89" name="Google Shape;89;p13"/>
          <p:cNvSpPr txBox="1"/>
          <p:nvPr/>
        </p:nvSpPr>
        <p:spPr>
          <a:xfrm>
            <a:off x="923544" y="4745997"/>
            <a:ext cx="2663952"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FFFFF"/>
                </a:solidFill>
                <a:latin typeface="Times New Roman" panose="02020603050405020304" pitchFamily="18" charset="0"/>
                <a:ea typeface="Roboto"/>
                <a:cs typeface="Times New Roman" panose="02020603050405020304" pitchFamily="18" charset="0"/>
                <a:sym typeface="Roboto"/>
              </a:rPr>
              <a:t> Năm học: 2023 - </a:t>
            </a:r>
            <a:r>
              <a:rPr lang="vi-VN" sz="1350" b="0" i="0" u="none" strike="noStrike" cap="none">
                <a:solidFill>
                  <a:srgbClr val="FFFFFF"/>
                </a:solidFill>
                <a:latin typeface="Times New Roman" panose="02020603050405020304" pitchFamily="18" charset="0"/>
                <a:ea typeface="Roboto"/>
                <a:cs typeface="Times New Roman" panose="02020603050405020304" pitchFamily="18" charset="0"/>
                <a:sym typeface="Roboto"/>
              </a:rPr>
              <a:t>2026</a:t>
            </a:r>
            <a:endParaRPr>
              <a:latin typeface="Times New Roman" panose="02020603050405020304" pitchFamily="18" charset="0"/>
              <a:cs typeface="Times New Roman" panose="02020603050405020304" pitchFamily="18" charset="0"/>
            </a:endParaRPr>
          </a:p>
        </p:txBody>
      </p:sp>
      <p:sp>
        <p:nvSpPr>
          <p:cNvPr id="90" name="Google Shape;90;p13"/>
          <p:cNvSpPr txBox="1"/>
          <p:nvPr/>
        </p:nvSpPr>
        <p:spPr>
          <a:xfrm>
            <a:off x="762000" y="6381750"/>
            <a:ext cx="1838325"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050" b="0" i="0" u="none" strike="noStrike" cap="none">
                <a:solidFill>
                  <a:srgbClr val="FFFFFF"/>
                </a:solidFill>
                <a:latin typeface="Times New Roman" panose="02020603050405020304" pitchFamily="18" charset="0"/>
                <a:ea typeface="Roboto"/>
                <a:cs typeface="Times New Roman" panose="02020603050405020304" pitchFamily="18" charset="0"/>
                <a:sym typeface="Roboto"/>
              </a:rPr>
              <a:t>Trường Đại học Ngân Hàng TP.HCM</a:t>
            </a:r>
            <a:endParaRPr lang="vi-VN">
              <a:latin typeface="Times New Roman" panose="02020603050405020304" pitchFamily="18" charset="0"/>
              <a:cs typeface="Times New Roman" panose="02020603050405020304" pitchFamily="18" charset="0"/>
            </a:endParaRPr>
          </a:p>
        </p:txBody>
      </p:sp>
      <p:pic>
        <p:nvPicPr>
          <p:cNvPr id="91" name="Google Shape;91;p13" descr="image.png"/>
          <p:cNvPicPr preferRelativeResize="0"/>
          <p:nvPr/>
        </p:nvPicPr>
        <p:blipFill rotWithShape="1">
          <a:blip r:embed="rId5">
            <a:alphaModFix/>
          </a:blip>
          <a:srcRect/>
          <a:stretch/>
        </p:blipFill>
        <p:spPr>
          <a:xfrm>
            <a:off x="11049000" y="6343650"/>
            <a:ext cx="381000" cy="228600"/>
          </a:xfrm>
          <a:prstGeom prst="rect">
            <a:avLst/>
          </a:prstGeom>
          <a:noFill/>
          <a:ln>
            <a:noFill/>
          </a:ln>
        </p:spPr>
      </p:pic>
      <p:pic>
        <p:nvPicPr>
          <p:cNvPr id="92" name="Google Shape;92;p13" descr="image.png"/>
          <p:cNvPicPr preferRelativeResize="0"/>
          <p:nvPr/>
        </p:nvPicPr>
        <p:blipFill rotWithShape="1">
          <a:blip r:embed="rId6">
            <a:alphaModFix/>
          </a:blip>
          <a:srcRect/>
          <a:stretch/>
        </p:blipFill>
        <p:spPr>
          <a:xfrm>
            <a:off x="762000" y="4764285"/>
            <a:ext cx="152400" cy="171450"/>
          </a:xfrm>
          <a:prstGeom prst="rect">
            <a:avLst/>
          </a:prstGeom>
          <a:noFill/>
          <a:ln>
            <a:noFill/>
          </a:ln>
        </p:spPr>
      </p:pic>
      <p:pic>
        <p:nvPicPr>
          <p:cNvPr id="93" name="Google Shape;93;p13" descr="image.png"/>
          <p:cNvPicPr preferRelativeResize="0"/>
          <p:nvPr/>
        </p:nvPicPr>
        <p:blipFill rotWithShape="1">
          <a:blip r:embed="rId7">
            <a:alphaModFix/>
          </a:blip>
          <a:srcRect/>
          <a:stretch/>
        </p:blipFill>
        <p:spPr>
          <a:xfrm>
            <a:off x="2981325" y="4764285"/>
            <a:ext cx="219075" cy="171450"/>
          </a:xfrm>
          <a:prstGeom prst="rect">
            <a:avLst/>
          </a:prstGeom>
          <a:noFill/>
          <a:ln>
            <a:noFill/>
          </a:ln>
        </p:spPr>
      </p:pic>
      <p:sp>
        <p:nvSpPr>
          <p:cNvPr id="4" name="Google Shape;89;p13">
            <a:extLst>
              <a:ext uri="{FF2B5EF4-FFF2-40B4-BE49-F238E27FC236}">
                <a16:creationId xmlns:a16="http://schemas.microsoft.com/office/drawing/2014/main" id="{652FF38F-44F4-6CE7-6D65-773DA928AFE7}"/>
              </a:ext>
            </a:extLst>
          </p:cNvPr>
          <p:cNvSpPr txBox="1"/>
          <p:nvPr/>
        </p:nvSpPr>
        <p:spPr>
          <a:xfrm>
            <a:off x="3346704" y="4745996"/>
            <a:ext cx="2663952"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350" b="0" i="0" u="none" strike="noStrike" cap="none">
                <a:solidFill>
                  <a:srgbClr val="FFFFFF"/>
                </a:solidFill>
                <a:latin typeface="Times New Roman" panose="02020603050405020304" pitchFamily="18" charset="0"/>
                <a:ea typeface="Roboto"/>
                <a:cs typeface="Times New Roman" panose="02020603050405020304" pitchFamily="18" charset="0"/>
                <a:sym typeface="Roboto"/>
              </a:rPr>
              <a:t>Khóa K39</a:t>
            </a:r>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4D1F4ED-BDF0-53E2-F2DF-0340751710CD}"/>
              </a:ext>
            </a:extLst>
          </p:cNvPr>
          <p:cNvPicPr>
            <a:picLocks noChangeAspect="1"/>
          </p:cNvPicPr>
          <p:nvPr/>
        </p:nvPicPr>
        <p:blipFill>
          <a:blip r:embed="rId8">
            <a:alphaModFix amt="20000"/>
          </a:blip>
          <a:srcRect l="4496" t="4165" b="35235"/>
          <a:stretch>
            <a:fillRect/>
          </a:stretch>
        </p:blipFill>
        <p:spPr>
          <a:xfrm>
            <a:off x="4980557" y="-502799"/>
            <a:ext cx="10881235" cy="66940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a:stretch/>
        </p:blipFill>
        <p:spPr>
          <a:xfrm>
            <a:off x="762000" y="6191250"/>
            <a:ext cx="10668000" cy="381000"/>
          </a:xfrm>
          <a:prstGeom prst="rect">
            <a:avLst/>
          </a:prstGeom>
          <a:noFill/>
          <a:ln>
            <a:noFill/>
          </a:ln>
        </p:spPr>
      </p:pic>
      <p:pic>
        <p:nvPicPr>
          <p:cNvPr id="86" name="Google Shape;86;p13" descr="image.png"/>
          <p:cNvPicPr preferRelativeResize="0"/>
          <p:nvPr/>
        </p:nvPicPr>
        <p:blipFill rotWithShape="1">
          <a:blip r:embed="rId4">
            <a:alphaModFix/>
          </a:blip>
          <a:srcRect/>
          <a:stretch/>
        </p:blipFill>
        <p:spPr>
          <a:xfrm>
            <a:off x="809625" y="4924722"/>
            <a:ext cx="10668000" cy="704850"/>
          </a:xfrm>
          <a:prstGeom prst="rect">
            <a:avLst/>
          </a:prstGeom>
          <a:noFill/>
          <a:ln>
            <a:noFill/>
          </a:ln>
        </p:spPr>
      </p:pic>
      <p:pic>
        <p:nvPicPr>
          <p:cNvPr id="87" name="Google Shape;87;p13" descr="image.png"/>
          <p:cNvPicPr preferRelativeResize="0"/>
          <p:nvPr/>
        </p:nvPicPr>
        <p:blipFill rotWithShape="1">
          <a:blip r:embed="rId5">
            <a:alphaModFix/>
          </a:blip>
          <a:srcRect/>
          <a:stretch/>
        </p:blipFill>
        <p:spPr>
          <a:xfrm>
            <a:off x="762000" y="2638127"/>
            <a:ext cx="5143500" cy="1834157"/>
          </a:xfrm>
          <a:prstGeom prst="rect">
            <a:avLst/>
          </a:prstGeom>
          <a:noFill/>
          <a:ln>
            <a:noFill/>
          </a:ln>
        </p:spPr>
      </p:pic>
      <p:pic>
        <p:nvPicPr>
          <p:cNvPr id="88" name="Google Shape;88;p13" descr="image.png"/>
          <p:cNvPicPr preferRelativeResize="0"/>
          <p:nvPr/>
        </p:nvPicPr>
        <p:blipFill rotWithShape="1">
          <a:blip r:embed="rId5">
            <a:alphaModFix/>
          </a:blip>
          <a:srcRect/>
          <a:stretch/>
        </p:blipFill>
        <p:spPr>
          <a:xfrm>
            <a:off x="6286500" y="2638127"/>
            <a:ext cx="5143500" cy="1834157"/>
          </a:xfrm>
          <a:prstGeom prst="rect">
            <a:avLst/>
          </a:prstGeom>
          <a:noFill/>
          <a:ln>
            <a:noFill/>
          </a:ln>
        </p:spPr>
      </p:pic>
      <p:sp>
        <p:nvSpPr>
          <p:cNvPr id="89" name="Google Shape;89;p13"/>
          <p:cNvSpPr txBox="1"/>
          <p:nvPr/>
        </p:nvSpPr>
        <p:spPr>
          <a:xfrm>
            <a:off x="762000" y="1508313"/>
            <a:ext cx="10668000"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334155"/>
                </a:solidFill>
                <a:latin typeface="Times New Roman" panose="02020603050405020304" pitchFamily="18" charset="0"/>
                <a:ea typeface="Roboto Light"/>
                <a:cs typeface="Times New Roman" panose="02020603050405020304" pitchFamily="18" charset="0"/>
                <a:sym typeface="Roboto Light"/>
              </a:rPr>
              <a:t>Sự phổ cập của </a:t>
            </a:r>
            <a:r>
              <a:rPr lang="en-US" sz="1800" b="1" i="0" u="none" strike="noStrike" cap="none">
                <a:solidFill>
                  <a:srgbClr val="1E3A8A"/>
                </a:solidFill>
                <a:latin typeface="Times New Roman" panose="02020603050405020304" pitchFamily="18" charset="0"/>
                <a:ea typeface="Roboto"/>
                <a:cs typeface="Times New Roman" panose="02020603050405020304" pitchFamily="18" charset="0"/>
                <a:sym typeface="Roboto"/>
              </a:rPr>
              <a:t>Generative AI</a:t>
            </a:r>
            <a:r>
              <a:rPr lang="en-US" sz="1800" b="0" i="0" u="none" strike="noStrike" cap="none">
                <a:solidFill>
                  <a:srgbClr val="334155"/>
                </a:solidFill>
                <a:latin typeface="Times New Roman" panose="02020603050405020304" pitchFamily="18" charset="0"/>
                <a:ea typeface="Roboto Light"/>
                <a:cs typeface="Times New Roman" panose="02020603050405020304" pitchFamily="18" charset="0"/>
                <a:sym typeface="Roboto Light"/>
              </a:rPr>
              <a:t> đang biến các kỹ năng kỹ thuật nền tảng thành năng lực phổ thông, buộc Khoa DSB phải chuyển dịch trọng tâm đào tạo từ </a:t>
            </a:r>
            <a:r>
              <a:rPr lang="en-US" sz="1800" b="1" i="0" u="none" strike="noStrike" cap="none">
                <a:solidFill>
                  <a:srgbClr val="1E3A8A"/>
                </a:solidFill>
                <a:latin typeface="Times New Roman" panose="02020603050405020304" pitchFamily="18" charset="0"/>
                <a:ea typeface="Roboto"/>
                <a:cs typeface="Times New Roman" panose="02020603050405020304" pitchFamily="18" charset="0"/>
                <a:sym typeface="Roboto"/>
              </a:rPr>
              <a:t>thực thi đơn lẻ</a:t>
            </a:r>
            <a:r>
              <a:rPr lang="en-US" sz="1800" b="0" i="0" u="none" strike="noStrike" cap="none">
                <a:solidFill>
                  <a:srgbClr val="334155"/>
                </a:solidFill>
                <a:latin typeface="Times New Roman" panose="02020603050405020304" pitchFamily="18" charset="0"/>
                <a:ea typeface="Roboto Light"/>
                <a:cs typeface="Times New Roman" panose="02020603050405020304" pitchFamily="18" charset="0"/>
                <a:sym typeface="Roboto Light"/>
              </a:rPr>
              <a:t> sang </a:t>
            </a:r>
            <a:r>
              <a:rPr lang="en-US" sz="1800" b="1" i="0" u="none" strike="noStrike" cap="none">
                <a:solidFill>
                  <a:srgbClr val="1E3A8A"/>
                </a:solidFill>
                <a:latin typeface="Times New Roman" panose="02020603050405020304" pitchFamily="18" charset="0"/>
                <a:ea typeface="Roboto"/>
                <a:cs typeface="Times New Roman" panose="02020603050405020304" pitchFamily="18" charset="0"/>
                <a:sym typeface="Roboto"/>
              </a:rPr>
              <a:t>tư duy tích hợp</a:t>
            </a:r>
            <a:r>
              <a:rPr lang="en-US" sz="1800" b="0" i="0" u="none" strike="noStrike" cap="none">
                <a:solidFill>
                  <a:srgbClr val="334155"/>
                </a:solidFill>
                <a:latin typeface="Times New Roman" panose="02020603050405020304" pitchFamily="18" charset="0"/>
                <a:ea typeface="Roboto Light"/>
                <a:cs typeface="Times New Roman" panose="02020603050405020304" pitchFamily="18" charset="0"/>
                <a:sym typeface="Roboto Light"/>
              </a:rPr>
              <a:t>.</a:t>
            </a:r>
            <a:endParaRPr sz="1600">
              <a:latin typeface="Times New Roman" panose="02020603050405020304" pitchFamily="18" charset="0"/>
              <a:cs typeface="Times New Roman" panose="02020603050405020304" pitchFamily="18" charset="0"/>
            </a:endParaRPr>
          </a:p>
        </p:txBody>
      </p:sp>
      <p:sp>
        <p:nvSpPr>
          <p:cNvPr id="90" name="Google Shape;90;p13"/>
          <p:cNvSpPr txBox="1"/>
          <p:nvPr/>
        </p:nvSpPr>
        <p:spPr>
          <a:xfrm>
            <a:off x="762000" y="6381750"/>
            <a:ext cx="3933825"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Times New Roman" panose="02020603050405020304" pitchFamily="18" charset="0"/>
                <a:ea typeface="Roboto"/>
                <a:cs typeface="Times New Roman" panose="02020603050405020304" pitchFamily="18" charset="0"/>
                <a:sym typeface="Roboto"/>
              </a:rPr>
              <a:t>Phân tích Học thuật DSB | Khoa Khoa học Dữ liệu trong Kinh doanh</a:t>
            </a:r>
            <a:endParaRPr>
              <a:latin typeface="Times New Roman" panose="02020603050405020304" pitchFamily="18" charset="0"/>
              <a:cs typeface="Times New Roman" panose="02020603050405020304" pitchFamily="18" charset="0"/>
            </a:endParaRPr>
          </a:p>
        </p:txBody>
      </p:sp>
      <p:pic>
        <p:nvPicPr>
          <p:cNvPr id="91" name="Google Shape;91;p13" descr="image.png"/>
          <p:cNvPicPr preferRelativeResize="0"/>
          <p:nvPr/>
        </p:nvPicPr>
        <p:blipFill rotWithShape="1">
          <a:blip r:embed="rId6">
            <a:alphaModFix/>
          </a:blip>
          <a:srcRect/>
          <a:stretch/>
        </p:blipFill>
        <p:spPr>
          <a:xfrm>
            <a:off x="11049000" y="6343650"/>
            <a:ext cx="381000" cy="228600"/>
          </a:xfrm>
          <a:prstGeom prst="rect">
            <a:avLst/>
          </a:prstGeom>
          <a:noFill/>
          <a:ln>
            <a:noFill/>
          </a:ln>
        </p:spPr>
      </p:pic>
      <p:sp>
        <p:nvSpPr>
          <p:cNvPr id="92" name="Google Shape;92;p13"/>
          <p:cNvSpPr txBox="1"/>
          <p:nvPr/>
        </p:nvSpPr>
        <p:spPr>
          <a:xfrm>
            <a:off x="1123950" y="5174768"/>
            <a:ext cx="7286625"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FFFFF"/>
                </a:solidFill>
                <a:latin typeface="Times New Roman" panose="02020603050405020304" pitchFamily="18" charset="0"/>
                <a:ea typeface="Roboto Medium"/>
                <a:cs typeface="Times New Roman" panose="02020603050405020304" pitchFamily="18" charset="0"/>
                <a:sym typeface="Roboto Medium"/>
              </a:rPr>
              <a:t>Để đảm bảo chuẩn đầu ra thực chất, báo cáo sẽ tập trung giải quyết 3 bài toán vấn đề cốt lõi:</a:t>
            </a:r>
            <a:endParaRPr>
              <a:latin typeface="Times New Roman" panose="02020603050405020304" pitchFamily="18" charset="0"/>
              <a:cs typeface="Times New Roman" panose="02020603050405020304" pitchFamily="18" charset="0"/>
            </a:endParaRPr>
          </a:p>
        </p:txBody>
      </p:sp>
      <p:pic>
        <p:nvPicPr>
          <p:cNvPr id="93" name="Google Shape;93;p13" descr="image.png"/>
          <p:cNvPicPr preferRelativeResize="0"/>
          <p:nvPr/>
        </p:nvPicPr>
        <p:blipFill rotWithShape="1">
          <a:blip r:embed="rId7">
            <a:alphaModFix/>
          </a:blip>
          <a:srcRect/>
          <a:stretch/>
        </p:blipFill>
        <p:spPr>
          <a:xfrm>
            <a:off x="10839450" y="5162847"/>
            <a:ext cx="228600" cy="228600"/>
          </a:xfrm>
          <a:prstGeom prst="rect">
            <a:avLst/>
          </a:prstGeom>
          <a:noFill/>
          <a:ln>
            <a:noFill/>
          </a:ln>
        </p:spPr>
      </p:pic>
      <p:sp>
        <p:nvSpPr>
          <p:cNvPr id="95" name="Google Shape;95;p13"/>
          <p:cNvSpPr txBox="1"/>
          <p:nvPr/>
        </p:nvSpPr>
        <p:spPr>
          <a:xfrm>
            <a:off x="1438275" y="2964522"/>
            <a:ext cx="4330541" cy="26161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7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Thách thức về Năng lực</a:t>
            </a:r>
            <a:endParaRPr sz="1700">
              <a:latin typeface="Times New Roman" panose="02020603050405020304" pitchFamily="18" charset="0"/>
              <a:cs typeface="Times New Roman" panose="02020603050405020304" pitchFamily="18" charset="0"/>
            </a:endParaRPr>
          </a:p>
        </p:txBody>
      </p:sp>
      <p:sp>
        <p:nvSpPr>
          <p:cNvPr id="96" name="Google Shape;96;p13"/>
          <p:cNvSpPr txBox="1"/>
          <p:nvPr/>
        </p:nvSpPr>
        <p:spPr>
          <a:xfrm>
            <a:off x="1104900" y="3352502"/>
            <a:ext cx="4457700" cy="960263"/>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300"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Năng lực cốt lõi không còn là tái hiện kiến thức, mà là khả năng vận dụng đồng thời </a:t>
            </a:r>
            <a:r>
              <a:rPr lang="en-US" sz="1300" b="1" i="0" u="none" strike="noStrike" cap="none">
                <a:solidFill>
                  <a:srgbClr val="475569"/>
                </a:solidFill>
                <a:latin typeface="Times New Roman" panose="02020603050405020304" pitchFamily="18" charset="0"/>
                <a:ea typeface="Roboto"/>
                <a:cs typeface="Times New Roman" panose="02020603050405020304" pitchFamily="18" charset="0"/>
                <a:sym typeface="Roboto"/>
              </a:rPr>
              <a:t>Kỹ thuật (Tech)</a:t>
            </a:r>
            <a:r>
              <a:rPr lang="en-US" sz="1300"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 và </a:t>
            </a:r>
            <a:r>
              <a:rPr lang="en-US" sz="1300" b="1" i="0" u="none" strike="noStrike" cap="none">
                <a:solidFill>
                  <a:srgbClr val="475569"/>
                </a:solidFill>
                <a:latin typeface="Times New Roman" panose="02020603050405020304" pitchFamily="18" charset="0"/>
                <a:ea typeface="Roboto"/>
                <a:cs typeface="Times New Roman" panose="02020603050405020304" pitchFamily="18" charset="0"/>
                <a:sym typeface="Roboto"/>
              </a:rPr>
              <a:t>Kinh doanh (Business)</a:t>
            </a:r>
            <a:r>
              <a:rPr lang="en-US" sz="1300"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 để giải quyết vấn đề thực tiễn phức tạp.</a:t>
            </a:r>
            <a:endParaRPr sz="1300">
              <a:latin typeface="Times New Roman" panose="02020603050405020304" pitchFamily="18" charset="0"/>
              <a:cs typeface="Times New Roman" panose="02020603050405020304" pitchFamily="18" charset="0"/>
            </a:endParaRPr>
          </a:p>
        </p:txBody>
      </p:sp>
      <p:sp>
        <p:nvSpPr>
          <p:cNvPr id="98" name="Google Shape;98;p13"/>
          <p:cNvSpPr txBox="1"/>
          <p:nvPr/>
        </p:nvSpPr>
        <p:spPr>
          <a:xfrm>
            <a:off x="6962775" y="2964522"/>
            <a:ext cx="4330541" cy="26161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7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Thách thức về Đánh giá</a:t>
            </a:r>
            <a:endParaRPr sz="1700">
              <a:latin typeface="Times New Roman" panose="02020603050405020304" pitchFamily="18" charset="0"/>
              <a:cs typeface="Times New Roman" panose="02020603050405020304" pitchFamily="18" charset="0"/>
            </a:endParaRPr>
          </a:p>
        </p:txBody>
      </p:sp>
      <p:sp>
        <p:nvSpPr>
          <p:cNvPr id="99" name="Google Shape;99;p13"/>
          <p:cNvSpPr txBox="1"/>
          <p:nvPr/>
        </p:nvSpPr>
        <p:spPr>
          <a:xfrm>
            <a:off x="6629400" y="3352502"/>
            <a:ext cx="4457700" cy="960263"/>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300"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Các phương pháp truyền thống đối mặt với nguy cơ mất tính phân loại khi AI hỗ trợ đạt kết quả cao, làm giảm </a:t>
            </a:r>
            <a:r>
              <a:rPr lang="en-US" sz="1300" b="1" i="0" u="none" strike="noStrike" cap="none">
                <a:solidFill>
                  <a:srgbClr val="475569"/>
                </a:solidFill>
                <a:latin typeface="Times New Roman" panose="02020603050405020304" pitchFamily="18" charset="0"/>
                <a:ea typeface="Roboto"/>
                <a:cs typeface="Times New Roman" panose="02020603050405020304" pitchFamily="18" charset="0"/>
                <a:sym typeface="Roboto"/>
              </a:rPr>
              <a:t>giá trị tín hiệu</a:t>
            </a:r>
            <a:r>
              <a:rPr lang="en-US" sz="1300"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 của điểm số như thước đo chất lượng đầu ra.</a:t>
            </a:r>
            <a:endParaRPr sz="1300">
              <a:latin typeface="Times New Roman" panose="02020603050405020304" pitchFamily="18" charset="0"/>
              <a:cs typeface="Times New Roman" panose="02020603050405020304" pitchFamily="18" charset="0"/>
            </a:endParaRPr>
          </a:p>
        </p:txBody>
      </p:sp>
      <p:pic>
        <p:nvPicPr>
          <p:cNvPr id="100" name="Google Shape;100;p13" descr="image.png"/>
          <p:cNvPicPr preferRelativeResize="0"/>
          <p:nvPr/>
        </p:nvPicPr>
        <p:blipFill rotWithShape="1">
          <a:blip r:embed="rId8">
            <a:alphaModFix/>
          </a:blip>
          <a:srcRect/>
          <a:stretch/>
        </p:blipFill>
        <p:spPr>
          <a:xfrm>
            <a:off x="1104900" y="3000077"/>
            <a:ext cx="190500" cy="190500"/>
          </a:xfrm>
          <a:prstGeom prst="rect">
            <a:avLst/>
          </a:prstGeom>
          <a:noFill/>
          <a:ln>
            <a:noFill/>
          </a:ln>
        </p:spPr>
      </p:pic>
      <p:pic>
        <p:nvPicPr>
          <p:cNvPr id="101" name="Google Shape;101;p13" descr="image.png"/>
          <p:cNvPicPr preferRelativeResize="0"/>
          <p:nvPr/>
        </p:nvPicPr>
        <p:blipFill rotWithShape="1">
          <a:blip r:embed="rId9">
            <a:alphaModFix/>
          </a:blip>
          <a:srcRect/>
          <a:stretch/>
        </p:blipFill>
        <p:spPr>
          <a:xfrm>
            <a:off x="6629400" y="3000077"/>
            <a:ext cx="190500" cy="190500"/>
          </a:xfrm>
          <a:prstGeom prst="rect">
            <a:avLst/>
          </a:prstGeom>
          <a:noFill/>
          <a:ln>
            <a:noFill/>
          </a:ln>
        </p:spPr>
      </p:pic>
      <p:sp>
        <p:nvSpPr>
          <p:cNvPr id="102" name="Google Shape;102;p13"/>
          <p:cNvSpPr txBox="1"/>
          <p:nvPr/>
        </p:nvSpPr>
        <p:spPr>
          <a:xfrm>
            <a:off x="1000125" y="571500"/>
            <a:ext cx="10951368"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chemeClr val="tx1"/>
                </a:solidFill>
                <a:latin typeface="Times New Roman" panose="02020603050405020304" pitchFamily="18" charset="0"/>
                <a:ea typeface="Montserrat"/>
                <a:cs typeface="Times New Roman" panose="02020603050405020304" pitchFamily="18" charset="0"/>
                <a:sym typeface="Montserrat"/>
              </a:rPr>
              <a:t>BỐI CẢNH: DỊCH CHUYỂN NĂNG LỰC</a:t>
            </a:r>
            <a:endParaRPr>
              <a:solidFill>
                <a:schemeClr val="tx1"/>
              </a:solidFill>
              <a:latin typeface="Times New Roman" panose="02020603050405020304" pitchFamily="18" charset="0"/>
              <a:cs typeface="Times New Roman" panose="02020603050405020304" pitchFamily="18" charset="0"/>
            </a:endParaRPr>
          </a:p>
        </p:txBody>
      </p:sp>
      <p:sp>
        <p:nvSpPr>
          <p:cNvPr id="103" name="Google Shape;103;p13"/>
          <p:cNvSpPr/>
          <p:nvPr/>
        </p:nvSpPr>
        <p:spPr>
          <a:xfrm>
            <a:off x="762000" y="571500"/>
            <a:ext cx="95250" cy="4953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a:stretch/>
        </p:blipFill>
        <p:spPr>
          <a:xfrm>
            <a:off x="762000" y="6191250"/>
            <a:ext cx="10668000" cy="381000"/>
          </a:xfrm>
          <a:prstGeom prst="rect">
            <a:avLst/>
          </a:prstGeom>
          <a:noFill/>
          <a:ln>
            <a:noFill/>
          </a:ln>
        </p:spPr>
      </p:pic>
      <p:pic>
        <p:nvPicPr>
          <p:cNvPr id="86" name="Google Shape;86;p13" descr="image.png"/>
          <p:cNvPicPr preferRelativeResize="0"/>
          <p:nvPr/>
        </p:nvPicPr>
        <p:blipFill rotWithShape="1">
          <a:blip r:embed="rId4">
            <a:alphaModFix/>
          </a:blip>
          <a:srcRect/>
          <a:stretch/>
        </p:blipFill>
        <p:spPr>
          <a:xfrm>
            <a:off x="762000" y="1971675"/>
            <a:ext cx="3365450" cy="3838575"/>
          </a:xfrm>
          <a:prstGeom prst="rect">
            <a:avLst/>
          </a:prstGeom>
          <a:noFill/>
          <a:ln>
            <a:noFill/>
          </a:ln>
        </p:spPr>
      </p:pic>
      <p:pic>
        <p:nvPicPr>
          <p:cNvPr id="87" name="Google Shape;87;p13" descr="image.png"/>
          <p:cNvPicPr preferRelativeResize="0"/>
          <p:nvPr/>
        </p:nvPicPr>
        <p:blipFill rotWithShape="1">
          <a:blip r:embed="rId5">
            <a:alphaModFix/>
          </a:blip>
          <a:srcRect/>
          <a:stretch/>
        </p:blipFill>
        <p:spPr>
          <a:xfrm>
            <a:off x="4413200" y="1971675"/>
            <a:ext cx="3365450" cy="3838575"/>
          </a:xfrm>
          <a:prstGeom prst="rect">
            <a:avLst/>
          </a:prstGeom>
          <a:noFill/>
          <a:ln>
            <a:noFill/>
          </a:ln>
        </p:spPr>
      </p:pic>
      <p:pic>
        <p:nvPicPr>
          <p:cNvPr id="88" name="Google Shape;88;p13" descr="image.png"/>
          <p:cNvPicPr preferRelativeResize="0"/>
          <p:nvPr/>
        </p:nvPicPr>
        <p:blipFill rotWithShape="1">
          <a:blip r:embed="rId6">
            <a:alphaModFix/>
          </a:blip>
          <a:srcRect/>
          <a:stretch/>
        </p:blipFill>
        <p:spPr>
          <a:xfrm>
            <a:off x="8064400" y="1971675"/>
            <a:ext cx="3365599" cy="3838575"/>
          </a:xfrm>
          <a:prstGeom prst="rect">
            <a:avLst/>
          </a:prstGeom>
          <a:noFill/>
          <a:ln>
            <a:noFill/>
          </a:ln>
        </p:spPr>
      </p:pic>
      <p:sp>
        <p:nvSpPr>
          <p:cNvPr id="89" name="Google Shape;89;p13"/>
          <p:cNvSpPr txBox="1"/>
          <p:nvPr/>
        </p:nvSpPr>
        <p:spPr>
          <a:xfrm>
            <a:off x="762000" y="6381750"/>
            <a:ext cx="3933825"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Times New Roman" panose="02020603050405020304" pitchFamily="18" charset="0"/>
                <a:ea typeface="Roboto"/>
                <a:cs typeface="Times New Roman" panose="02020603050405020304" pitchFamily="18" charset="0"/>
                <a:sym typeface="Roboto"/>
              </a:rPr>
              <a:t>Phân tích Học thuật DSB | Khoa Khoa học Dữ liệu trong Kinh doanh</a:t>
            </a:r>
            <a:endParaRPr>
              <a:latin typeface="Times New Roman" panose="02020603050405020304" pitchFamily="18" charset="0"/>
              <a:cs typeface="Times New Roman" panose="02020603050405020304" pitchFamily="18" charset="0"/>
            </a:endParaRPr>
          </a:p>
        </p:txBody>
      </p:sp>
      <p:pic>
        <p:nvPicPr>
          <p:cNvPr id="90" name="Google Shape;90;p13" descr="image.png"/>
          <p:cNvPicPr preferRelativeResize="0"/>
          <p:nvPr/>
        </p:nvPicPr>
        <p:blipFill rotWithShape="1">
          <a:blip r:embed="rId7">
            <a:alphaModFix/>
          </a:blip>
          <a:srcRect/>
          <a:stretch/>
        </p:blipFill>
        <p:spPr>
          <a:xfrm>
            <a:off x="11049000" y="6343650"/>
            <a:ext cx="381000" cy="228600"/>
          </a:xfrm>
          <a:prstGeom prst="rect">
            <a:avLst/>
          </a:prstGeom>
          <a:noFill/>
          <a:ln>
            <a:noFill/>
          </a:ln>
        </p:spPr>
      </p:pic>
      <p:pic>
        <p:nvPicPr>
          <p:cNvPr id="92" name="Google Shape;92;p13" descr="image.png"/>
          <p:cNvPicPr preferRelativeResize="0"/>
          <p:nvPr/>
        </p:nvPicPr>
        <p:blipFill rotWithShape="1">
          <a:blip r:embed="rId8">
            <a:alphaModFix/>
          </a:blip>
          <a:srcRect/>
          <a:stretch/>
        </p:blipFill>
        <p:spPr>
          <a:xfrm>
            <a:off x="2021577" y="2062163"/>
            <a:ext cx="762000" cy="762000"/>
          </a:xfrm>
          <a:prstGeom prst="rect">
            <a:avLst/>
          </a:prstGeom>
          <a:noFill/>
          <a:ln>
            <a:noFill/>
          </a:ln>
        </p:spPr>
      </p:pic>
      <p:sp>
        <p:nvSpPr>
          <p:cNvPr id="93" name="Google Shape;93;p13"/>
          <p:cNvSpPr txBox="1"/>
          <p:nvPr/>
        </p:nvSpPr>
        <p:spPr>
          <a:xfrm>
            <a:off x="945829" y="3062288"/>
            <a:ext cx="2913645" cy="495300"/>
          </a:xfrm>
          <a:prstGeom prst="rect">
            <a:avLst/>
          </a:prstGeom>
          <a:noFill/>
          <a:ln>
            <a:noFill/>
          </a:ln>
        </p:spPr>
        <p:txBody>
          <a:bodyPr spcFirstLastPara="1" wrap="square" lIns="0" tIns="0" rIns="0" bIns="0" anchor="ctr" anchorCtr="0">
            <a:spAutoFit/>
          </a:bodyPr>
          <a:lstStyle/>
          <a:p>
            <a:pPr marL="0" marR="0" lvl="0" indent="0" algn="ctr" rtl="0">
              <a:lnSpc>
                <a:spcPct val="108333"/>
              </a:lnSpc>
              <a:spcBef>
                <a:spcPts val="0"/>
              </a:spcBef>
              <a:spcAft>
                <a:spcPts val="0"/>
              </a:spcAft>
              <a:buNone/>
            </a:pPr>
            <a:r>
              <a:rPr lang="en-US" sz="15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SỰ CÂN BẰNG</a:t>
            </a:r>
            <a:br>
              <a:rPr lang="en-US"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rPr>
            </a:br>
            <a:r>
              <a:rPr lang="en-US" sz="15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 TECH - BUSINESS</a:t>
            </a:r>
            <a:endParaRPr>
              <a:latin typeface="Times New Roman" panose="02020603050405020304" pitchFamily="18" charset="0"/>
              <a:cs typeface="Times New Roman" panose="02020603050405020304" pitchFamily="18" charset="0"/>
            </a:endParaRPr>
          </a:p>
        </p:txBody>
      </p:sp>
      <p:sp>
        <p:nvSpPr>
          <p:cNvPr id="94" name="Google Shape;94;p13"/>
          <p:cNvSpPr txBox="1"/>
          <p:nvPr/>
        </p:nvSpPr>
        <p:spPr>
          <a:xfrm>
            <a:off x="1052513" y="3548063"/>
            <a:ext cx="2774900" cy="206825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Đo lường mức độ tích hợp năng lực "Hybrid". Liệu kết quả thực tế có phản ánh sự phát triển đồng đều của cả hai bán cầu não, hay sinh viên đang bị lệch pha, chỉ tập trung vào kỹ thuật mà lơ là tư duy kinh doanh?</a:t>
            </a:r>
            <a:endParaRPr>
              <a:latin typeface="Times New Roman" panose="02020603050405020304" pitchFamily="18" charset="0"/>
              <a:cs typeface="Times New Roman" panose="02020603050405020304" pitchFamily="18" charset="0"/>
            </a:endParaRPr>
          </a:p>
        </p:txBody>
      </p:sp>
      <p:pic>
        <p:nvPicPr>
          <p:cNvPr id="96" name="Google Shape;96;p13" descr="image.png"/>
          <p:cNvPicPr preferRelativeResize="0"/>
          <p:nvPr/>
        </p:nvPicPr>
        <p:blipFill rotWithShape="1">
          <a:blip r:embed="rId9">
            <a:alphaModFix/>
          </a:blip>
          <a:srcRect/>
          <a:stretch/>
        </p:blipFill>
        <p:spPr>
          <a:xfrm>
            <a:off x="5714851" y="2362200"/>
            <a:ext cx="762000" cy="762000"/>
          </a:xfrm>
          <a:prstGeom prst="rect">
            <a:avLst/>
          </a:prstGeom>
          <a:noFill/>
          <a:ln>
            <a:noFill/>
          </a:ln>
        </p:spPr>
      </p:pic>
      <p:sp>
        <p:nvSpPr>
          <p:cNvPr id="97" name="Google Shape;97;p13"/>
          <p:cNvSpPr txBox="1"/>
          <p:nvPr/>
        </p:nvSpPr>
        <p:spPr>
          <a:xfrm>
            <a:off x="4639102" y="3362325"/>
            <a:ext cx="2913645" cy="495300"/>
          </a:xfrm>
          <a:prstGeom prst="rect">
            <a:avLst/>
          </a:prstGeom>
          <a:noFill/>
          <a:ln>
            <a:noFill/>
          </a:ln>
        </p:spPr>
        <p:txBody>
          <a:bodyPr spcFirstLastPara="1" wrap="square" lIns="0" tIns="0" rIns="0" bIns="0" anchor="ctr" anchorCtr="0">
            <a:spAutoFit/>
          </a:bodyPr>
          <a:lstStyle/>
          <a:p>
            <a:pPr marL="0" marR="0" lvl="0" indent="0" algn="ctr" rtl="0">
              <a:lnSpc>
                <a:spcPct val="108333"/>
              </a:lnSpc>
              <a:spcBef>
                <a:spcPts val="0"/>
              </a:spcBef>
              <a:spcAft>
                <a:spcPts val="0"/>
              </a:spcAft>
              <a:buNone/>
            </a:pPr>
            <a:r>
              <a:rPr lang="en-US" sz="15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TÍNH PHÂN HÓA</a:t>
            </a:r>
            <a:br>
              <a:rPr lang="en-US"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rPr>
            </a:br>
            <a:r>
              <a:rPr lang="en-US" sz="15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 &amp; CHẤT LƯỢNG THỰC</a:t>
            </a:r>
            <a:endParaRPr>
              <a:latin typeface="Times New Roman" panose="02020603050405020304" pitchFamily="18" charset="0"/>
              <a:cs typeface="Times New Roman" panose="02020603050405020304" pitchFamily="18" charset="0"/>
            </a:endParaRPr>
          </a:p>
        </p:txBody>
      </p:sp>
      <p:sp>
        <p:nvSpPr>
          <p:cNvPr id="98" name="Google Shape;98;p13"/>
          <p:cNvSpPr txBox="1"/>
          <p:nvPr/>
        </p:nvSpPr>
        <p:spPr>
          <a:xfrm>
            <a:off x="4708475" y="4048125"/>
            <a:ext cx="2774900" cy="241296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Rà soát tính thách thức của phương pháp đánh giá trong bối cảnh AI phổ cập. Nhận diện các môn học có phổ điểm “</a:t>
            </a:r>
            <a:r>
              <a:rPr lang="vi-VN"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dồ</a:t>
            </a:r>
            <a:r>
              <a:rPr lang="en-US"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n cục" để tái cấu trúc hình thức kiểm tra, đảm bảo điểm số phân loại rõ rệt năng lực thực chất của sinh viên.</a:t>
            </a:r>
            <a:endParaRPr>
              <a:latin typeface="Times New Roman" panose="02020603050405020304" pitchFamily="18" charset="0"/>
              <a:cs typeface="Times New Roman" panose="02020603050405020304" pitchFamily="18" charset="0"/>
            </a:endParaRPr>
          </a:p>
        </p:txBody>
      </p:sp>
      <p:pic>
        <p:nvPicPr>
          <p:cNvPr id="100" name="Google Shape;100;p13" descr="image.png"/>
          <p:cNvPicPr preferRelativeResize="0"/>
          <p:nvPr/>
        </p:nvPicPr>
        <p:blipFill rotWithShape="1">
          <a:blip r:embed="rId10">
            <a:alphaModFix/>
          </a:blip>
          <a:srcRect/>
          <a:stretch/>
        </p:blipFill>
        <p:spPr>
          <a:xfrm>
            <a:off x="9366200" y="2362200"/>
            <a:ext cx="762000" cy="762000"/>
          </a:xfrm>
          <a:prstGeom prst="rect">
            <a:avLst/>
          </a:prstGeom>
          <a:noFill/>
          <a:ln>
            <a:noFill/>
          </a:ln>
        </p:spPr>
      </p:pic>
      <p:sp>
        <p:nvSpPr>
          <p:cNvPr id="101" name="Google Shape;101;p13"/>
          <p:cNvSpPr txBox="1"/>
          <p:nvPr/>
        </p:nvSpPr>
        <p:spPr>
          <a:xfrm>
            <a:off x="8290299" y="3362325"/>
            <a:ext cx="2913801" cy="495300"/>
          </a:xfrm>
          <a:prstGeom prst="rect">
            <a:avLst/>
          </a:prstGeom>
          <a:noFill/>
          <a:ln>
            <a:noFill/>
          </a:ln>
        </p:spPr>
        <p:txBody>
          <a:bodyPr spcFirstLastPara="1" wrap="square" lIns="0" tIns="0" rIns="0" bIns="0" anchor="ctr" anchorCtr="0">
            <a:spAutoFit/>
          </a:bodyPr>
          <a:lstStyle/>
          <a:p>
            <a:pPr marL="0" marR="0" lvl="0" indent="0" algn="ctr" rtl="0">
              <a:lnSpc>
                <a:spcPct val="108333"/>
              </a:lnSpc>
              <a:spcBef>
                <a:spcPts val="0"/>
              </a:spcBef>
              <a:spcAft>
                <a:spcPts val="0"/>
              </a:spcAft>
              <a:buNone/>
            </a:pPr>
            <a:r>
              <a:rPr lang="en-US" sz="15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CHIẾN LƯỢC</a:t>
            </a:r>
            <a:br>
              <a:rPr lang="en-US"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rPr>
            </a:br>
            <a:r>
              <a:rPr lang="en-US" sz="15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 MÔN TỰ CHỌN</a:t>
            </a:r>
            <a:endParaRPr>
              <a:latin typeface="Times New Roman" panose="02020603050405020304" pitchFamily="18" charset="0"/>
              <a:cs typeface="Times New Roman" panose="02020603050405020304" pitchFamily="18" charset="0"/>
            </a:endParaRPr>
          </a:p>
        </p:txBody>
      </p:sp>
      <p:sp>
        <p:nvSpPr>
          <p:cNvPr id="102" name="Google Shape;102;p13"/>
          <p:cNvSpPr txBox="1"/>
          <p:nvPr/>
        </p:nvSpPr>
        <p:spPr>
          <a:xfrm>
            <a:off x="8359675" y="4048125"/>
            <a:ext cx="2775049" cy="206825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Xác định xu hướng lựa chọn theo định hướng nghề nghiệp thay vì tình thế. Vạch trần các "nút thắt cổ chai" khi môn học nhu cầu cao bị quá tải, nhằm cân bằng lại danh mục đào tạo và bám sát chiến lược cá nhân hóa năng lực.</a:t>
            </a:r>
            <a:endParaRPr>
              <a:latin typeface="Times New Roman" panose="02020603050405020304" pitchFamily="18" charset="0"/>
              <a:cs typeface="Times New Roman" panose="02020603050405020304" pitchFamily="18" charset="0"/>
            </a:endParaRPr>
          </a:p>
        </p:txBody>
      </p:sp>
      <p:pic>
        <p:nvPicPr>
          <p:cNvPr id="103" name="Google Shape;103;p13" descr="image.png"/>
          <p:cNvPicPr preferRelativeResize="0"/>
          <p:nvPr/>
        </p:nvPicPr>
        <p:blipFill rotWithShape="1">
          <a:blip r:embed="rId11">
            <a:alphaModFix/>
          </a:blip>
          <a:srcRect/>
          <a:stretch/>
        </p:blipFill>
        <p:spPr>
          <a:xfrm>
            <a:off x="2212077" y="2290763"/>
            <a:ext cx="381000" cy="304800"/>
          </a:xfrm>
          <a:prstGeom prst="rect">
            <a:avLst/>
          </a:prstGeom>
          <a:noFill/>
          <a:ln>
            <a:noFill/>
          </a:ln>
        </p:spPr>
      </p:pic>
      <p:pic>
        <p:nvPicPr>
          <p:cNvPr id="104" name="Google Shape;104;p13" descr="image.png"/>
          <p:cNvPicPr preferRelativeResize="0"/>
          <p:nvPr/>
        </p:nvPicPr>
        <p:blipFill rotWithShape="1">
          <a:blip r:embed="rId12">
            <a:alphaModFix/>
          </a:blip>
          <a:srcRect/>
          <a:stretch/>
        </p:blipFill>
        <p:spPr>
          <a:xfrm>
            <a:off x="5943451" y="2590800"/>
            <a:ext cx="304800" cy="304800"/>
          </a:xfrm>
          <a:prstGeom prst="rect">
            <a:avLst/>
          </a:prstGeom>
          <a:noFill/>
          <a:ln>
            <a:noFill/>
          </a:ln>
        </p:spPr>
      </p:pic>
      <p:pic>
        <p:nvPicPr>
          <p:cNvPr id="105" name="Google Shape;105;p13" descr="image.png"/>
          <p:cNvPicPr preferRelativeResize="0"/>
          <p:nvPr/>
        </p:nvPicPr>
        <p:blipFill rotWithShape="1">
          <a:blip r:embed="rId13">
            <a:alphaModFix/>
          </a:blip>
          <a:srcRect/>
          <a:stretch/>
        </p:blipFill>
        <p:spPr>
          <a:xfrm>
            <a:off x="9556700" y="2590800"/>
            <a:ext cx="381000" cy="304800"/>
          </a:xfrm>
          <a:prstGeom prst="rect">
            <a:avLst/>
          </a:prstGeom>
          <a:noFill/>
          <a:ln>
            <a:noFill/>
          </a:ln>
        </p:spPr>
      </p:pic>
      <p:sp>
        <p:nvSpPr>
          <p:cNvPr id="106" name="Google Shape;106;p13"/>
          <p:cNvSpPr txBox="1"/>
          <p:nvPr/>
        </p:nvSpPr>
        <p:spPr>
          <a:xfrm>
            <a:off x="1000125" y="571500"/>
            <a:ext cx="10951368"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chemeClr val="tx1"/>
                </a:solidFill>
                <a:latin typeface="Times New Roman" panose="02020603050405020304" pitchFamily="18" charset="0"/>
                <a:ea typeface="Montserrat"/>
                <a:cs typeface="Times New Roman" panose="02020603050405020304" pitchFamily="18" charset="0"/>
                <a:sym typeface="Montserrat"/>
              </a:rPr>
              <a:t>3 VẤN ĐỀ CỐT LÕI CẦN GIẢI QUYẾT</a:t>
            </a:r>
            <a:endParaRPr>
              <a:solidFill>
                <a:schemeClr val="tx1"/>
              </a:solidFill>
              <a:latin typeface="Times New Roman" panose="02020603050405020304" pitchFamily="18" charset="0"/>
              <a:cs typeface="Times New Roman" panose="02020603050405020304" pitchFamily="18" charset="0"/>
            </a:endParaRPr>
          </a:p>
        </p:txBody>
      </p:sp>
      <p:sp>
        <p:nvSpPr>
          <p:cNvPr id="107" name="Google Shape;107;p13"/>
          <p:cNvSpPr/>
          <p:nvPr/>
        </p:nvSpPr>
        <p:spPr>
          <a:xfrm>
            <a:off x="762000" y="571500"/>
            <a:ext cx="95250" cy="447675"/>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
        <p:cNvGrpSpPr/>
        <p:nvPr/>
      </p:nvGrpSpPr>
      <p:grpSpPr>
        <a:xfrm>
          <a:off x="0" y="0"/>
          <a:ext cx="0" cy="0"/>
          <a:chOff x="0" y="0"/>
          <a:chExt cx="0" cy="0"/>
        </a:xfrm>
      </p:grpSpPr>
      <p:pic>
        <p:nvPicPr>
          <p:cNvPr id="99" name="Google Shape;99;p14" descr="image.png"/>
          <p:cNvPicPr preferRelativeResize="0"/>
          <p:nvPr/>
        </p:nvPicPr>
        <p:blipFill rotWithShape="1">
          <a:blip r:embed="rId3">
            <a:alphaModFix/>
          </a:blip>
          <a:srcRect/>
          <a:stretch/>
        </p:blipFill>
        <p:spPr>
          <a:xfrm>
            <a:off x="762000" y="6191250"/>
            <a:ext cx="10668000" cy="381000"/>
          </a:xfrm>
          <a:prstGeom prst="rect">
            <a:avLst/>
          </a:prstGeom>
          <a:noFill/>
          <a:ln>
            <a:noFill/>
          </a:ln>
        </p:spPr>
      </p:pic>
      <p:pic>
        <p:nvPicPr>
          <p:cNvPr id="100" name="Google Shape;100;p14" descr="image.png"/>
          <p:cNvPicPr preferRelativeResize="0"/>
          <p:nvPr/>
        </p:nvPicPr>
        <p:blipFill rotWithShape="1">
          <a:blip r:embed="rId4">
            <a:alphaModFix/>
          </a:blip>
          <a:srcRect/>
          <a:stretch/>
        </p:blipFill>
        <p:spPr>
          <a:xfrm>
            <a:off x="762000" y="2795587"/>
            <a:ext cx="3365450" cy="2066925"/>
          </a:xfrm>
          <a:prstGeom prst="rect">
            <a:avLst/>
          </a:prstGeom>
          <a:noFill/>
          <a:ln>
            <a:noFill/>
          </a:ln>
        </p:spPr>
      </p:pic>
      <p:pic>
        <p:nvPicPr>
          <p:cNvPr id="101" name="Google Shape;101;p14" descr="image.png"/>
          <p:cNvPicPr preferRelativeResize="0"/>
          <p:nvPr/>
        </p:nvPicPr>
        <p:blipFill rotWithShape="1">
          <a:blip r:embed="rId5">
            <a:alphaModFix/>
          </a:blip>
          <a:srcRect/>
          <a:stretch/>
        </p:blipFill>
        <p:spPr>
          <a:xfrm>
            <a:off x="4413200" y="2795587"/>
            <a:ext cx="3365450" cy="2066925"/>
          </a:xfrm>
          <a:prstGeom prst="rect">
            <a:avLst/>
          </a:prstGeom>
          <a:noFill/>
          <a:ln>
            <a:noFill/>
          </a:ln>
        </p:spPr>
      </p:pic>
      <p:pic>
        <p:nvPicPr>
          <p:cNvPr id="102" name="Google Shape;102;p14" descr="image.png"/>
          <p:cNvPicPr preferRelativeResize="0"/>
          <p:nvPr/>
        </p:nvPicPr>
        <p:blipFill rotWithShape="1">
          <a:blip r:embed="rId6">
            <a:alphaModFix/>
          </a:blip>
          <a:srcRect/>
          <a:stretch/>
        </p:blipFill>
        <p:spPr>
          <a:xfrm>
            <a:off x="8064400" y="2795587"/>
            <a:ext cx="3365599" cy="2066925"/>
          </a:xfrm>
          <a:prstGeom prst="rect">
            <a:avLst/>
          </a:prstGeom>
          <a:noFill/>
          <a:ln>
            <a:noFill/>
          </a:ln>
        </p:spPr>
      </p:pic>
      <p:sp>
        <p:nvSpPr>
          <p:cNvPr id="103" name="Google Shape;103;p14"/>
          <p:cNvSpPr txBox="1"/>
          <p:nvPr/>
        </p:nvSpPr>
        <p:spPr>
          <a:xfrm>
            <a:off x="762000" y="6381750"/>
            <a:ext cx="238125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Times New Roman" panose="02020603050405020304" pitchFamily="18" charset="0"/>
                <a:ea typeface="Roboto"/>
                <a:cs typeface="Times New Roman" panose="02020603050405020304" pitchFamily="18" charset="0"/>
                <a:sym typeface="Roboto"/>
              </a:rPr>
              <a:t>Báo cáo Tình hình Học tập Sinh viên DSB</a:t>
            </a:r>
            <a:endParaRPr>
              <a:latin typeface="Times New Roman" panose="02020603050405020304" pitchFamily="18" charset="0"/>
              <a:cs typeface="Times New Roman" panose="02020603050405020304" pitchFamily="18" charset="0"/>
            </a:endParaRPr>
          </a:p>
        </p:txBody>
      </p:sp>
      <p:pic>
        <p:nvPicPr>
          <p:cNvPr id="104" name="Google Shape;104;p14" descr="image.png"/>
          <p:cNvPicPr preferRelativeResize="0"/>
          <p:nvPr/>
        </p:nvPicPr>
        <p:blipFill rotWithShape="1">
          <a:blip r:embed="rId7">
            <a:alphaModFix/>
          </a:blip>
          <a:srcRect/>
          <a:stretch/>
        </p:blipFill>
        <p:spPr>
          <a:xfrm>
            <a:off x="11049000" y="6343650"/>
            <a:ext cx="381000" cy="228600"/>
          </a:xfrm>
          <a:prstGeom prst="rect">
            <a:avLst/>
          </a:prstGeom>
          <a:noFill/>
          <a:ln>
            <a:noFill/>
          </a:ln>
        </p:spPr>
      </p:pic>
      <p:pic>
        <p:nvPicPr>
          <p:cNvPr id="105" name="Google Shape;105;p14" descr="image.png"/>
          <p:cNvPicPr preferRelativeResize="0"/>
          <p:nvPr/>
        </p:nvPicPr>
        <p:blipFill rotWithShape="1">
          <a:blip r:embed="rId8">
            <a:alphaModFix/>
          </a:blip>
          <a:srcRect/>
          <a:stretch/>
        </p:blipFill>
        <p:spPr>
          <a:xfrm>
            <a:off x="1057275" y="3090862"/>
            <a:ext cx="390525" cy="342900"/>
          </a:xfrm>
          <a:prstGeom prst="rect">
            <a:avLst/>
          </a:prstGeom>
          <a:noFill/>
          <a:ln>
            <a:noFill/>
          </a:ln>
        </p:spPr>
      </p:pic>
      <p:sp>
        <p:nvSpPr>
          <p:cNvPr id="106" name="Google Shape;106;p14"/>
          <p:cNvSpPr txBox="1"/>
          <p:nvPr/>
        </p:nvSpPr>
        <p:spPr>
          <a:xfrm>
            <a:off x="1057275" y="3624262"/>
            <a:ext cx="291364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Đánh giá học lực</a:t>
            </a:r>
            <a:endParaRPr>
              <a:latin typeface="Times New Roman" panose="02020603050405020304" pitchFamily="18" charset="0"/>
              <a:cs typeface="Times New Roman" panose="02020603050405020304" pitchFamily="18" charset="0"/>
            </a:endParaRPr>
          </a:p>
        </p:txBody>
      </p:sp>
      <p:sp>
        <p:nvSpPr>
          <p:cNvPr id="107" name="Google Shape;107;p14"/>
          <p:cNvSpPr txBox="1"/>
          <p:nvPr/>
        </p:nvSpPr>
        <p:spPr>
          <a:xfrm>
            <a:off x="1057275" y="4024312"/>
            <a:ext cx="27749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000000"/>
                </a:solidFill>
                <a:latin typeface="Times New Roman" panose="02020603050405020304" pitchFamily="18" charset="0"/>
                <a:ea typeface="Roboto"/>
                <a:cs typeface="Times New Roman" panose="02020603050405020304" pitchFamily="18" charset="0"/>
                <a:sym typeface="Roboto"/>
              </a:rPr>
              <a:t>Phân tích phổ điểm GPA và kết quả rèn luyện để đánh giá chất lượng học tập chung toàn khoa.</a:t>
            </a:r>
            <a:endParaRPr>
              <a:latin typeface="Times New Roman" panose="02020603050405020304" pitchFamily="18" charset="0"/>
              <a:cs typeface="Times New Roman" panose="02020603050405020304" pitchFamily="18" charset="0"/>
            </a:endParaRPr>
          </a:p>
        </p:txBody>
      </p:sp>
      <p:pic>
        <p:nvPicPr>
          <p:cNvPr id="108" name="Google Shape;108;p14" descr="image.png"/>
          <p:cNvPicPr preferRelativeResize="0"/>
          <p:nvPr/>
        </p:nvPicPr>
        <p:blipFill rotWithShape="1">
          <a:blip r:embed="rId9">
            <a:alphaModFix/>
          </a:blip>
          <a:srcRect/>
          <a:stretch/>
        </p:blipFill>
        <p:spPr>
          <a:xfrm>
            <a:off x="4708475" y="3090862"/>
            <a:ext cx="342900" cy="342900"/>
          </a:xfrm>
          <a:prstGeom prst="rect">
            <a:avLst/>
          </a:prstGeom>
          <a:noFill/>
          <a:ln>
            <a:noFill/>
          </a:ln>
        </p:spPr>
      </p:pic>
      <p:sp>
        <p:nvSpPr>
          <p:cNvPr id="109" name="Google Shape;109;p14"/>
          <p:cNvSpPr txBox="1"/>
          <p:nvPr/>
        </p:nvSpPr>
        <p:spPr>
          <a:xfrm>
            <a:off x="4708475" y="3624262"/>
            <a:ext cx="291364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Nhận diện rủi ro</a:t>
            </a:r>
            <a:endParaRPr>
              <a:latin typeface="Times New Roman" panose="02020603050405020304" pitchFamily="18" charset="0"/>
              <a:cs typeface="Times New Roman" panose="02020603050405020304" pitchFamily="18" charset="0"/>
            </a:endParaRPr>
          </a:p>
        </p:txBody>
      </p:sp>
      <p:sp>
        <p:nvSpPr>
          <p:cNvPr id="110" name="Google Shape;110;p14"/>
          <p:cNvSpPr txBox="1"/>
          <p:nvPr/>
        </p:nvSpPr>
        <p:spPr>
          <a:xfrm>
            <a:off x="4708475" y="4024312"/>
            <a:ext cx="27749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000000"/>
                </a:solidFill>
                <a:latin typeface="Times New Roman" panose="02020603050405020304" pitchFamily="18" charset="0"/>
                <a:ea typeface="Roboto"/>
                <a:cs typeface="Times New Roman" panose="02020603050405020304" pitchFamily="18" charset="0"/>
                <a:sym typeface="Roboto"/>
              </a:rPr>
              <a:t>Sử dụng dữ liệu để dự báo nhóm sinh viên có nguy cơ nợ môn hoặc cần hỗ trợ học thuật đặc biệt.</a:t>
            </a:r>
            <a:endParaRPr>
              <a:latin typeface="Times New Roman" panose="02020603050405020304" pitchFamily="18" charset="0"/>
              <a:cs typeface="Times New Roman" panose="02020603050405020304" pitchFamily="18" charset="0"/>
            </a:endParaRPr>
          </a:p>
        </p:txBody>
      </p:sp>
      <p:pic>
        <p:nvPicPr>
          <p:cNvPr id="111" name="Google Shape;111;p14" descr="image.png"/>
          <p:cNvPicPr preferRelativeResize="0"/>
          <p:nvPr/>
        </p:nvPicPr>
        <p:blipFill rotWithShape="1">
          <a:blip r:embed="rId10">
            <a:alphaModFix/>
          </a:blip>
          <a:srcRect/>
          <a:stretch/>
        </p:blipFill>
        <p:spPr>
          <a:xfrm>
            <a:off x="8359675" y="3090862"/>
            <a:ext cx="257175" cy="342900"/>
          </a:xfrm>
          <a:prstGeom prst="rect">
            <a:avLst/>
          </a:prstGeom>
          <a:noFill/>
          <a:ln>
            <a:noFill/>
          </a:ln>
        </p:spPr>
      </p:pic>
      <p:sp>
        <p:nvSpPr>
          <p:cNvPr id="112" name="Google Shape;112;p14"/>
          <p:cNvSpPr txBox="1"/>
          <p:nvPr/>
        </p:nvSpPr>
        <p:spPr>
          <a:xfrm>
            <a:off x="8359675" y="3624262"/>
            <a:ext cx="2913801"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Đề xuất giải pháp</a:t>
            </a:r>
            <a:endParaRPr>
              <a:latin typeface="Times New Roman" panose="02020603050405020304" pitchFamily="18" charset="0"/>
              <a:cs typeface="Times New Roman" panose="02020603050405020304" pitchFamily="18" charset="0"/>
            </a:endParaRPr>
          </a:p>
        </p:txBody>
      </p:sp>
      <p:sp>
        <p:nvSpPr>
          <p:cNvPr id="113" name="Google Shape;113;p14"/>
          <p:cNvSpPr txBox="1"/>
          <p:nvPr/>
        </p:nvSpPr>
        <p:spPr>
          <a:xfrm>
            <a:off x="8359675" y="4024312"/>
            <a:ext cx="2775049"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000000"/>
                </a:solidFill>
                <a:latin typeface="Times New Roman" panose="02020603050405020304" pitchFamily="18" charset="0"/>
                <a:ea typeface="Roboto"/>
                <a:cs typeface="Times New Roman" panose="02020603050405020304" pitchFamily="18" charset="0"/>
                <a:sym typeface="Roboto"/>
              </a:rPr>
              <a:t>Xây dựng các chương trình Mentoring và Workshop kỹ năng dựa trên nhu cầu thực tế của sinh viên.</a:t>
            </a:r>
            <a:endParaRPr>
              <a:latin typeface="Times New Roman" panose="02020603050405020304" pitchFamily="18" charset="0"/>
              <a:cs typeface="Times New Roman" panose="02020603050405020304" pitchFamily="18" charset="0"/>
            </a:endParaRPr>
          </a:p>
        </p:txBody>
      </p:sp>
      <p:sp>
        <p:nvSpPr>
          <p:cNvPr id="114" name="Google Shape;114;p14"/>
          <p:cNvSpPr txBox="1"/>
          <p:nvPr/>
        </p:nvSpPr>
        <p:spPr>
          <a:xfrm>
            <a:off x="1000125" y="571500"/>
            <a:ext cx="10951368"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MỤC TIÊU &amp; PHẠM VI PHÂN TÍCH</a:t>
            </a:r>
            <a:endParaRPr>
              <a:latin typeface="Times New Roman" panose="02020603050405020304" pitchFamily="18" charset="0"/>
              <a:cs typeface="Times New Roman" panose="02020603050405020304" pitchFamily="18" charset="0"/>
            </a:endParaRPr>
          </a:p>
        </p:txBody>
      </p:sp>
      <p:sp>
        <p:nvSpPr>
          <p:cNvPr id="115" name="Google Shape;115;p14"/>
          <p:cNvSpPr/>
          <p:nvPr/>
        </p:nvSpPr>
        <p:spPr>
          <a:xfrm>
            <a:off x="762000" y="571500"/>
            <a:ext cx="76200" cy="4191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a:stretch/>
        </p:blipFill>
        <p:spPr>
          <a:xfrm>
            <a:off x="762000" y="6191250"/>
            <a:ext cx="10668000" cy="381000"/>
          </a:xfrm>
          <a:prstGeom prst="rect">
            <a:avLst/>
          </a:prstGeom>
          <a:noFill/>
          <a:ln>
            <a:noFill/>
          </a:ln>
        </p:spPr>
      </p:pic>
      <p:pic>
        <p:nvPicPr>
          <p:cNvPr id="86" name="Google Shape;86;p13" descr="image.png"/>
          <p:cNvPicPr preferRelativeResize="0"/>
          <p:nvPr/>
        </p:nvPicPr>
        <p:blipFill rotWithShape="1">
          <a:blip r:embed="rId4">
            <a:alphaModFix/>
          </a:blip>
          <a:srcRect/>
          <a:stretch/>
        </p:blipFill>
        <p:spPr>
          <a:xfrm>
            <a:off x="762000" y="2213818"/>
            <a:ext cx="3333750" cy="3773388"/>
          </a:xfrm>
          <a:prstGeom prst="rect">
            <a:avLst/>
          </a:prstGeom>
          <a:noFill/>
          <a:ln>
            <a:noFill/>
          </a:ln>
        </p:spPr>
      </p:pic>
      <p:pic>
        <p:nvPicPr>
          <p:cNvPr id="87" name="Google Shape;87;p13" descr="image.png"/>
          <p:cNvPicPr preferRelativeResize="0"/>
          <p:nvPr/>
        </p:nvPicPr>
        <p:blipFill rotWithShape="1">
          <a:blip r:embed="rId4">
            <a:alphaModFix/>
          </a:blip>
          <a:srcRect/>
          <a:stretch/>
        </p:blipFill>
        <p:spPr>
          <a:xfrm>
            <a:off x="4429125" y="2213818"/>
            <a:ext cx="3333750" cy="3773388"/>
          </a:xfrm>
          <a:prstGeom prst="rect">
            <a:avLst/>
          </a:prstGeom>
          <a:noFill/>
          <a:ln>
            <a:noFill/>
          </a:ln>
        </p:spPr>
      </p:pic>
      <p:pic>
        <p:nvPicPr>
          <p:cNvPr id="88" name="Google Shape;88;p13" descr="image.png"/>
          <p:cNvPicPr preferRelativeResize="0"/>
          <p:nvPr/>
        </p:nvPicPr>
        <p:blipFill rotWithShape="1">
          <a:blip r:embed="rId4">
            <a:alphaModFix/>
          </a:blip>
          <a:srcRect/>
          <a:stretch/>
        </p:blipFill>
        <p:spPr>
          <a:xfrm>
            <a:off x="8096250" y="2213818"/>
            <a:ext cx="3333750" cy="3773388"/>
          </a:xfrm>
          <a:prstGeom prst="rect">
            <a:avLst/>
          </a:prstGeom>
          <a:noFill/>
          <a:ln>
            <a:noFill/>
          </a:ln>
        </p:spPr>
      </p:pic>
      <p:pic>
        <p:nvPicPr>
          <p:cNvPr id="89" name="Google Shape;89;p13" descr="image.png"/>
          <p:cNvPicPr preferRelativeResize="0"/>
          <p:nvPr/>
        </p:nvPicPr>
        <p:blipFill rotWithShape="1">
          <a:blip r:embed="rId5">
            <a:alphaModFix/>
          </a:blip>
          <a:srcRect/>
          <a:stretch/>
        </p:blipFill>
        <p:spPr>
          <a:xfrm>
            <a:off x="1057275" y="2032843"/>
            <a:ext cx="428625" cy="428625"/>
          </a:xfrm>
          <a:prstGeom prst="rect">
            <a:avLst/>
          </a:prstGeom>
          <a:noFill/>
          <a:ln>
            <a:noFill/>
          </a:ln>
        </p:spPr>
      </p:pic>
      <p:pic>
        <p:nvPicPr>
          <p:cNvPr id="90" name="Google Shape;90;p13" descr="image.png"/>
          <p:cNvPicPr preferRelativeResize="0"/>
          <p:nvPr/>
        </p:nvPicPr>
        <p:blipFill rotWithShape="1">
          <a:blip r:embed="rId6">
            <a:alphaModFix/>
          </a:blip>
          <a:srcRect/>
          <a:stretch/>
        </p:blipFill>
        <p:spPr>
          <a:xfrm>
            <a:off x="4724400" y="2032843"/>
            <a:ext cx="428625" cy="428625"/>
          </a:xfrm>
          <a:prstGeom prst="rect">
            <a:avLst/>
          </a:prstGeom>
          <a:noFill/>
          <a:ln>
            <a:noFill/>
          </a:ln>
        </p:spPr>
      </p:pic>
      <p:pic>
        <p:nvPicPr>
          <p:cNvPr id="91" name="Google Shape;91;p13" descr="image.png"/>
          <p:cNvPicPr preferRelativeResize="0"/>
          <p:nvPr/>
        </p:nvPicPr>
        <p:blipFill rotWithShape="1">
          <a:blip r:embed="rId7">
            <a:alphaModFix/>
          </a:blip>
          <a:srcRect/>
          <a:stretch/>
        </p:blipFill>
        <p:spPr>
          <a:xfrm>
            <a:off x="8391525" y="2032843"/>
            <a:ext cx="428625" cy="428625"/>
          </a:xfrm>
          <a:prstGeom prst="rect">
            <a:avLst/>
          </a:prstGeom>
          <a:noFill/>
          <a:ln>
            <a:noFill/>
          </a:ln>
        </p:spPr>
      </p:pic>
      <p:sp>
        <p:nvSpPr>
          <p:cNvPr id="92" name="Google Shape;92;p13"/>
          <p:cNvSpPr txBox="1"/>
          <p:nvPr/>
        </p:nvSpPr>
        <p:spPr>
          <a:xfrm>
            <a:off x="762000" y="6381750"/>
            <a:ext cx="3933825"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Times New Roman" panose="02020603050405020304" pitchFamily="18" charset="0"/>
                <a:ea typeface="Roboto"/>
                <a:cs typeface="Times New Roman" panose="02020603050405020304" pitchFamily="18" charset="0"/>
                <a:sym typeface="Roboto"/>
              </a:rPr>
              <a:t>Phân tích Học thuật DSB | Khoa Khoa học Dữ liệu trong Kinh doanh</a:t>
            </a:r>
            <a:endParaRPr>
              <a:latin typeface="Times New Roman" panose="02020603050405020304" pitchFamily="18" charset="0"/>
              <a:cs typeface="Times New Roman" panose="02020603050405020304" pitchFamily="18" charset="0"/>
            </a:endParaRPr>
          </a:p>
        </p:txBody>
      </p:sp>
      <p:pic>
        <p:nvPicPr>
          <p:cNvPr id="93" name="Google Shape;93;p13" descr="image.png"/>
          <p:cNvPicPr preferRelativeResize="0"/>
          <p:nvPr/>
        </p:nvPicPr>
        <p:blipFill rotWithShape="1">
          <a:blip r:embed="rId8">
            <a:alphaModFix/>
          </a:blip>
          <a:srcRect/>
          <a:stretch/>
        </p:blipFill>
        <p:spPr>
          <a:xfrm>
            <a:off x="11049000" y="6343650"/>
            <a:ext cx="381000" cy="228600"/>
          </a:xfrm>
          <a:prstGeom prst="rect">
            <a:avLst/>
          </a:prstGeom>
          <a:noFill/>
          <a:ln>
            <a:noFill/>
          </a:ln>
        </p:spPr>
      </p:pic>
      <p:pic>
        <p:nvPicPr>
          <p:cNvPr id="94" name="Google Shape;94;p13" descr="image.png"/>
          <p:cNvPicPr preferRelativeResize="0"/>
          <p:nvPr/>
        </p:nvPicPr>
        <p:blipFill rotWithShape="1">
          <a:blip r:embed="rId9">
            <a:alphaModFix/>
          </a:blip>
          <a:srcRect/>
          <a:stretch/>
        </p:blipFill>
        <p:spPr>
          <a:xfrm>
            <a:off x="1057275" y="2699593"/>
            <a:ext cx="2743200" cy="381000"/>
          </a:xfrm>
          <a:prstGeom prst="rect">
            <a:avLst/>
          </a:prstGeom>
          <a:noFill/>
          <a:ln>
            <a:noFill/>
          </a:ln>
        </p:spPr>
      </p:pic>
      <p:sp>
        <p:nvSpPr>
          <p:cNvPr id="95" name="Google Shape;95;p13"/>
          <p:cNvSpPr txBox="1"/>
          <p:nvPr/>
        </p:nvSpPr>
        <p:spPr>
          <a:xfrm>
            <a:off x="1057275" y="3318718"/>
            <a:ext cx="2880360" cy="660181"/>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65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Ưu thế lệch pha của khối Kỹ thuật</a:t>
            </a:r>
            <a:endParaRPr>
              <a:latin typeface="Times New Roman" panose="02020603050405020304" pitchFamily="18" charset="0"/>
              <a:cs typeface="Times New Roman" panose="02020603050405020304" pitchFamily="18" charset="0"/>
            </a:endParaRPr>
          </a:p>
        </p:txBody>
      </p:sp>
      <p:sp>
        <p:nvSpPr>
          <p:cNvPr id="96" name="Google Shape;96;p13"/>
          <p:cNvSpPr txBox="1"/>
          <p:nvPr/>
        </p:nvSpPr>
        <p:spPr>
          <a:xfrm>
            <a:off x="1057275" y="4006304"/>
            <a:ext cx="2743200"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Kết quả học tập cho thấy các học phần Kỹ thuật đang chiếm ưu thế hoàn toàn. Sự chênh lệch này cảnh báo về mức độ mất cân bằng trong việc phát triển song song tư duy Tech và Business.</a:t>
            </a:r>
            <a:endParaRPr>
              <a:latin typeface="Times New Roman" panose="02020603050405020304" pitchFamily="18" charset="0"/>
              <a:cs typeface="Times New Roman" panose="02020603050405020304" pitchFamily="18" charset="0"/>
            </a:endParaRPr>
          </a:p>
        </p:txBody>
      </p:sp>
      <p:pic>
        <p:nvPicPr>
          <p:cNvPr id="97" name="Google Shape;97;p13" descr="image.png"/>
          <p:cNvPicPr preferRelativeResize="0"/>
          <p:nvPr/>
        </p:nvPicPr>
        <p:blipFill rotWithShape="1">
          <a:blip r:embed="rId10">
            <a:alphaModFix/>
          </a:blip>
          <a:srcRect/>
          <a:stretch/>
        </p:blipFill>
        <p:spPr>
          <a:xfrm>
            <a:off x="4724400" y="2699593"/>
            <a:ext cx="2743200" cy="381000"/>
          </a:xfrm>
          <a:prstGeom prst="rect">
            <a:avLst/>
          </a:prstGeom>
          <a:noFill/>
          <a:ln>
            <a:noFill/>
          </a:ln>
        </p:spPr>
      </p:pic>
      <p:sp>
        <p:nvSpPr>
          <p:cNvPr id="98" name="Google Shape;98;p13"/>
          <p:cNvSpPr txBox="1"/>
          <p:nvPr/>
        </p:nvSpPr>
        <p:spPr>
          <a:xfrm>
            <a:off x="4724400" y="3318718"/>
            <a:ext cx="2880360" cy="660181"/>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65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Điểm số phân hóa chưa đủ mạnh</a:t>
            </a:r>
            <a:endParaRPr>
              <a:latin typeface="Times New Roman" panose="02020603050405020304" pitchFamily="18" charset="0"/>
              <a:cs typeface="Times New Roman" panose="02020603050405020304" pitchFamily="18" charset="0"/>
            </a:endParaRPr>
          </a:p>
        </p:txBody>
      </p:sp>
      <p:sp>
        <p:nvSpPr>
          <p:cNvPr id="99" name="Google Shape;99;p13"/>
          <p:cNvSpPr txBox="1"/>
          <p:nvPr/>
        </p:nvSpPr>
        <p:spPr>
          <a:xfrm>
            <a:off x="4724400" y="4006304"/>
            <a:ext cx="2743200"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Phổ điểm tổng thể chưa cho thấy sự phân hóa sắc nét. Hiện tượng điểm số dồn cục làm mờ ranh giới năng lực, gây khó khăn trong việc đánh giá và đảm bảo chất lượng chuẩn đầu ra thực chất.</a:t>
            </a:r>
            <a:endParaRPr>
              <a:latin typeface="Times New Roman" panose="02020603050405020304" pitchFamily="18" charset="0"/>
              <a:cs typeface="Times New Roman" panose="02020603050405020304" pitchFamily="18" charset="0"/>
            </a:endParaRPr>
          </a:p>
        </p:txBody>
      </p:sp>
      <p:pic>
        <p:nvPicPr>
          <p:cNvPr id="100" name="Google Shape;100;p13" descr="image.png"/>
          <p:cNvPicPr preferRelativeResize="0"/>
          <p:nvPr/>
        </p:nvPicPr>
        <p:blipFill rotWithShape="1">
          <a:blip r:embed="rId11">
            <a:alphaModFix/>
          </a:blip>
          <a:srcRect/>
          <a:stretch/>
        </p:blipFill>
        <p:spPr>
          <a:xfrm>
            <a:off x="8391525" y="2699593"/>
            <a:ext cx="2743200" cy="381000"/>
          </a:xfrm>
          <a:prstGeom prst="rect">
            <a:avLst/>
          </a:prstGeom>
          <a:noFill/>
          <a:ln>
            <a:noFill/>
          </a:ln>
        </p:spPr>
      </p:pic>
      <p:sp>
        <p:nvSpPr>
          <p:cNvPr id="101" name="Google Shape;101;p13"/>
          <p:cNvSpPr txBox="1"/>
          <p:nvPr/>
        </p:nvSpPr>
        <p:spPr>
          <a:xfrm>
            <a:off x="8391525" y="3318718"/>
            <a:ext cx="2880360" cy="660181"/>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65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Xu hướng chọn môn thiên vị Tech</a:t>
            </a:r>
            <a:endParaRPr>
              <a:latin typeface="Times New Roman" panose="02020603050405020304" pitchFamily="18" charset="0"/>
              <a:cs typeface="Times New Roman" panose="02020603050405020304" pitchFamily="18" charset="0"/>
            </a:endParaRPr>
          </a:p>
        </p:txBody>
      </p:sp>
      <p:sp>
        <p:nvSpPr>
          <p:cNvPr id="102" name="Google Shape;102;p13"/>
          <p:cNvSpPr txBox="1"/>
          <p:nvPr/>
        </p:nvSpPr>
        <p:spPr>
          <a:xfrm>
            <a:off x="8391525" y="4006304"/>
            <a:ext cx="2743200"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475569"/>
                </a:solidFill>
                <a:latin typeface="Times New Roman" panose="02020603050405020304" pitchFamily="18" charset="0"/>
                <a:ea typeface="Roboto"/>
                <a:cs typeface="Times New Roman" panose="02020603050405020304" pitchFamily="18" charset="0"/>
                <a:sym typeface="Roboto"/>
              </a:rPr>
              <a:t>"Phân tích dữ liệu mạng xã hội"</a:t>
            </a:r>
            <a:r>
              <a:rPr lang="en-US" sz="1200"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 là học phần tự chọn được đăng ký nhiều nhất. Nhìn chung, sinh viên có xu hướng ưu tiên lựa chọn các môn kỹ thuật (Tech) áp đảo so với các môn kinh tế (Biz).</a:t>
            </a:r>
            <a:endParaRPr>
              <a:latin typeface="Times New Roman" panose="02020603050405020304" pitchFamily="18" charset="0"/>
              <a:cs typeface="Times New Roman" panose="02020603050405020304" pitchFamily="18" charset="0"/>
            </a:endParaRPr>
          </a:p>
        </p:txBody>
      </p:sp>
      <p:pic>
        <p:nvPicPr>
          <p:cNvPr id="103" name="Google Shape;103;p13" descr="image.png"/>
          <p:cNvPicPr preferRelativeResize="0"/>
          <p:nvPr/>
        </p:nvPicPr>
        <p:blipFill rotWithShape="1">
          <a:blip r:embed="rId12">
            <a:alphaModFix/>
          </a:blip>
          <a:srcRect/>
          <a:stretch/>
        </p:blipFill>
        <p:spPr>
          <a:xfrm>
            <a:off x="1057275" y="5587156"/>
            <a:ext cx="1438275" cy="228600"/>
          </a:xfrm>
          <a:prstGeom prst="rect">
            <a:avLst/>
          </a:prstGeom>
          <a:noFill/>
          <a:ln>
            <a:noFill/>
          </a:ln>
        </p:spPr>
      </p:pic>
      <p:pic>
        <p:nvPicPr>
          <p:cNvPr id="104" name="Google Shape;104;p13" descr="image.png"/>
          <p:cNvPicPr preferRelativeResize="0"/>
          <p:nvPr/>
        </p:nvPicPr>
        <p:blipFill rotWithShape="1">
          <a:blip r:embed="rId13">
            <a:alphaModFix/>
          </a:blip>
          <a:srcRect/>
          <a:stretch/>
        </p:blipFill>
        <p:spPr>
          <a:xfrm>
            <a:off x="4724400" y="5630762"/>
            <a:ext cx="1104900" cy="228600"/>
          </a:xfrm>
          <a:prstGeom prst="rect">
            <a:avLst/>
          </a:prstGeom>
          <a:noFill/>
          <a:ln>
            <a:noFill/>
          </a:ln>
        </p:spPr>
      </p:pic>
      <p:pic>
        <p:nvPicPr>
          <p:cNvPr id="105" name="Google Shape;105;p13" descr="image.png"/>
          <p:cNvPicPr preferRelativeResize="0"/>
          <p:nvPr/>
        </p:nvPicPr>
        <p:blipFill rotWithShape="1">
          <a:blip r:embed="rId14">
            <a:alphaModFix/>
          </a:blip>
          <a:srcRect/>
          <a:stretch/>
        </p:blipFill>
        <p:spPr>
          <a:xfrm>
            <a:off x="8391525" y="5545037"/>
            <a:ext cx="1666875" cy="228600"/>
          </a:xfrm>
          <a:prstGeom prst="rect">
            <a:avLst/>
          </a:prstGeom>
          <a:noFill/>
          <a:ln>
            <a:noFill/>
          </a:ln>
        </p:spPr>
      </p:pic>
      <p:sp>
        <p:nvSpPr>
          <p:cNvPr id="106" name="Google Shape;106;p13"/>
          <p:cNvSpPr txBox="1"/>
          <p:nvPr/>
        </p:nvSpPr>
        <p:spPr>
          <a:xfrm>
            <a:off x="952500" y="571500"/>
            <a:ext cx="11001375"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chemeClr val="tx1"/>
                </a:solidFill>
                <a:latin typeface="Times New Roman" panose="02020603050405020304" pitchFamily="18" charset="0"/>
                <a:ea typeface="Montserrat"/>
                <a:cs typeface="Times New Roman" panose="02020603050405020304" pitchFamily="18" charset="0"/>
                <a:sym typeface="Montserrat"/>
              </a:rPr>
              <a:t>TÓM LƯỢC PHÁT HIỆN CHÍNH</a:t>
            </a:r>
            <a:endParaRPr>
              <a:solidFill>
                <a:schemeClr val="tx1"/>
              </a:solidFill>
              <a:latin typeface="Times New Roman" panose="02020603050405020304" pitchFamily="18" charset="0"/>
              <a:cs typeface="Times New Roman" panose="02020603050405020304" pitchFamily="18" charset="0"/>
            </a:endParaRPr>
          </a:p>
        </p:txBody>
      </p:sp>
      <p:sp>
        <p:nvSpPr>
          <p:cNvPr id="107" name="Google Shape;107;p13"/>
          <p:cNvSpPr/>
          <p:nvPr/>
        </p:nvSpPr>
        <p:spPr>
          <a:xfrm>
            <a:off x="762000" y="571500"/>
            <a:ext cx="76200" cy="447675"/>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8" name="Google Shape;108;p13"/>
          <p:cNvSpPr txBox="1"/>
          <p:nvPr/>
        </p:nvSpPr>
        <p:spPr>
          <a:xfrm>
            <a:off x="762000" y="1209675"/>
            <a:ext cx="1066800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Times New Roman" panose="02020603050405020304" pitchFamily="18" charset="0"/>
                <a:ea typeface="Roboto"/>
                <a:cs typeface="Times New Roman" panose="02020603050405020304" pitchFamily="18" charset="0"/>
                <a:sym typeface="Roboto"/>
              </a:rPr>
              <a:t>3 điểm nổi bật rút ra từ quá trình phân tích dữ liệu học tập thực tế</a:t>
            </a: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952500" y="6124575"/>
            <a:ext cx="10287000" cy="352425"/>
          </a:xfrm>
          <a:prstGeom prst="rect">
            <a:avLst/>
          </a:prstGeom>
          <a:noFill/>
          <a:ln>
            <a:noFill/>
          </a:ln>
        </p:spPr>
      </p:pic>
      <p:sp>
        <p:nvSpPr>
          <p:cNvPr id="86" name="Google Shape;86;p13"/>
          <p:cNvSpPr txBox="1"/>
          <p:nvPr/>
        </p:nvSpPr>
        <p:spPr>
          <a:xfrm>
            <a:off x="952500" y="6324600"/>
            <a:ext cx="360045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CBD5E1"/>
                </a:solidFill>
                <a:latin typeface="Times New Roman" panose="02020603050405020304" pitchFamily="18" charset="0"/>
                <a:ea typeface="Roboto"/>
                <a:cs typeface="Times New Roman" panose="02020603050405020304" pitchFamily="18" charset="0"/>
                <a:sym typeface="Roboto"/>
              </a:rPr>
              <a:t>KHOA KHOA HỌC DỮ LIỆU TRONG KINH DOANH</a:t>
            </a:r>
            <a:endParaRPr>
              <a:latin typeface="Times New Roman" panose="02020603050405020304" pitchFamily="18" charset="0"/>
              <a:cs typeface="Times New Roman" panose="02020603050405020304" pitchFamily="18" charset="0"/>
            </a:endParaRPr>
          </a:p>
        </p:txBody>
      </p:sp>
      <p:sp>
        <p:nvSpPr>
          <p:cNvPr id="87" name="Google Shape;87;p13"/>
          <p:cNvSpPr txBox="1"/>
          <p:nvPr/>
        </p:nvSpPr>
        <p:spPr>
          <a:xfrm>
            <a:off x="10201275" y="6324600"/>
            <a:ext cx="1038225"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CBD5E1"/>
                </a:solidFill>
                <a:latin typeface="Times New Roman" panose="02020603050405020304" pitchFamily="18" charset="0"/>
                <a:ea typeface="Roboto"/>
                <a:cs typeface="Times New Roman" panose="02020603050405020304" pitchFamily="18" charset="0"/>
                <a:sym typeface="Roboto"/>
              </a:rPr>
              <a:t>PHẦN 01 / 03</a:t>
            </a:r>
            <a:endParaRPr>
              <a:latin typeface="Times New Roman" panose="02020603050405020304" pitchFamily="18" charset="0"/>
              <a:cs typeface="Times New Roman" panose="02020603050405020304" pitchFamily="18" charset="0"/>
            </a:endParaRPr>
          </a:p>
        </p:txBody>
      </p:sp>
      <p:sp>
        <p:nvSpPr>
          <p:cNvPr id="88" name="Google Shape;88;p13"/>
          <p:cNvSpPr txBox="1"/>
          <p:nvPr/>
        </p:nvSpPr>
        <p:spPr>
          <a:xfrm>
            <a:off x="952500" y="1510754"/>
            <a:ext cx="10287000" cy="138499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0" b="0" i="0" u="none" strike="noStrike" cap="none">
                <a:solidFill>
                  <a:srgbClr val="3B82F6"/>
                </a:solidFill>
                <a:latin typeface="Times New Roman" panose="02020603050405020304" pitchFamily="18" charset="0"/>
                <a:ea typeface="Montserrat Light"/>
                <a:cs typeface="Times New Roman" panose="02020603050405020304" pitchFamily="18" charset="0"/>
                <a:sym typeface="Montserrat Light"/>
              </a:rPr>
              <a:t>01</a:t>
            </a:r>
            <a:endParaRPr>
              <a:latin typeface="Times New Roman" panose="02020603050405020304" pitchFamily="18" charset="0"/>
              <a:cs typeface="Times New Roman" panose="02020603050405020304" pitchFamily="18" charset="0"/>
            </a:endParaRPr>
          </a:p>
        </p:txBody>
      </p:sp>
      <p:sp>
        <p:nvSpPr>
          <p:cNvPr id="89" name="Google Shape;89;p13"/>
          <p:cNvSpPr/>
          <p:nvPr/>
        </p:nvSpPr>
        <p:spPr>
          <a:xfrm>
            <a:off x="1047749" y="2739479"/>
            <a:ext cx="1076325" cy="57150"/>
          </a:xfrm>
          <a:prstGeom prst="roundRect">
            <a:avLst>
              <a:gd name="adj" fmla="val 50000"/>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90" name="Google Shape;90;p13"/>
          <p:cNvSpPr txBox="1"/>
          <p:nvPr/>
        </p:nvSpPr>
        <p:spPr>
          <a:xfrm>
            <a:off x="952500" y="3187154"/>
            <a:ext cx="9001125" cy="144039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Sinh viên có đang học cân bằng giữa khối Tech và Business?</a:t>
            </a:r>
            <a:endParaRPr>
              <a:latin typeface="Times New Roman" panose="02020603050405020304" pitchFamily="18" charset="0"/>
              <a:cs typeface="Times New Roman" panose="02020603050405020304" pitchFamily="18" charset="0"/>
            </a:endParaRPr>
          </a:p>
        </p:txBody>
      </p:sp>
      <p:sp>
        <p:nvSpPr>
          <p:cNvPr id="91" name="Google Shape;91;p13"/>
          <p:cNvSpPr txBox="1"/>
          <p:nvPr/>
        </p:nvSpPr>
        <p:spPr>
          <a:xfrm>
            <a:off x="952500" y="4661445"/>
            <a:ext cx="7620000"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64748B"/>
                </a:solidFill>
                <a:latin typeface="Times New Roman" panose="02020603050405020304" pitchFamily="18" charset="0"/>
                <a:ea typeface="Roboto Light"/>
                <a:cs typeface="Times New Roman" panose="02020603050405020304" pitchFamily="18" charset="0"/>
                <a:sym typeface="Roboto Light"/>
              </a:rPr>
              <a:t>Phân tích sự phân bổ điểm số để nhận diện mức độ tích hợp năng lực "Hybrid" trong thực tế.</a:t>
            </a: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 name="Rectangle 7">
            <a:extLst>
              <a:ext uri="{FF2B5EF4-FFF2-40B4-BE49-F238E27FC236}">
                <a16:creationId xmlns:a16="http://schemas.microsoft.com/office/drawing/2014/main" id="{25A61A79-A02D-6C16-BEBA-933B4F9FEC0C}"/>
              </a:ext>
            </a:extLst>
          </p:cNvPr>
          <p:cNvSpPr/>
          <p:nvPr/>
        </p:nvSpPr>
        <p:spPr>
          <a:xfrm>
            <a:off x="6096000" y="4923592"/>
            <a:ext cx="5438775" cy="1192552"/>
          </a:xfrm>
          <a:prstGeom prst="rect">
            <a:avLst/>
          </a:prstGeom>
          <a:solidFill>
            <a:srgbClr val="F0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Google Shape;86;p13">
            <a:extLst>
              <a:ext uri="{FF2B5EF4-FFF2-40B4-BE49-F238E27FC236}">
                <a16:creationId xmlns:a16="http://schemas.microsoft.com/office/drawing/2014/main" id="{C141FE63-898C-15FD-565F-F74BE0248378}"/>
              </a:ext>
            </a:extLst>
          </p:cNvPr>
          <p:cNvPicPr preferRelativeResize="0"/>
          <p:nvPr/>
        </p:nvPicPr>
        <p:blipFill rotWithShape="1">
          <a:blip r:embed="rId3">
            <a:alphaModFix/>
          </a:blip>
          <a:srcRect/>
          <a:stretch/>
        </p:blipFill>
        <p:spPr>
          <a:xfrm>
            <a:off x="546126" y="4901893"/>
            <a:ext cx="5571382" cy="1214251"/>
          </a:xfrm>
          <a:prstGeom prst="rect">
            <a:avLst/>
          </a:prstGeom>
          <a:noFill/>
          <a:ln>
            <a:noFill/>
          </a:ln>
        </p:spPr>
      </p:pic>
      <p:sp>
        <p:nvSpPr>
          <p:cNvPr id="20" name="Rectangle: Rounded Corners 19">
            <a:extLst>
              <a:ext uri="{FF2B5EF4-FFF2-40B4-BE49-F238E27FC236}">
                <a16:creationId xmlns:a16="http://schemas.microsoft.com/office/drawing/2014/main" id="{F00C1594-97C2-F0AB-BAA1-492AFA914D5E}"/>
              </a:ext>
            </a:extLst>
          </p:cNvPr>
          <p:cNvSpPr/>
          <p:nvPr/>
        </p:nvSpPr>
        <p:spPr>
          <a:xfrm>
            <a:off x="438226" y="2155388"/>
            <a:ext cx="10991850" cy="938213"/>
          </a:xfrm>
          <a:prstGeom prst="roundRect">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ED63B4CB-A107-ECF6-A55F-C8290915A9B3}"/>
              </a:ext>
            </a:extLst>
          </p:cNvPr>
          <p:cNvSpPr/>
          <p:nvPr/>
        </p:nvSpPr>
        <p:spPr>
          <a:xfrm>
            <a:off x="542925" y="3681412"/>
            <a:ext cx="10991850" cy="938213"/>
          </a:xfrm>
          <a:prstGeom prst="roundRect">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3" name="Google Shape;93;p13"/>
          <p:cNvSpPr txBox="1"/>
          <p:nvPr/>
        </p:nvSpPr>
        <p:spPr>
          <a:xfrm>
            <a:off x="990676" y="1702028"/>
            <a:ext cx="10439400" cy="21544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MẶT BẰNG ĐIỂM SỐ (GPA)</a:t>
            </a:r>
            <a:endParaRPr sz="2000">
              <a:latin typeface="Times New Roman" panose="02020603050405020304" pitchFamily="18" charset="0"/>
              <a:cs typeface="Times New Roman" panose="02020603050405020304" pitchFamily="18" charset="0"/>
            </a:endParaRPr>
          </a:p>
        </p:txBody>
      </p:sp>
      <p:sp>
        <p:nvSpPr>
          <p:cNvPr id="94" name="Google Shape;94;p13"/>
          <p:cNvSpPr txBox="1"/>
          <p:nvPr/>
        </p:nvSpPr>
        <p:spPr>
          <a:xfrm>
            <a:off x="1047826" y="3349853"/>
            <a:ext cx="10382250" cy="21544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PHÂN LỚP SINH VIÊN (SỐ LƯỢNG)</a:t>
            </a:r>
            <a:endParaRPr sz="2000">
              <a:latin typeface="Times New Roman" panose="02020603050405020304" pitchFamily="18" charset="0"/>
              <a:cs typeface="Times New Roman" panose="02020603050405020304" pitchFamily="18" charset="0"/>
            </a:endParaRPr>
          </a:p>
        </p:txBody>
      </p:sp>
      <p:pic>
        <p:nvPicPr>
          <p:cNvPr id="95" name="Google Shape;95;p13" descr="image.png"/>
          <p:cNvPicPr preferRelativeResize="0"/>
          <p:nvPr/>
        </p:nvPicPr>
        <p:blipFill rotWithShape="1">
          <a:blip r:embed="rId4">
            <a:alphaModFix/>
          </a:blip>
          <a:srcRect/>
          <a:stretch/>
        </p:blipFill>
        <p:spPr>
          <a:xfrm>
            <a:off x="723823" y="1743075"/>
            <a:ext cx="133350" cy="133350"/>
          </a:xfrm>
          <a:prstGeom prst="rect">
            <a:avLst/>
          </a:prstGeom>
          <a:noFill/>
          <a:ln>
            <a:noFill/>
          </a:ln>
        </p:spPr>
      </p:pic>
      <p:sp>
        <p:nvSpPr>
          <p:cNvPr id="96" name="Google Shape;96;p13"/>
          <p:cNvSpPr txBox="1"/>
          <p:nvPr/>
        </p:nvSpPr>
        <p:spPr>
          <a:xfrm>
            <a:off x="1009726" y="2196465"/>
            <a:ext cx="3073300" cy="67710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a:solidFill>
                  <a:srgbClr val="3B82F6"/>
                </a:solidFill>
                <a:latin typeface="Times New Roman" panose="02020603050405020304" pitchFamily="18" charset="0"/>
                <a:ea typeface="Roboto"/>
                <a:cs typeface="Times New Roman" panose="02020603050405020304" pitchFamily="18" charset="0"/>
                <a:sym typeface="Roboto"/>
              </a:rPr>
              <a:t>7.82</a:t>
            </a:r>
            <a:endParaRPr lang="vi-VN" sz="1600" b="1">
              <a:solidFill>
                <a:srgbClr val="3B82F6"/>
              </a:solidFill>
              <a:latin typeface="Times New Roman" panose="02020603050405020304" pitchFamily="18" charset="0"/>
              <a:ea typeface="Roboto"/>
              <a:cs typeface="Times New Roman" panose="02020603050405020304" pitchFamily="18" charset="0"/>
              <a:sym typeface="Roboto"/>
            </a:endParaRPr>
          </a:p>
          <a:p>
            <a:pPr marL="0" marR="0" lvl="0" indent="0" algn="ctr" rtl="0">
              <a:spcBef>
                <a:spcPts val="0"/>
              </a:spcBef>
              <a:spcAft>
                <a:spcPts val="0"/>
              </a:spcAft>
              <a:buNone/>
            </a:pPr>
            <a:r>
              <a:rPr lang="en-US" sz="1600" b="0" i="0" u="none" strike="noStrike" cap="none">
                <a:solidFill>
                  <a:srgbClr val="64748B"/>
                </a:solidFill>
                <a:latin typeface="Times New Roman" panose="02020603050405020304" pitchFamily="18" charset="0"/>
                <a:ea typeface="Roboto Medium"/>
                <a:cs typeface="Times New Roman" panose="02020603050405020304" pitchFamily="18" charset="0"/>
                <a:sym typeface="Roboto Medium"/>
              </a:rPr>
              <a:t>Kỹ thuật (Tech)</a:t>
            </a:r>
            <a:endParaRPr sz="1800">
              <a:latin typeface="Times New Roman" panose="02020603050405020304" pitchFamily="18" charset="0"/>
              <a:cs typeface="Times New Roman" panose="02020603050405020304" pitchFamily="18" charset="0"/>
            </a:endParaRPr>
          </a:p>
        </p:txBody>
      </p:sp>
      <p:sp>
        <p:nvSpPr>
          <p:cNvPr id="97" name="Google Shape;97;p13"/>
          <p:cNvSpPr/>
          <p:nvPr/>
        </p:nvSpPr>
        <p:spPr>
          <a:xfrm>
            <a:off x="4311626" y="1933575"/>
            <a:ext cx="9525" cy="109537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98" name="Google Shape;98;p13"/>
          <p:cNvSpPr txBox="1"/>
          <p:nvPr/>
        </p:nvSpPr>
        <p:spPr>
          <a:xfrm>
            <a:off x="4559276" y="2196465"/>
            <a:ext cx="3073449" cy="67710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a:solidFill>
                  <a:schemeClr val="tx1">
                    <a:lumMod val="50000"/>
                    <a:lumOff val="50000"/>
                  </a:schemeClr>
                </a:solidFill>
                <a:latin typeface="Times New Roman" panose="02020603050405020304" pitchFamily="18" charset="0"/>
                <a:ea typeface="Roboto"/>
                <a:cs typeface="Times New Roman" panose="02020603050405020304" pitchFamily="18" charset="0"/>
                <a:sym typeface="Roboto"/>
              </a:rPr>
              <a:t>7.18</a:t>
            </a:r>
            <a:endParaRPr lang="vi-VN" sz="1600" b="1">
              <a:solidFill>
                <a:srgbClr val="1E3A8A"/>
              </a:solidFill>
              <a:latin typeface="Times New Roman" panose="02020603050405020304" pitchFamily="18" charset="0"/>
              <a:ea typeface="Roboto"/>
              <a:cs typeface="Times New Roman" panose="02020603050405020304" pitchFamily="18" charset="0"/>
              <a:sym typeface="Roboto"/>
            </a:endParaRPr>
          </a:p>
          <a:p>
            <a:pPr marL="0" marR="0" lvl="0" indent="0" algn="ctr" rtl="0">
              <a:spcBef>
                <a:spcPts val="0"/>
              </a:spcBef>
              <a:spcAft>
                <a:spcPts val="0"/>
              </a:spcAft>
              <a:buNone/>
            </a:pPr>
            <a:r>
              <a:rPr lang="en-US" sz="1600" b="0" i="0" u="none" strike="noStrike" cap="none">
                <a:solidFill>
                  <a:srgbClr val="64748B"/>
                </a:solidFill>
                <a:latin typeface="Times New Roman" panose="02020603050405020304" pitchFamily="18" charset="0"/>
                <a:ea typeface="Roboto Medium"/>
                <a:cs typeface="Times New Roman" panose="02020603050405020304" pitchFamily="18" charset="0"/>
                <a:sym typeface="Roboto Medium"/>
              </a:rPr>
              <a:t>Kinh tế (Biz)</a:t>
            </a:r>
            <a:endParaRPr sz="1800">
              <a:latin typeface="Times New Roman" panose="02020603050405020304" pitchFamily="18" charset="0"/>
              <a:cs typeface="Times New Roman" panose="02020603050405020304" pitchFamily="18" charset="0"/>
            </a:endParaRPr>
          </a:p>
        </p:txBody>
      </p:sp>
      <p:sp>
        <p:nvSpPr>
          <p:cNvPr id="99" name="Google Shape;99;p13"/>
          <p:cNvSpPr/>
          <p:nvPr/>
        </p:nvSpPr>
        <p:spPr>
          <a:xfrm>
            <a:off x="7861326" y="1933575"/>
            <a:ext cx="9525" cy="109537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01" name="Google Shape;101;p13" descr="image.png"/>
          <p:cNvPicPr preferRelativeResize="0"/>
          <p:nvPr/>
        </p:nvPicPr>
        <p:blipFill rotWithShape="1">
          <a:blip r:embed="rId5">
            <a:alphaModFix/>
          </a:blip>
          <a:srcRect/>
          <a:stretch/>
        </p:blipFill>
        <p:spPr>
          <a:xfrm>
            <a:off x="723823" y="3390900"/>
            <a:ext cx="190500" cy="133350"/>
          </a:xfrm>
          <a:prstGeom prst="rect">
            <a:avLst/>
          </a:prstGeom>
          <a:noFill/>
          <a:ln>
            <a:noFill/>
          </a:ln>
        </p:spPr>
      </p:pic>
      <p:sp>
        <p:nvSpPr>
          <p:cNvPr id="103" name="Google Shape;103;p13"/>
          <p:cNvSpPr/>
          <p:nvPr/>
        </p:nvSpPr>
        <p:spPr>
          <a:xfrm>
            <a:off x="4311626" y="3695700"/>
            <a:ext cx="9525" cy="109537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5" name="Google Shape;105;p13"/>
          <p:cNvSpPr/>
          <p:nvPr/>
        </p:nvSpPr>
        <p:spPr>
          <a:xfrm>
            <a:off x="7861326" y="3695700"/>
            <a:ext cx="9525" cy="109537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8" name="Google Shape;108;p13"/>
          <p:cNvSpPr txBox="1"/>
          <p:nvPr/>
        </p:nvSpPr>
        <p:spPr>
          <a:xfrm>
            <a:off x="779162" y="4898066"/>
            <a:ext cx="10676691" cy="1477328"/>
          </a:xfrm>
          <a:prstGeom prst="rect">
            <a:avLst/>
          </a:prstGeom>
          <a:noFill/>
          <a:ln>
            <a:noFill/>
          </a:ln>
        </p:spPr>
        <p:txBody>
          <a:bodyPr spcFirstLastPara="1" wrap="square" lIns="0" tIns="0" rIns="0" bIns="0" anchor="t" anchorCtr="0">
            <a:spAutoFit/>
          </a:bodyPr>
          <a:lstStyle/>
          <a:p>
            <a:pPr algn="just">
              <a:lnSpc>
                <a:spcPct val="149960"/>
              </a:lnSpc>
            </a:pPr>
            <a:r>
              <a:rPr lang="en-US" sz="1600" b="1" i="1">
                <a:solidFill>
                  <a:srgbClr val="1E3A8A"/>
                </a:solidFill>
                <a:latin typeface="Times New Roman" panose="02020603050405020304" pitchFamily="18" charset="0"/>
                <a:ea typeface="Roboto Medium"/>
                <a:cs typeface="Times New Roman" panose="02020603050405020304" pitchFamily="18" charset="0"/>
                <a:sym typeface="Roboto"/>
              </a:rPr>
              <a:t>Sự áp đảo về số lượng </a:t>
            </a:r>
            <a:r>
              <a:rPr lang="en-US" sz="1600" i="1">
                <a:solidFill>
                  <a:srgbClr val="1E3A8A"/>
                </a:solidFill>
                <a:latin typeface="Times New Roman" panose="02020603050405020304" pitchFamily="18" charset="0"/>
                <a:ea typeface="Roboto Medium"/>
                <a:cs typeface="Times New Roman" panose="02020603050405020304" pitchFamily="18" charset="0"/>
                <a:sym typeface="Roboto"/>
              </a:rPr>
              <a:t>(gấp 13 lần) </a:t>
            </a:r>
            <a:r>
              <a:rPr lang="vi-VN" sz="1600" i="1">
                <a:solidFill>
                  <a:srgbClr val="1E3A8A"/>
                </a:solidFill>
                <a:latin typeface="Times New Roman" panose="02020603050405020304" pitchFamily="18" charset="0"/>
                <a:ea typeface="Roboto Medium"/>
                <a:cs typeface="Times New Roman" panose="02020603050405020304" pitchFamily="18" charset="0"/>
                <a:sym typeface="Roboto"/>
              </a:rPr>
              <a:t>và</a:t>
            </a:r>
            <a:r>
              <a:rPr lang="en-US" sz="1600" b="1" i="1">
                <a:solidFill>
                  <a:srgbClr val="1E3A8A"/>
                </a:solidFill>
                <a:latin typeface="Times New Roman" panose="02020603050405020304" pitchFamily="18" charset="0"/>
                <a:ea typeface="Roboto Medium"/>
                <a:cs typeface="Times New Roman" panose="02020603050405020304" pitchFamily="18" charset="0"/>
                <a:sym typeface="Roboto"/>
              </a:rPr>
              <a:t> ưu thế điểm số </a:t>
            </a:r>
            <a:r>
              <a:rPr lang="en-US" sz="1600" i="1">
                <a:solidFill>
                  <a:srgbClr val="1E3A8A"/>
                </a:solidFill>
                <a:latin typeface="Times New Roman" panose="02020603050405020304" pitchFamily="18" charset="0"/>
                <a:ea typeface="Roboto Medium"/>
                <a:cs typeface="Times New Roman" panose="02020603050405020304" pitchFamily="18" charset="0"/>
                <a:sym typeface="Roboto"/>
              </a:rPr>
              <a:t>khẳng định sinh viên đang chọn </a:t>
            </a:r>
            <a:r>
              <a:rPr lang="en-US" sz="1600" b="1" i="1">
                <a:solidFill>
                  <a:srgbClr val="1E3A8A"/>
                </a:solidFill>
                <a:latin typeface="Times New Roman" panose="02020603050405020304" pitchFamily="18" charset="0"/>
                <a:ea typeface="Roboto Medium"/>
                <a:cs typeface="Times New Roman" panose="02020603050405020304" pitchFamily="18" charset="0"/>
                <a:sym typeface="Roboto"/>
              </a:rPr>
              <a:t>Tech</a:t>
            </a:r>
            <a:r>
              <a:rPr lang="vi-VN" sz="1600" b="1" i="1">
                <a:solidFill>
                  <a:srgbClr val="1E3A8A"/>
                </a:solidFill>
                <a:latin typeface="Times New Roman" panose="02020603050405020304" pitchFamily="18" charset="0"/>
                <a:ea typeface="Roboto Medium"/>
                <a:cs typeface="Times New Roman" panose="02020603050405020304" pitchFamily="18" charset="0"/>
                <a:sym typeface="Roboto"/>
              </a:rPr>
              <a:t> là thế mạnh </a:t>
            </a:r>
            <a:r>
              <a:rPr lang="vi-VN" sz="1600" i="1">
                <a:solidFill>
                  <a:srgbClr val="1E3A8A"/>
                </a:solidFill>
                <a:latin typeface="Times New Roman" panose="02020603050405020304" pitchFamily="18" charset="0"/>
                <a:ea typeface="Roboto Medium"/>
                <a:cs typeface="Times New Roman" panose="02020603050405020304" pitchFamily="18" charset="0"/>
                <a:sym typeface="Roboto"/>
              </a:rPr>
              <a:t>của mình</a:t>
            </a:r>
            <a:r>
              <a:rPr lang="en-US" sz="1600" i="1">
                <a:solidFill>
                  <a:srgbClr val="1E3A8A"/>
                </a:solidFill>
                <a:latin typeface="Times New Roman" panose="02020603050405020304" pitchFamily="18" charset="0"/>
                <a:ea typeface="Roboto Medium"/>
                <a:cs typeface="Times New Roman" panose="02020603050405020304" pitchFamily="18" charset="0"/>
                <a:sym typeface="Roboto"/>
              </a:rPr>
              <a:t>.</a:t>
            </a:r>
            <a:r>
              <a:rPr lang="vi-VN" sz="1600" i="1">
                <a:solidFill>
                  <a:srgbClr val="1E3A8A"/>
                </a:solidFill>
                <a:latin typeface="Times New Roman" panose="02020603050405020304" pitchFamily="18" charset="0"/>
                <a:ea typeface="Roboto Medium"/>
                <a:cs typeface="Times New Roman" panose="02020603050405020304" pitchFamily="18" charset="0"/>
                <a:sym typeface="Roboto Medium"/>
              </a:rPr>
              <a:t> Sự bất đối xứng này thách thức mục tiêu đào tạo Hybrid: Chúng ta có </a:t>
            </a:r>
            <a:r>
              <a:rPr lang="vi-VN" sz="1600" b="1" i="1">
                <a:solidFill>
                  <a:srgbClr val="1E3A8A"/>
                </a:solidFill>
                <a:latin typeface="Times New Roman" panose="02020603050405020304" pitchFamily="18" charset="0"/>
                <a:ea typeface="Roboto Medium"/>
                <a:cs typeface="Times New Roman" panose="02020603050405020304" pitchFamily="18" charset="0"/>
                <a:sym typeface="Roboto Medium"/>
              </a:rPr>
              <a:t>dư thừa thợ code </a:t>
            </a:r>
            <a:r>
              <a:rPr lang="vi-VN" sz="1600" i="1">
                <a:solidFill>
                  <a:srgbClr val="1E3A8A"/>
                </a:solidFill>
                <a:latin typeface="Times New Roman" panose="02020603050405020304" pitchFamily="18" charset="0"/>
                <a:ea typeface="Roboto Medium"/>
                <a:cs typeface="Times New Roman" panose="02020603050405020304" pitchFamily="18" charset="0"/>
                <a:sym typeface="Roboto Medium"/>
              </a:rPr>
              <a:t>nhưng đang khan hiếm các nhà chiến lược dữ liệu khi năng lực kỹ thuật </a:t>
            </a:r>
            <a:r>
              <a:rPr lang="vi-VN" sz="1600" b="1" i="1">
                <a:solidFill>
                  <a:srgbClr val="1E3A8A"/>
                </a:solidFill>
                <a:latin typeface="Times New Roman" panose="02020603050405020304" pitchFamily="18" charset="0"/>
                <a:ea typeface="Roboto Medium"/>
                <a:cs typeface="Times New Roman" panose="02020603050405020304" pitchFamily="18" charset="0"/>
                <a:sym typeface="Roboto Medium"/>
              </a:rPr>
              <a:t>không đảm bảo được tư duy kinh doanh</a:t>
            </a:r>
            <a:endParaRPr lang="vi-VN" sz="1600" b="1">
              <a:latin typeface="Times New Roman" panose="02020603050405020304" pitchFamily="18" charset="0"/>
              <a:cs typeface="Times New Roman" panose="02020603050405020304" pitchFamily="18" charset="0"/>
            </a:endParaRPr>
          </a:p>
          <a:p>
            <a:pPr marL="0" marR="0" lvl="0" indent="0" algn="l" rtl="0">
              <a:lnSpc>
                <a:spcPct val="149960"/>
              </a:lnSpc>
              <a:spcBef>
                <a:spcPts val="0"/>
              </a:spcBef>
              <a:spcAft>
                <a:spcPts val="0"/>
              </a:spcAft>
              <a:buNone/>
            </a:pPr>
            <a:endParaRPr sz="1600">
              <a:latin typeface="Times New Roman" panose="02020603050405020304" pitchFamily="18" charset="0"/>
              <a:cs typeface="Times New Roman" panose="02020603050405020304" pitchFamily="18" charset="0"/>
            </a:endParaRPr>
          </a:p>
        </p:txBody>
      </p:sp>
      <p:sp>
        <p:nvSpPr>
          <p:cNvPr id="2" name="Google Shape;88;p13">
            <a:extLst>
              <a:ext uri="{FF2B5EF4-FFF2-40B4-BE49-F238E27FC236}">
                <a16:creationId xmlns:a16="http://schemas.microsoft.com/office/drawing/2014/main" id="{8F0EBF76-6CA0-6813-C801-AC22C285DD57}"/>
              </a:ext>
            </a:extLst>
          </p:cNvPr>
          <p:cNvSpPr txBox="1"/>
          <p:nvPr/>
        </p:nvSpPr>
        <p:spPr>
          <a:xfrm>
            <a:off x="723823" y="318746"/>
            <a:ext cx="10877551" cy="1102866"/>
          </a:xfrm>
          <a:prstGeom prst="rect">
            <a:avLst/>
          </a:prstGeom>
          <a:noFill/>
          <a:ln>
            <a:noFill/>
          </a:ln>
        </p:spPr>
        <p:txBody>
          <a:bodyPr spcFirstLastPara="1" wrap="square" lIns="0" tIns="0" rIns="0" bIns="0" anchor="t" anchorCtr="0">
            <a:spAutoFit/>
          </a:bodyPr>
          <a:lstStyle/>
          <a:p>
            <a:pPr marL="0" marR="0" lvl="0" indent="0" algn="l" rtl="0">
              <a:lnSpc>
                <a:spcPts val="4300"/>
              </a:lnSpc>
              <a:spcBef>
                <a:spcPts val="0"/>
              </a:spcBef>
              <a:spcAft>
                <a:spcPts val="0"/>
              </a:spcAft>
              <a:buNone/>
            </a:pPr>
            <a:r>
              <a:rPr lang="vi-VN" sz="2400" b="1">
                <a:solidFill>
                  <a:srgbClr val="0F172A"/>
                </a:solidFill>
                <a:latin typeface="Times New Roman" panose="02020603050405020304" pitchFamily="18" charset="0"/>
                <a:cs typeface="Times New Roman" panose="02020603050405020304" pitchFamily="18" charset="0"/>
                <a:sym typeface="Montserrat"/>
              </a:rPr>
              <a:t>Sự chênh lệch</a:t>
            </a:r>
            <a:r>
              <a:rPr lang="en-US" sz="2400" b="1">
                <a:solidFill>
                  <a:srgbClr val="0F172A"/>
                </a:solidFill>
                <a:latin typeface="Times New Roman" panose="02020603050405020304" pitchFamily="18" charset="0"/>
                <a:cs typeface="Times New Roman" panose="02020603050405020304" pitchFamily="18" charset="0"/>
                <a:sym typeface="Montserrat"/>
              </a:rPr>
              <a:t> </a:t>
            </a:r>
            <a:r>
              <a:rPr lang="vi-VN" sz="2400" b="1">
                <a:solidFill>
                  <a:srgbClr val="0F172A"/>
                </a:solidFill>
                <a:latin typeface="Times New Roman" panose="02020603050405020304" pitchFamily="18" charset="0"/>
                <a:cs typeface="Times New Roman" panose="02020603050405020304" pitchFamily="18" charset="0"/>
                <a:sym typeface="Montserrat"/>
              </a:rPr>
              <a:t>lớn giữa</a:t>
            </a:r>
          </a:p>
          <a:p>
            <a:pPr marL="0" marR="0" lvl="0" indent="0" algn="l" rtl="0">
              <a:lnSpc>
                <a:spcPts val="4300"/>
              </a:lnSpc>
              <a:spcBef>
                <a:spcPts val="0"/>
              </a:spcBef>
              <a:spcAft>
                <a:spcPts val="0"/>
              </a:spcAft>
              <a:buNone/>
            </a:pPr>
            <a:r>
              <a:rPr lang="vi-VN" sz="2400" b="1">
                <a:solidFill>
                  <a:srgbClr val="3B82F6"/>
                </a:solidFill>
                <a:latin typeface="Times New Roman" panose="02020603050405020304" pitchFamily="18" charset="0"/>
                <a:cs typeface="Times New Roman" panose="02020603050405020304" pitchFamily="18" charset="0"/>
                <a:sym typeface="Montserrat"/>
              </a:rPr>
              <a:t>KỸ THUẬT </a:t>
            </a:r>
            <a:r>
              <a:rPr lang="vi-VN" sz="2400" b="1">
                <a:solidFill>
                  <a:srgbClr val="0F172A"/>
                </a:solidFill>
                <a:latin typeface="Times New Roman" panose="02020603050405020304" pitchFamily="18" charset="0"/>
                <a:cs typeface="Times New Roman" panose="02020603050405020304" pitchFamily="18" charset="0"/>
                <a:sym typeface="Montserrat"/>
              </a:rPr>
              <a:t>và </a:t>
            </a:r>
            <a:r>
              <a:rPr lang="vi-VN" sz="2400" b="1">
                <a:solidFill>
                  <a:schemeClr val="bg1">
                    <a:lumMod val="50000"/>
                  </a:schemeClr>
                </a:solidFill>
                <a:latin typeface="Times New Roman" panose="02020603050405020304" pitchFamily="18" charset="0"/>
                <a:cs typeface="Times New Roman" panose="02020603050405020304" pitchFamily="18" charset="0"/>
                <a:sym typeface="Montserrat"/>
              </a:rPr>
              <a:t>KINH TẾ</a:t>
            </a:r>
            <a:endParaRPr sz="2400">
              <a:solidFill>
                <a:schemeClr val="bg1">
                  <a:lumMod val="50000"/>
                </a:schemeClr>
              </a:solidFill>
              <a:latin typeface="Times New Roman" panose="02020603050405020304" pitchFamily="18" charset="0"/>
              <a:cs typeface="Times New Roman" panose="02020603050405020304" pitchFamily="18" charset="0"/>
            </a:endParaRPr>
          </a:p>
        </p:txBody>
      </p:sp>
      <p:sp>
        <p:nvSpPr>
          <p:cNvPr id="3" name="Google Shape;96;p13">
            <a:extLst>
              <a:ext uri="{FF2B5EF4-FFF2-40B4-BE49-F238E27FC236}">
                <a16:creationId xmlns:a16="http://schemas.microsoft.com/office/drawing/2014/main" id="{65083CBC-7B1A-BEAD-AFE5-CAE533AFED28}"/>
              </a:ext>
            </a:extLst>
          </p:cNvPr>
          <p:cNvSpPr txBox="1"/>
          <p:nvPr/>
        </p:nvSpPr>
        <p:spPr>
          <a:xfrm>
            <a:off x="1009726" y="3813929"/>
            <a:ext cx="3073300" cy="67710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2800" b="1" i="0" u="none" strike="noStrike" cap="none">
                <a:solidFill>
                  <a:srgbClr val="3B82F6"/>
                </a:solidFill>
                <a:latin typeface="Times New Roman" panose="02020603050405020304" pitchFamily="18" charset="0"/>
                <a:ea typeface="Roboto"/>
                <a:cs typeface="Times New Roman" panose="02020603050405020304" pitchFamily="18" charset="0"/>
                <a:sym typeface="Roboto"/>
              </a:rPr>
              <a:t>78</a:t>
            </a:r>
            <a:endParaRPr lang="vi-VN" sz="1600" b="1">
              <a:solidFill>
                <a:srgbClr val="3B82F6"/>
              </a:solidFill>
              <a:latin typeface="Times New Roman" panose="02020603050405020304" pitchFamily="18" charset="0"/>
              <a:ea typeface="Roboto"/>
              <a:cs typeface="Times New Roman" panose="02020603050405020304" pitchFamily="18" charset="0"/>
              <a:sym typeface="Roboto"/>
            </a:endParaRPr>
          </a:p>
          <a:p>
            <a:pPr marL="0" marR="0" lvl="0" indent="0" algn="ctr" rtl="0">
              <a:spcBef>
                <a:spcPts val="0"/>
              </a:spcBef>
              <a:spcAft>
                <a:spcPts val="0"/>
              </a:spcAft>
              <a:buNone/>
            </a:pPr>
            <a:r>
              <a:rPr lang="en-US" sz="1600" b="0" i="0" u="none" strike="noStrike" cap="none">
                <a:solidFill>
                  <a:srgbClr val="64748B"/>
                </a:solidFill>
                <a:latin typeface="Times New Roman" panose="02020603050405020304" pitchFamily="18" charset="0"/>
                <a:ea typeface="Roboto Medium"/>
                <a:cs typeface="Times New Roman" panose="02020603050405020304" pitchFamily="18" charset="0"/>
                <a:sym typeface="Roboto Medium"/>
              </a:rPr>
              <a:t>Kỹ thuật (Tech)</a:t>
            </a:r>
            <a:endParaRPr sz="1800">
              <a:latin typeface="Times New Roman" panose="02020603050405020304" pitchFamily="18" charset="0"/>
              <a:cs typeface="Times New Roman" panose="02020603050405020304" pitchFamily="18" charset="0"/>
            </a:endParaRPr>
          </a:p>
        </p:txBody>
      </p:sp>
      <p:sp>
        <p:nvSpPr>
          <p:cNvPr id="4" name="Google Shape;98;p13">
            <a:extLst>
              <a:ext uri="{FF2B5EF4-FFF2-40B4-BE49-F238E27FC236}">
                <a16:creationId xmlns:a16="http://schemas.microsoft.com/office/drawing/2014/main" id="{35C3D63A-5601-C980-BB88-7D8D2B899923}"/>
              </a:ext>
            </a:extLst>
          </p:cNvPr>
          <p:cNvSpPr txBox="1"/>
          <p:nvPr/>
        </p:nvSpPr>
        <p:spPr>
          <a:xfrm>
            <a:off x="4559276" y="3813929"/>
            <a:ext cx="3073449" cy="67710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2800" b="1" i="0" u="none" strike="noStrike" cap="none">
                <a:solidFill>
                  <a:schemeClr val="tx1">
                    <a:lumMod val="50000"/>
                    <a:lumOff val="50000"/>
                  </a:schemeClr>
                </a:solidFill>
                <a:latin typeface="Times New Roman" panose="02020603050405020304" pitchFamily="18" charset="0"/>
                <a:ea typeface="Roboto"/>
                <a:cs typeface="Times New Roman" panose="02020603050405020304" pitchFamily="18" charset="0"/>
                <a:sym typeface="Roboto"/>
              </a:rPr>
              <a:t>06</a:t>
            </a:r>
            <a:endParaRPr lang="vi-VN" sz="1600" b="1">
              <a:solidFill>
                <a:srgbClr val="1E3A8A"/>
              </a:solidFill>
              <a:latin typeface="Times New Roman" panose="02020603050405020304" pitchFamily="18" charset="0"/>
              <a:ea typeface="Roboto"/>
              <a:cs typeface="Times New Roman" panose="02020603050405020304" pitchFamily="18" charset="0"/>
              <a:sym typeface="Roboto"/>
            </a:endParaRPr>
          </a:p>
          <a:p>
            <a:pPr marL="0" marR="0" lvl="0" indent="0" algn="ctr" rtl="0">
              <a:spcBef>
                <a:spcPts val="0"/>
              </a:spcBef>
              <a:spcAft>
                <a:spcPts val="0"/>
              </a:spcAft>
              <a:buNone/>
            </a:pPr>
            <a:r>
              <a:rPr lang="en-US" sz="1600" b="0" i="0" u="none" strike="noStrike" cap="none">
                <a:solidFill>
                  <a:srgbClr val="64748B"/>
                </a:solidFill>
                <a:latin typeface="Times New Roman" panose="02020603050405020304" pitchFamily="18" charset="0"/>
                <a:ea typeface="Roboto Medium"/>
                <a:cs typeface="Times New Roman" panose="02020603050405020304" pitchFamily="18" charset="0"/>
                <a:sym typeface="Roboto Medium"/>
              </a:rPr>
              <a:t>Kinh tế (Biz)</a:t>
            </a:r>
            <a:endParaRPr sz="1800">
              <a:latin typeface="Times New Roman" panose="02020603050405020304" pitchFamily="18" charset="0"/>
              <a:cs typeface="Times New Roman" panose="02020603050405020304" pitchFamily="18" charset="0"/>
            </a:endParaRPr>
          </a:p>
        </p:txBody>
      </p:sp>
      <p:sp>
        <p:nvSpPr>
          <p:cNvPr id="100" name="Google Shape;100;p13"/>
          <p:cNvSpPr txBox="1"/>
          <p:nvPr/>
        </p:nvSpPr>
        <p:spPr>
          <a:xfrm>
            <a:off x="8099452" y="2196465"/>
            <a:ext cx="3073300" cy="67710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a:solidFill>
                  <a:srgbClr val="EF4444"/>
                </a:solidFill>
                <a:latin typeface="Times New Roman" panose="02020603050405020304" pitchFamily="18" charset="0"/>
                <a:ea typeface="Roboto"/>
                <a:cs typeface="Times New Roman" panose="02020603050405020304" pitchFamily="18" charset="0"/>
                <a:sym typeface="Roboto"/>
              </a:rPr>
              <a:t>0.64</a:t>
            </a:r>
            <a:endParaRPr lang="vi-VN" sz="1600" b="1">
              <a:solidFill>
                <a:srgbClr val="EF4444"/>
              </a:solidFill>
              <a:latin typeface="Times New Roman" panose="02020603050405020304" pitchFamily="18" charset="0"/>
              <a:ea typeface="Roboto"/>
              <a:cs typeface="Times New Roman" panose="02020603050405020304" pitchFamily="18" charset="0"/>
              <a:sym typeface="Roboto"/>
            </a:endParaRPr>
          </a:p>
          <a:p>
            <a:pPr marL="0" marR="0" lvl="0" indent="0" algn="ctr" rtl="0">
              <a:spcBef>
                <a:spcPts val="0"/>
              </a:spcBef>
              <a:spcAft>
                <a:spcPts val="0"/>
              </a:spcAft>
              <a:buNone/>
            </a:pPr>
            <a:r>
              <a:rPr lang="en-US" sz="1600" b="0" i="0" u="none" strike="noStrike" cap="none">
                <a:solidFill>
                  <a:srgbClr val="64748B"/>
                </a:solidFill>
                <a:latin typeface="Times New Roman" panose="02020603050405020304" pitchFamily="18" charset="0"/>
                <a:ea typeface="Roboto Medium"/>
                <a:cs typeface="Times New Roman" panose="02020603050405020304" pitchFamily="18" charset="0"/>
                <a:sym typeface="Roboto Medium"/>
              </a:rPr>
              <a:t>Chênh lệch</a:t>
            </a:r>
            <a:endParaRPr sz="1800">
              <a:latin typeface="Times New Roman" panose="02020603050405020304" pitchFamily="18" charset="0"/>
              <a:cs typeface="Times New Roman" panose="02020603050405020304" pitchFamily="18" charset="0"/>
            </a:endParaRPr>
          </a:p>
        </p:txBody>
      </p:sp>
      <p:sp>
        <p:nvSpPr>
          <p:cNvPr id="5" name="Google Shape;100;p13">
            <a:extLst>
              <a:ext uri="{FF2B5EF4-FFF2-40B4-BE49-F238E27FC236}">
                <a16:creationId xmlns:a16="http://schemas.microsoft.com/office/drawing/2014/main" id="{7141D8E6-DEE2-0F24-C617-9D44BD2D2049}"/>
              </a:ext>
            </a:extLst>
          </p:cNvPr>
          <p:cNvSpPr txBox="1"/>
          <p:nvPr/>
        </p:nvSpPr>
        <p:spPr>
          <a:xfrm>
            <a:off x="8099452" y="3822680"/>
            <a:ext cx="3073300" cy="67710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2800" b="1">
                <a:solidFill>
                  <a:srgbClr val="EF4444"/>
                </a:solidFill>
                <a:latin typeface="Times New Roman" panose="02020603050405020304" pitchFamily="18" charset="0"/>
                <a:ea typeface="Roboto"/>
                <a:cs typeface="Times New Roman" panose="02020603050405020304" pitchFamily="18" charset="0"/>
                <a:sym typeface="Roboto"/>
              </a:rPr>
              <a:t>x13</a:t>
            </a:r>
            <a:endParaRPr lang="vi-VN" sz="1600" b="1">
              <a:solidFill>
                <a:srgbClr val="EF4444"/>
              </a:solidFill>
              <a:latin typeface="Times New Roman" panose="02020603050405020304" pitchFamily="18" charset="0"/>
              <a:ea typeface="Roboto"/>
              <a:cs typeface="Times New Roman" panose="02020603050405020304" pitchFamily="18" charset="0"/>
              <a:sym typeface="Roboto"/>
            </a:endParaRPr>
          </a:p>
          <a:p>
            <a:pPr marL="0" marR="0" lvl="0" indent="0" algn="ctr" rtl="0">
              <a:spcBef>
                <a:spcPts val="0"/>
              </a:spcBef>
              <a:spcAft>
                <a:spcPts val="0"/>
              </a:spcAft>
              <a:buNone/>
            </a:pPr>
            <a:r>
              <a:rPr lang="en-US" sz="1600" b="0" i="0" u="none" strike="noStrike" cap="none">
                <a:solidFill>
                  <a:srgbClr val="64748B"/>
                </a:solidFill>
                <a:latin typeface="Times New Roman" panose="02020603050405020304" pitchFamily="18" charset="0"/>
                <a:ea typeface="Roboto Medium"/>
                <a:cs typeface="Times New Roman" panose="02020603050405020304" pitchFamily="18" charset="0"/>
                <a:sym typeface="Roboto Medium"/>
              </a:rPr>
              <a:t>Chênh lệch</a:t>
            </a:r>
            <a:endParaRPr sz="1800">
              <a:latin typeface="Times New Roman" panose="02020603050405020304" pitchFamily="18" charset="0"/>
              <a:cs typeface="Times New Roman" panose="02020603050405020304" pitchFamily="18" charset="0"/>
            </a:endParaRPr>
          </a:p>
        </p:txBody>
      </p:sp>
      <p:pic>
        <p:nvPicPr>
          <p:cNvPr id="10" name="Google Shape;95;p13" descr="image.png">
            <a:extLst>
              <a:ext uri="{FF2B5EF4-FFF2-40B4-BE49-F238E27FC236}">
                <a16:creationId xmlns:a16="http://schemas.microsoft.com/office/drawing/2014/main" id="{8AEF87B1-D7C8-C9A3-BE7A-A8C2578D1977}"/>
              </a:ext>
            </a:extLst>
          </p:cNvPr>
          <p:cNvPicPr preferRelativeResize="0"/>
          <p:nvPr/>
        </p:nvPicPr>
        <p:blipFill rotWithShape="1">
          <a:blip r:embed="rId6">
            <a:alphaModFix/>
          </a:blip>
          <a:srcRect/>
          <a:stretch/>
        </p:blipFill>
        <p:spPr>
          <a:xfrm>
            <a:off x="648686" y="4884472"/>
            <a:ext cx="171450" cy="1123950"/>
          </a:xfrm>
          <a:prstGeom prst="rect">
            <a:avLst/>
          </a:prstGeom>
          <a:noFill/>
          <a:ln>
            <a:noFill/>
          </a:ln>
        </p:spPr>
      </p:pic>
      <p:cxnSp>
        <p:nvCxnSpPr>
          <p:cNvPr id="14" name="Straight Connector 13">
            <a:extLst>
              <a:ext uri="{FF2B5EF4-FFF2-40B4-BE49-F238E27FC236}">
                <a16:creationId xmlns:a16="http://schemas.microsoft.com/office/drawing/2014/main" id="{4B888C8D-B521-B497-3A3C-C5D12AC7C243}"/>
              </a:ext>
            </a:extLst>
          </p:cNvPr>
          <p:cNvCxnSpPr>
            <a:cxnSpLocks/>
          </p:cNvCxnSpPr>
          <p:nvPr/>
        </p:nvCxnSpPr>
        <p:spPr>
          <a:xfrm>
            <a:off x="4311626" y="226695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CDF4043-54F6-82A9-9A31-9D509CF6DEB1}"/>
              </a:ext>
            </a:extLst>
          </p:cNvPr>
          <p:cNvCxnSpPr>
            <a:cxnSpLocks/>
          </p:cNvCxnSpPr>
          <p:nvPr/>
        </p:nvCxnSpPr>
        <p:spPr>
          <a:xfrm>
            <a:off x="4321151" y="3766304"/>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0F29EC6-CA43-845C-B28A-223103236475}"/>
              </a:ext>
            </a:extLst>
          </p:cNvPr>
          <p:cNvCxnSpPr>
            <a:cxnSpLocks/>
          </p:cNvCxnSpPr>
          <p:nvPr/>
        </p:nvCxnSpPr>
        <p:spPr>
          <a:xfrm>
            <a:off x="7870851" y="226695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1C8150A-91A8-7459-A57A-4F84A7164F5A}"/>
              </a:ext>
            </a:extLst>
          </p:cNvPr>
          <p:cNvCxnSpPr>
            <a:cxnSpLocks/>
          </p:cNvCxnSpPr>
          <p:nvPr/>
        </p:nvCxnSpPr>
        <p:spPr>
          <a:xfrm>
            <a:off x="7861326" y="3766304"/>
            <a:ext cx="0" cy="7620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2" name="Google Shape;86;p13">
            <a:extLst>
              <a:ext uri="{FF2B5EF4-FFF2-40B4-BE49-F238E27FC236}">
                <a16:creationId xmlns:a16="http://schemas.microsoft.com/office/drawing/2014/main" id="{19F3F0B9-D2D1-9A03-9FB9-7928434CAD30}"/>
              </a:ext>
            </a:extLst>
          </p:cNvPr>
          <p:cNvPicPr preferRelativeResize="0"/>
          <p:nvPr/>
        </p:nvPicPr>
        <p:blipFill rotWithShape="1">
          <a:blip r:embed="rId3">
            <a:alphaModFix/>
          </a:blip>
          <a:srcRect/>
          <a:stretch/>
        </p:blipFill>
        <p:spPr>
          <a:xfrm>
            <a:off x="7181117" y="4386858"/>
            <a:ext cx="4624751" cy="1528130"/>
          </a:xfrm>
          <a:prstGeom prst="rect">
            <a:avLst/>
          </a:prstGeom>
          <a:noFill/>
          <a:ln>
            <a:noFill/>
          </a:ln>
        </p:spPr>
      </p:pic>
      <p:sp>
        <p:nvSpPr>
          <p:cNvPr id="15" name="Rectangle: Rounded Corners 14">
            <a:extLst>
              <a:ext uri="{FF2B5EF4-FFF2-40B4-BE49-F238E27FC236}">
                <a16:creationId xmlns:a16="http://schemas.microsoft.com/office/drawing/2014/main" id="{F126C4AA-42D3-5AEE-2194-52AB74B2B855}"/>
              </a:ext>
            </a:extLst>
          </p:cNvPr>
          <p:cNvSpPr/>
          <p:nvPr/>
        </p:nvSpPr>
        <p:spPr>
          <a:xfrm>
            <a:off x="7181117" y="1095375"/>
            <a:ext cx="4624751" cy="3177177"/>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DE8C8CCE-5A24-F789-D178-F898F29D081B}"/>
              </a:ext>
            </a:extLst>
          </p:cNvPr>
          <p:cNvSpPr/>
          <p:nvPr/>
        </p:nvSpPr>
        <p:spPr>
          <a:xfrm>
            <a:off x="695324" y="1095375"/>
            <a:ext cx="6096001" cy="5114925"/>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91" name="Google Shape;91;p13"/>
          <p:cNvSpPr txBox="1"/>
          <p:nvPr/>
        </p:nvSpPr>
        <p:spPr>
          <a:xfrm>
            <a:off x="695324" y="509208"/>
            <a:ext cx="6750843" cy="5539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2400" b="1" i="0" u="none" strike="noStrike" cap="none">
                <a:solidFill>
                  <a:schemeClr val="tx1"/>
                </a:solidFill>
                <a:latin typeface="Times New Roman" panose="02020603050405020304" pitchFamily="18" charset="0"/>
                <a:ea typeface="Montserrat"/>
                <a:cs typeface="Times New Roman" panose="02020603050405020304" pitchFamily="18" charset="0"/>
                <a:sym typeface="Montserrat"/>
              </a:rPr>
              <a:t>SỰ </a:t>
            </a:r>
            <a:r>
              <a:rPr lang="vi-VN" sz="2400" b="1" i="0" u="none" strike="noStrike" cap="none">
                <a:solidFill>
                  <a:schemeClr val="tx1"/>
                </a:solidFill>
                <a:latin typeface="Times New Roman" panose="02020603050405020304" pitchFamily="18" charset="0"/>
                <a:ea typeface="Montserrat"/>
                <a:cs typeface="Times New Roman" panose="02020603050405020304" pitchFamily="18" charset="0"/>
                <a:sym typeface="Montserrat"/>
              </a:rPr>
              <a:t>PHÂN</a:t>
            </a:r>
            <a:r>
              <a:rPr lang="en-US" sz="2400" b="1" i="0" u="none" strike="noStrike" cap="none">
                <a:solidFill>
                  <a:schemeClr val="tx1"/>
                </a:solidFill>
                <a:latin typeface="Times New Roman" panose="02020603050405020304" pitchFamily="18" charset="0"/>
                <a:ea typeface="Montserrat"/>
                <a:cs typeface="Times New Roman" panose="02020603050405020304" pitchFamily="18" charset="0"/>
                <a:sym typeface="Montserrat"/>
              </a:rPr>
              <a:t> </a:t>
            </a:r>
            <a:r>
              <a:rPr lang="vi-VN" sz="2400" b="1" i="0" u="none" strike="noStrike" cap="none">
                <a:solidFill>
                  <a:schemeClr val="tx1"/>
                </a:solidFill>
                <a:latin typeface="Times New Roman" panose="02020603050405020304" pitchFamily="18" charset="0"/>
                <a:ea typeface="Montserrat"/>
                <a:cs typeface="Times New Roman" panose="02020603050405020304" pitchFamily="18" charset="0"/>
                <a:sym typeface="Montserrat"/>
              </a:rPr>
              <a:t>HÓA NĂNG LỰC </a:t>
            </a:r>
            <a:r>
              <a:rPr lang="en-US" sz="2400" b="1" i="0" u="none" strike="noStrike" cap="none">
                <a:solidFill>
                  <a:schemeClr val="tx1"/>
                </a:solidFill>
                <a:latin typeface="Times New Roman" panose="02020603050405020304" pitchFamily="18" charset="0"/>
                <a:ea typeface="Montserrat"/>
                <a:cs typeface="Times New Roman" panose="02020603050405020304" pitchFamily="18" charset="0"/>
                <a:sym typeface="Montserrat"/>
              </a:rPr>
              <a:t>TECH – BIZ</a:t>
            </a:r>
            <a:r>
              <a:rPr lang="vi-VN" sz="2400" b="1" i="0" u="none" strike="noStrike" cap="none">
                <a:solidFill>
                  <a:schemeClr val="tx1"/>
                </a:solidFill>
                <a:latin typeface="Times New Roman" panose="02020603050405020304" pitchFamily="18" charset="0"/>
                <a:ea typeface="Montserrat"/>
                <a:cs typeface="Times New Roman" panose="02020603050405020304" pitchFamily="18" charset="0"/>
                <a:sym typeface="Montserrat"/>
              </a:rPr>
              <a:t> </a:t>
            </a:r>
          </a:p>
          <a:p>
            <a:pPr marL="0" marR="0" lvl="0" indent="0" algn="just" rtl="0">
              <a:spcBef>
                <a:spcPts val="0"/>
              </a:spcBef>
              <a:spcAft>
                <a:spcPts val="0"/>
              </a:spcAft>
              <a:buNone/>
            </a:pPr>
            <a:r>
              <a:rPr lang="vi-VN" sz="1200" b="1" i="0" u="none" strike="noStrike" cap="none">
                <a:solidFill>
                  <a:schemeClr val="bg1">
                    <a:lumMod val="65000"/>
                  </a:schemeClr>
                </a:solidFill>
                <a:latin typeface="Times New Roman" panose="02020603050405020304" pitchFamily="18" charset="0"/>
                <a:ea typeface="Montserrat"/>
                <a:cs typeface="Times New Roman" panose="02020603050405020304" pitchFamily="18" charset="0"/>
                <a:sym typeface="Montserrat"/>
              </a:rPr>
              <a:t>Tiêu chuẩn GPA 8.0 - Giỏi</a:t>
            </a:r>
            <a:endParaRPr sz="900">
              <a:solidFill>
                <a:schemeClr val="bg1">
                  <a:lumMod val="65000"/>
                </a:schemeClr>
              </a:solidFill>
              <a:latin typeface="Times New Roman" panose="02020603050405020304" pitchFamily="18" charset="0"/>
              <a:cs typeface="Times New Roman" panose="02020603050405020304" pitchFamily="18" charset="0"/>
            </a:endParaRPr>
          </a:p>
        </p:txBody>
      </p:sp>
      <p:sp>
        <p:nvSpPr>
          <p:cNvPr id="94" name="Google Shape;94;p13"/>
          <p:cNvSpPr txBox="1"/>
          <p:nvPr/>
        </p:nvSpPr>
        <p:spPr>
          <a:xfrm>
            <a:off x="8251923" y="1314343"/>
            <a:ext cx="4389834" cy="20955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vi-VN" sz="1350" b="1" i="0" u="none" strike="noStrike" cap="none">
                <a:solidFill>
                  <a:srgbClr val="0F172A"/>
                </a:solidFill>
                <a:latin typeface="Times New Roman" panose="02020603050405020304" pitchFamily="18" charset="0"/>
                <a:ea typeface="Montserrat SemiBold"/>
                <a:cs typeface="Times New Roman" panose="02020603050405020304" pitchFamily="18" charset="0"/>
                <a:sym typeface="Montserrat SemiBold"/>
              </a:rPr>
              <a:t>PHÂN MẢNH</a:t>
            </a:r>
            <a:r>
              <a:rPr lang="en-US" sz="1350" b="1" i="0" u="none" strike="noStrike" cap="none">
                <a:solidFill>
                  <a:srgbClr val="0F172A"/>
                </a:solidFill>
                <a:latin typeface="Times New Roman" panose="02020603050405020304" pitchFamily="18" charset="0"/>
                <a:ea typeface="Montserrat SemiBold"/>
                <a:cs typeface="Times New Roman" panose="02020603050405020304" pitchFamily="18" charset="0"/>
                <a:sym typeface="Montserrat SemiBold"/>
              </a:rPr>
              <a:t> 4 GÓC PHẦN TƯ</a:t>
            </a:r>
            <a:endParaRPr b="1">
              <a:latin typeface="Times New Roman" panose="02020603050405020304" pitchFamily="18" charset="0"/>
              <a:cs typeface="Times New Roman" panose="02020603050405020304" pitchFamily="18" charset="0"/>
            </a:endParaRPr>
          </a:p>
        </p:txBody>
      </p:sp>
      <p:pic>
        <p:nvPicPr>
          <p:cNvPr id="95" name="Google Shape;95;p13" descr="image.png"/>
          <p:cNvPicPr preferRelativeResize="0"/>
          <p:nvPr/>
        </p:nvPicPr>
        <p:blipFill rotWithShape="1">
          <a:blip r:embed="rId4">
            <a:alphaModFix/>
          </a:blip>
          <a:srcRect/>
          <a:stretch/>
        </p:blipFill>
        <p:spPr>
          <a:xfrm>
            <a:off x="7294180" y="4433827"/>
            <a:ext cx="171450" cy="1123950"/>
          </a:xfrm>
          <a:prstGeom prst="rect">
            <a:avLst/>
          </a:prstGeom>
          <a:noFill/>
          <a:ln>
            <a:noFill/>
          </a:ln>
        </p:spPr>
      </p:pic>
      <p:sp>
        <p:nvSpPr>
          <p:cNvPr id="96" name="Google Shape;96;p13"/>
          <p:cNvSpPr txBox="1"/>
          <p:nvPr/>
        </p:nvSpPr>
        <p:spPr>
          <a:xfrm>
            <a:off x="7379904" y="4516346"/>
            <a:ext cx="4425963" cy="1292662"/>
          </a:xfrm>
          <a:prstGeom prst="rect">
            <a:avLst/>
          </a:prstGeom>
          <a:noFill/>
          <a:ln>
            <a:noFill/>
          </a:ln>
        </p:spPr>
        <p:txBody>
          <a:bodyPr spcFirstLastPara="1" wrap="square" lIns="0" tIns="0" rIns="0" bIns="0" anchor="t" anchorCtr="0">
            <a:spAutoFit/>
          </a:bodyPr>
          <a:lstStyle/>
          <a:p>
            <a:pPr lvl="0" algn="just">
              <a:lnSpc>
                <a:spcPct val="150000"/>
              </a:lnSpc>
            </a:pPr>
            <a:r>
              <a:rPr lang="vi-VN" b="1" i="1">
                <a:solidFill>
                  <a:srgbClr val="1E3A8A"/>
                </a:solidFill>
                <a:latin typeface="Times New Roman" panose="02020603050405020304" pitchFamily="18" charset="0"/>
                <a:ea typeface="Roboto Medium"/>
                <a:cs typeface="Times New Roman" panose="02020603050405020304" pitchFamily="18" charset="0"/>
                <a:sym typeface="Roboto"/>
              </a:rPr>
              <a:t>Không tồn tại </a:t>
            </a:r>
            <a:r>
              <a:rPr lang="vi-VN" i="1">
                <a:solidFill>
                  <a:srgbClr val="1E3A8A"/>
                </a:solidFill>
                <a:latin typeface="Times New Roman" panose="02020603050405020304" pitchFamily="18" charset="0"/>
                <a:ea typeface="Roboto Medium"/>
                <a:cs typeface="Times New Roman" panose="02020603050405020304" pitchFamily="18" charset="0"/>
                <a:sym typeface="Roboto"/>
              </a:rPr>
              <a:t>trường hợp nào đạt ngưỡng </a:t>
            </a:r>
            <a:r>
              <a:rPr lang="vi-VN" b="1" i="1">
                <a:solidFill>
                  <a:srgbClr val="1E3A8A"/>
                </a:solidFill>
                <a:latin typeface="Times New Roman" panose="02020603050405020304" pitchFamily="18" charset="0"/>
                <a:ea typeface="Roboto Medium"/>
                <a:cs typeface="Times New Roman" panose="02020603050405020304" pitchFamily="18" charset="0"/>
                <a:sym typeface="Roboto"/>
              </a:rPr>
              <a:t>Giỏi </a:t>
            </a:r>
            <a:r>
              <a:rPr lang="en-US" b="1" i="1">
                <a:solidFill>
                  <a:srgbClr val="1E3A8A"/>
                </a:solidFill>
                <a:latin typeface="Times New Roman" panose="02020603050405020304" pitchFamily="18" charset="0"/>
                <a:ea typeface="Roboto Medium"/>
                <a:cs typeface="Times New Roman" panose="02020603050405020304" pitchFamily="18" charset="0"/>
                <a:sym typeface="Roboto"/>
              </a:rPr>
              <a:t>bi</a:t>
            </a:r>
            <a:r>
              <a:rPr lang="en-US" b="1">
                <a:solidFill>
                  <a:srgbClr val="1E3A8A"/>
                </a:solidFill>
                <a:latin typeface="Times New Roman" panose="02020603050405020304" pitchFamily="18" charset="0"/>
                <a:ea typeface="Roboto Medium"/>
                <a:cs typeface="Times New Roman" panose="02020603050405020304" pitchFamily="18" charset="0"/>
                <a:sym typeface="Roboto"/>
              </a:rPr>
              <a:t>z</a:t>
            </a:r>
            <a:r>
              <a:rPr lang="vi-VN" b="1" i="1">
                <a:solidFill>
                  <a:srgbClr val="1E3A8A"/>
                </a:solidFill>
                <a:latin typeface="Times New Roman" panose="02020603050405020304" pitchFamily="18" charset="0"/>
                <a:ea typeface="Roboto Medium"/>
                <a:cs typeface="Times New Roman" panose="02020603050405020304" pitchFamily="18" charset="0"/>
                <a:sym typeface="Roboto"/>
              </a:rPr>
              <a:t> </a:t>
            </a:r>
            <a:r>
              <a:rPr lang="vi-VN" i="1">
                <a:solidFill>
                  <a:srgbClr val="1E3A8A"/>
                </a:solidFill>
                <a:latin typeface="Times New Roman" panose="02020603050405020304" pitchFamily="18" charset="0"/>
                <a:ea typeface="Roboto Medium"/>
                <a:cs typeface="Times New Roman" panose="02020603050405020304" pitchFamily="18" charset="0"/>
                <a:sym typeface="Roboto"/>
              </a:rPr>
              <a:t>mà </a:t>
            </a:r>
            <a:r>
              <a:rPr lang="vi-VN" b="1" i="1">
                <a:solidFill>
                  <a:srgbClr val="1E3A8A"/>
                </a:solidFill>
                <a:latin typeface="Times New Roman" panose="02020603050405020304" pitchFamily="18" charset="0"/>
                <a:ea typeface="Roboto Medium"/>
                <a:cs typeface="Times New Roman" panose="02020603050405020304" pitchFamily="18" charset="0"/>
                <a:sym typeface="Roboto"/>
              </a:rPr>
              <a:t>yếu </a:t>
            </a:r>
            <a:r>
              <a:rPr lang="en-US" b="1" i="1">
                <a:solidFill>
                  <a:srgbClr val="1E3A8A"/>
                </a:solidFill>
                <a:latin typeface="Times New Roman" panose="02020603050405020304" pitchFamily="18" charset="0"/>
                <a:ea typeface="Roboto Medium"/>
                <a:cs typeface="Times New Roman" panose="02020603050405020304" pitchFamily="18" charset="0"/>
                <a:sym typeface="Roboto"/>
              </a:rPr>
              <a:t>Tech</a:t>
            </a:r>
            <a:r>
              <a:rPr lang="vi-VN" i="1">
                <a:solidFill>
                  <a:srgbClr val="1E3A8A"/>
                </a:solidFill>
                <a:latin typeface="Times New Roman" panose="02020603050405020304" pitchFamily="18" charset="0"/>
                <a:ea typeface="Roboto Medium"/>
                <a:cs typeface="Times New Roman" panose="02020603050405020304" pitchFamily="18" charset="0"/>
                <a:sym typeface="Roboto"/>
              </a:rPr>
              <a:t>, song chiều </a:t>
            </a:r>
            <a:r>
              <a:rPr lang="vi-VN" b="1" i="1">
                <a:solidFill>
                  <a:srgbClr val="1E3A8A"/>
                </a:solidFill>
                <a:latin typeface="Times New Roman" panose="02020603050405020304" pitchFamily="18" charset="0"/>
                <a:ea typeface="Roboto Medium"/>
                <a:cs typeface="Times New Roman" panose="02020603050405020304" pitchFamily="18" charset="0"/>
                <a:sym typeface="Roboto"/>
              </a:rPr>
              <a:t>ngược lại thì có. </a:t>
            </a:r>
            <a:r>
              <a:rPr lang="vi-VN" i="1">
                <a:solidFill>
                  <a:srgbClr val="1E3A8A"/>
                </a:solidFill>
                <a:latin typeface="Times New Roman" panose="02020603050405020304" pitchFamily="18" charset="0"/>
                <a:ea typeface="Roboto Medium"/>
                <a:cs typeface="Times New Roman" panose="02020603050405020304" pitchFamily="18" charset="0"/>
                <a:sym typeface="Roboto"/>
              </a:rPr>
              <a:t>Đồng thời, </a:t>
            </a:r>
            <a:r>
              <a:rPr lang="vi-VN" b="1" i="1">
                <a:solidFill>
                  <a:srgbClr val="1E3A8A"/>
                </a:solidFill>
                <a:latin typeface="Times New Roman" panose="02020603050405020304" pitchFamily="18" charset="0"/>
                <a:ea typeface="Roboto Medium"/>
                <a:cs typeface="Times New Roman" panose="02020603050405020304" pitchFamily="18" charset="0"/>
                <a:sym typeface="Roboto"/>
              </a:rPr>
              <a:t>100% </a:t>
            </a:r>
            <a:r>
              <a:rPr lang="vi-VN" i="1">
                <a:solidFill>
                  <a:srgbClr val="1E3A8A"/>
                </a:solidFill>
                <a:latin typeface="Times New Roman" panose="02020603050405020304" pitchFamily="18" charset="0"/>
                <a:ea typeface="Roboto Medium"/>
                <a:cs typeface="Times New Roman" panose="02020603050405020304" pitchFamily="18" charset="0"/>
                <a:sym typeface="Roboto"/>
              </a:rPr>
              <a:t>sinh viên </a:t>
            </a:r>
            <a:r>
              <a:rPr lang="vi-VN" b="1" i="1">
                <a:solidFill>
                  <a:srgbClr val="1E3A8A"/>
                </a:solidFill>
                <a:latin typeface="Times New Roman" panose="02020603050405020304" pitchFamily="18" charset="0"/>
                <a:ea typeface="Roboto Medium"/>
                <a:cs typeface="Times New Roman" panose="02020603050405020304" pitchFamily="18" charset="0"/>
                <a:sym typeface="Roboto"/>
              </a:rPr>
              <a:t>giỏi Bi</a:t>
            </a:r>
            <a:r>
              <a:rPr lang="vi-VN" b="1">
                <a:solidFill>
                  <a:srgbClr val="1E3A8A"/>
                </a:solidFill>
                <a:latin typeface="Times New Roman" panose="02020603050405020304" pitchFamily="18" charset="0"/>
                <a:ea typeface="Roboto Medium"/>
                <a:cs typeface="Times New Roman" panose="02020603050405020304" pitchFamily="18" charset="0"/>
                <a:sym typeface="Roboto"/>
              </a:rPr>
              <a:t>z</a:t>
            </a:r>
            <a:r>
              <a:rPr lang="vi-VN" b="1" i="1">
                <a:solidFill>
                  <a:srgbClr val="1E3A8A"/>
                </a:solidFill>
                <a:latin typeface="Times New Roman" panose="02020603050405020304" pitchFamily="18" charset="0"/>
                <a:ea typeface="Roboto Medium"/>
                <a:cs typeface="Times New Roman" panose="02020603050405020304" pitchFamily="18" charset="0"/>
                <a:sym typeface="Roboto"/>
              </a:rPr>
              <a:t> sẽ giỏi Tech  </a:t>
            </a:r>
            <a:r>
              <a:rPr lang="vi-VN" i="1">
                <a:solidFill>
                  <a:srgbClr val="1E3A8A"/>
                </a:solidFill>
                <a:latin typeface="Times New Roman" panose="02020603050405020304" pitchFamily="18" charset="0"/>
                <a:ea typeface="Roboto Medium"/>
                <a:cs typeface="Times New Roman" panose="02020603050405020304" pitchFamily="18" charset="0"/>
                <a:sym typeface="Roboto"/>
              </a:rPr>
              <a:t>phản ánh vai trò nền tảng của năng lực Kinh tế. </a:t>
            </a:r>
            <a:r>
              <a:rPr lang="vi-VN" b="1" i="1">
                <a:solidFill>
                  <a:srgbClr val="1E3A8A"/>
                </a:solidFill>
                <a:latin typeface="Times New Roman" panose="02020603050405020304" pitchFamily="18" charset="0"/>
                <a:ea typeface="Roboto Medium"/>
                <a:cs typeface="Times New Roman" panose="02020603050405020304" pitchFamily="18" charset="0"/>
                <a:sym typeface="Roboto"/>
              </a:rPr>
              <a:t>Bi</a:t>
            </a:r>
            <a:r>
              <a:rPr lang="vi-VN" b="1">
                <a:solidFill>
                  <a:srgbClr val="1E3A8A"/>
                </a:solidFill>
                <a:latin typeface="Times New Roman" panose="02020603050405020304" pitchFamily="18" charset="0"/>
                <a:ea typeface="Roboto Medium"/>
                <a:cs typeface="Times New Roman" panose="02020603050405020304" pitchFamily="18" charset="0"/>
                <a:sym typeface="Roboto"/>
              </a:rPr>
              <a:t>z</a:t>
            </a:r>
            <a:r>
              <a:rPr lang="vi-VN" i="1">
                <a:solidFill>
                  <a:srgbClr val="1E3A8A"/>
                </a:solidFill>
                <a:latin typeface="Times New Roman" panose="02020603050405020304" pitchFamily="18" charset="0"/>
                <a:ea typeface="Roboto Medium"/>
                <a:cs typeface="Times New Roman" panose="02020603050405020304" pitchFamily="18" charset="0"/>
                <a:sym typeface="Roboto"/>
              </a:rPr>
              <a:t> trở thành“</a:t>
            </a:r>
            <a:r>
              <a:rPr lang="vi-VN" b="1" i="1">
                <a:solidFill>
                  <a:srgbClr val="1E3A8A"/>
                </a:solidFill>
                <a:latin typeface="Times New Roman" panose="02020603050405020304" pitchFamily="18" charset="0"/>
                <a:ea typeface="Roboto Medium"/>
                <a:cs typeface="Times New Roman" panose="02020603050405020304" pitchFamily="18" charset="0"/>
                <a:sym typeface="Roboto"/>
              </a:rPr>
              <a:t>bộ lọc tinh hoa</a:t>
            </a:r>
            <a:r>
              <a:rPr lang="vi-VN" i="1">
                <a:solidFill>
                  <a:srgbClr val="1E3A8A"/>
                </a:solidFill>
                <a:latin typeface="Times New Roman" panose="02020603050405020304" pitchFamily="18" charset="0"/>
                <a:ea typeface="Roboto Medium"/>
                <a:cs typeface="Times New Roman" panose="02020603050405020304" pitchFamily="18" charset="0"/>
                <a:sym typeface="Roboto"/>
              </a:rPr>
              <a:t>”</a:t>
            </a:r>
            <a:endParaRPr b="1" i="1">
              <a:latin typeface="Times New Roman" panose="02020603050405020304" pitchFamily="18" charset="0"/>
              <a:cs typeface="Times New Roman" panose="02020603050405020304" pitchFamily="18" charset="0"/>
            </a:endParaRPr>
          </a:p>
        </p:txBody>
      </p:sp>
      <p:sp>
        <p:nvSpPr>
          <p:cNvPr id="97" name="Google Shape;97;p13"/>
          <p:cNvSpPr txBox="1"/>
          <p:nvPr/>
        </p:nvSpPr>
        <p:spPr>
          <a:xfrm>
            <a:off x="7402115" y="1959180"/>
            <a:ext cx="1699617" cy="161583"/>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050" b="0" i="0" u="none" strike="noStrike" cap="none">
                <a:solidFill>
                  <a:srgbClr val="166534"/>
                </a:solidFill>
                <a:latin typeface="Times New Roman" panose="02020603050405020304" pitchFamily="18" charset="0"/>
                <a:ea typeface="Roboto SemiBold"/>
                <a:cs typeface="Times New Roman" panose="02020603050405020304" pitchFamily="18" charset="0"/>
                <a:sym typeface="Roboto SemiBold"/>
              </a:rPr>
              <a:t>CÂN BẰNG (HYBRID)</a:t>
            </a:r>
            <a:endParaRPr>
              <a:latin typeface="Times New Roman" panose="02020603050405020304" pitchFamily="18" charset="0"/>
              <a:cs typeface="Times New Roman" panose="02020603050405020304" pitchFamily="18" charset="0"/>
            </a:endParaRPr>
          </a:p>
        </p:txBody>
      </p:sp>
      <p:sp>
        <p:nvSpPr>
          <p:cNvPr id="98" name="Google Shape;98;p13"/>
          <p:cNvSpPr txBox="1"/>
          <p:nvPr/>
        </p:nvSpPr>
        <p:spPr>
          <a:xfrm>
            <a:off x="7402115" y="2187780"/>
            <a:ext cx="1699617" cy="420115"/>
          </a:xfrm>
          <a:prstGeom prst="rect">
            <a:avLst/>
          </a:prstGeom>
          <a:noFill/>
          <a:ln>
            <a:noFill/>
          </a:ln>
        </p:spPr>
        <p:txBody>
          <a:bodyPr spcFirstLastPara="1" wrap="square" lIns="0" tIns="0" rIns="0" bIns="0" anchor="t" anchorCtr="0">
            <a:spAutoFit/>
          </a:bodyPr>
          <a:lstStyle/>
          <a:p>
            <a:pPr marL="0" marR="0" lvl="0" indent="0" algn="just" rtl="0">
              <a:lnSpc>
                <a:spcPct val="139897"/>
              </a:lnSpc>
              <a:spcBef>
                <a:spcPts val="0"/>
              </a:spcBef>
              <a:spcAft>
                <a:spcPts val="0"/>
              </a:spcAft>
              <a:buNone/>
            </a:pPr>
            <a:r>
              <a:rPr lang="en-US" sz="975" b="0" i="0" u="none" strike="noStrike" cap="none">
                <a:solidFill>
                  <a:srgbClr val="64748B"/>
                </a:solidFill>
                <a:latin typeface="Times New Roman" panose="02020603050405020304" pitchFamily="18" charset="0"/>
                <a:ea typeface="Roboto"/>
                <a:cs typeface="Times New Roman" panose="02020603050405020304" pitchFamily="18" charset="0"/>
                <a:sym typeface="Roboto"/>
              </a:rPr>
              <a:t>Đạt điểm Khá/Giỏi ở cả 2 khối kiến thức.</a:t>
            </a:r>
            <a:endParaRPr>
              <a:latin typeface="Times New Roman" panose="02020603050405020304" pitchFamily="18" charset="0"/>
              <a:cs typeface="Times New Roman" panose="02020603050405020304" pitchFamily="18" charset="0"/>
            </a:endParaRPr>
          </a:p>
        </p:txBody>
      </p:sp>
      <p:sp>
        <p:nvSpPr>
          <p:cNvPr id="99" name="Google Shape;99;p13"/>
          <p:cNvSpPr txBox="1"/>
          <p:nvPr/>
        </p:nvSpPr>
        <p:spPr>
          <a:xfrm>
            <a:off x="7402115" y="2629501"/>
            <a:ext cx="1699617" cy="32385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2100" b="1">
                <a:solidFill>
                  <a:srgbClr val="22C55E"/>
                </a:solidFill>
                <a:latin typeface="Times New Roman" panose="02020603050405020304" pitchFamily="18" charset="0"/>
                <a:ea typeface="Montserrat"/>
                <a:cs typeface="Times New Roman" panose="02020603050405020304" pitchFamily="18" charset="0"/>
                <a:sym typeface="Montserrat"/>
              </a:rPr>
              <a:t>17,86</a:t>
            </a:r>
            <a:r>
              <a:rPr lang="en-US" sz="2100" b="1" i="0" u="none" strike="noStrike" cap="none">
                <a:solidFill>
                  <a:srgbClr val="22C55E"/>
                </a:solidFill>
                <a:latin typeface="Times New Roman" panose="02020603050405020304" pitchFamily="18" charset="0"/>
                <a:ea typeface="Montserrat"/>
                <a:cs typeface="Times New Roman" panose="02020603050405020304" pitchFamily="18" charset="0"/>
                <a:sym typeface="Montserrat"/>
              </a:rPr>
              <a:t>%</a:t>
            </a:r>
            <a:endParaRPr>
              <a:latin typeface="Times New Roman" panose="02020603050405020304" pitchFamily="18" charset="0"/>
              <a:cs typeface="Times New Roman" panose="02020603050405020304" pitchFamily="18" charset="0"/>
            </a:endParaRPr>
          </a:p>
        </p:txBody>
      </p:sp>
      <p:sp>
        <p:nvSpPr>
          <p:cNvPr id="100" name="Google Shape;100;p13"/>
          <p:cNvSpPr txBox="1"/>
          <p:nvPr/>
        </p:nvSpPr>
        <p:spPr>
          <a:xfrm>
            <a:off x="9920882" y="3166328"/>
            <a:ext cx="1699617" cy="161583"/>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050" b="0" i="0" u="none" strike="noStrike" cap="none">
                <a:solidFill>
                  <a:srgbClr val="1E3A8A"/>
                </a:solidFill>
                <a:latin typeface="Times New Roman" panose="02020603050405020304" pitchFamily="18" charset="0"/>
                <a:ea typeface="Roboto SemiBold"/>
                <a:cs typeface="Times New Roman" panose="02020603050405020304" pitchFamily="18" charset="0"/>
                <a:sym typeface="Roboto SemiBold"/>
              </a:rPr>
              <a:t>LỆCH PHA TECH</a:t>
            </a:r>
            <a:endParaRPr>
              <a:latin typeface="Times New Roman" panose="02020603050405020304" pitchFamily="18" charset="0"/>
              <a:cs typeface="Times New Roman" panose="02020603050405020304" pitchFamily="18" charset="0"/>
            </a:endParaRPr>
          </a:p>
        </p:txBody>
      </p:sp>
      <p:sp>
        <p:nvSpPr>
          <p:cNvPr id="101" name="Google Shape;101;p13"/>
          <p:cNvSpPr txBox="1"/>
          <p:nvPr/>
        </p:nvSpPr>
        <p:spPr>
          <a:xfrm>
            <a:off x="9920882" y="3394928"/>
            <a:ext cx="1699617" cy="420115"/>
          </a:xfrm>
          <a:prstGeom prst="rect">
            <a:avLst/>
          </a:prstGeom>
          <a:noFill/>
          <a:ln>
            <a:noFill/>
          </a:ln>
        </p:spPr>
        <p:txBody>
          <a:bodyPr spcFirstLastPara="1" wrap="square" lIns="0" tIns="0" rIns="0" bIns="0" anchor="t" anchorCtr="0">
            <a:spAutoFit/>
          </a:bodyPr>
          <a:lstStyle/>
          <a:p>
            <a:pPr marL="0" marR="0" lvl="0" indent="0" algn="just" rtl="0">
              <a:lnSpc>
                <a:spcPct val="139897"/>
              </a:lnSpc>
              <a:spcBef>
                <a:spcPts val="0"/>
              </a:spcBef>
              <a:spcAft>
                <a:spcPts val="0"/>
              </a:spcAft>
              <a:buNone/>
            </a:pPr>
            <a:r>
              <a:rPr lang="en-US" sz="975" b="0" i="0" u="none" strike="noStrike" cap="none">
                <a:solidFill>
                  <a:srgbClr val="64748B"/>
                </a:solidFill>
                <a:latin typeface="Times New Roman" panose="02020603050405020304" pitchFamily="18" charset="0"/>
                <a:ea typeface="Roboto"/>
                <a:cs typeface="Times New Roman" panose="02020603050405020304" pitchFamily="18" charset="0"/>
                <a:sym typeface="Roboto"/>
              </a:rPr>
              <a:t>Giỏi kỹ thuật nhưng tư duy kinh doanh dưới mức trung bình.</a:t>
            </a:r>
            <a:endParaRPr>
              <a:latin typeface="Times New Roman" panose="02020603050405020304" pitchFamily="18" charset="0"/>
              <a:cs typeface="Times New Roman" panose="02020603050405020304" pitchFamily="18" charset="0"/>
            </a:endParaRPr>
          </a:p>
        </p:txBody>
      </p:sp>
      <p:sp>
        <p:nvSpPr>
          <p:cNvPr id="102" name="Google Shape;102;p13"/>
          <p:cNvSpPr txBox="1"/>
          <p:nvPr/>
        </p:nvSpPr>
        <p:spPr>
          <a:xfrm>
            <a:off x="9920882" y="3836649"/>
            <a:ext cx="1699617" cy="32385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2100" b="1">
                <a:solidFill>
                  <a:srgbClr val="3B82F6"/>
                </a:solidFill>
                <a:latin typeface="Times New Roman" panose="02020603050405020304" pitchFamily="18" charset="0"/>
                <a:ea typeface="Montserrat"/>
                <a:cs typeface="Times New Roman" panose="02020603050405020304" pitchFamily="18" charset="0"/>
                <a:sym typeface="Montserrat"/>
              </a:rPr>
              <a:t>27,38</a:t>
            </a:r>
            <a:r>
              <a:rPr lang="en-US" sz="2100" b="1" i="0" u="none" strike="noStrike" cap="none">
                <a:solidFill>
                  <a:srgbClr val="3B82F6"/>
                </a:solidFill>
                <a:latin typeface="Times New Roman" panose="02020603050405020304" pitchFamily="18" charset="0"/>
                <a:ea typeface="Montserrat"/>
                <a:cs typeface="Times New Roman" panose="02020603050405020304" pitchFamily="18" charset="0"/>
                <a:sym typeface="Montserrat"/>
              </a:rPr>
              <a:t>%</a:t>
            </a:r>
            <a:endParaRPr>
              <a:latin typeface="Times New Roman" panose="02020603050405020304" pitchFamily="18" charset="0"/>
              <a:cs typeface="Times New Roman" panose="02020603050405020304" pitchFamily="18" charset="0"/>
            </a:endParaRPr>
          </a:p>
        </p:txBody>
      </p:sp>
      <p:sp>
        <p:nvSpPr>
          <p:cNvPr id="103" name="Google Shape;103;p13"/>
          <p:cNvSpPr txBox="1"/>
          <p:nvPr/>
        </p:nvSpPr>
        <p:spPr>
          <a:xfrm>
            <a:off x="7402115" y="3188347"/>
            <a:ext cx="1699617" cy="161583"/>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050" b="0" i="0" u="none" strike="noStrike" cap="none">
                <a:solidFill>
                  <a:schemeClr val="tx1">
                    <a:lumMod val="85000"/>
                    <a:lumOff val="15000"/>
                  </a:schemeClr>
                </a:solidFill>
                <a:latin typeface="Times New Roman" panose="02020603050405020304" pitchFamily="18" charset="0"/>
                <a:ea typeface="Roboto SemiBold"/>
                <a:cs typeface="Times New Roman" panose="02020603050405020304" pitchFamily="18" charset="0"/>
                <a:sym typeface="Roboto SemiBold"/>
              </a:rPr>
              <a:t>LỆCH PHA BIZ</a:t>
            </a:r>
            <a:endParaRPr>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104" name="Google Shape;104;p13"/>
          <p:cNvSpPr txBox="1"/>
          <p:nvPr/>
        </p:nvSpPr>
        <p:spPr>
          <a:xfrm>
            <a:off x="7402115" y="3416947"/>
            <a:ext cx="1699617" cy="420115"/>
          </a:xfrm>
          <a:prstGeom prst="rect">
            <a:avLst/>
          </a:prstGeom>
          <a:noFill/>
          <a:ln>
            <a:noFill/>
          </a:ln>
        </p:spPr>
        <p:txBody>
          <a:bodyPr spcFirstLastPara="1" wrap="square" lIns="0" tIns="0" rIns="0" bIns="0" anchor="t" anchorCtr="0">
            <a:spAutoFit/>
          </a:bodyPr>
          <a:lstStyle/>
          <a:p>
            <a:pPr marL="0" marR="0" lvl="0" indent="0" algn="just" rtl="0">
              <a:lnSpc>
                <a:spcPct val="139897"/>
              </a:lnSpc>
              <a:spcBef>
                <a:spcPts val="0"/>
              </a:spcBef>
              <a:spcAft>
                <a:spcPts val="0"/>
              </a:spcAft>
              <a:buNone/>
            </a:pPr>
            <a:r>
              <a:rPr lang="en-US" sz="975" b="0" i="0" u="none" strike="noStrike" cap="none">
                <a:solidFill>
                  <a:srgbClr val="64748B"/>
                </a:solidFill>
                <a:latin typeface="Times New Roman" panose="02020603050405020304" pitchFamily="18" charset="0"/>
                <a:ea typeface="Roboto"/>
                <a:cs typeface="Times New Roman" panose="02020603050405020304" pitchFamily="18" charset="0"/>
                <a:sym typeface="Roboto"/>
              </a:rPr>
              <a:t>Nhạy bén kinh doanh nhưng đuối sức với thuật toán/code.</a:t>
            </a:r>
            <a:endParaRPr>
              <a:latin typeface="Times New Roman" panose="02020603050405020304" pitchFamily="18" charset="0"/>
              <a:cs typeface="Times New Roman" panose="02020603050405020304" pitchFamily="18" charset="0"/>
            </a:endParaRPr>
          </a:p>
        </p:txBody>
      </p:sp>
      <p:sp>
        <p:nvSpPr>
          <p:cNvPr id="105" name="Google Shape;105;p13"/>
          <p:cNvSpPr txBox="1"/>
          <p:nvPr/>
        </p:nvSpPr>
        <p:spPr>
          <a:xfrm>
            <a:off x="7402115" y="3858669"/>
            <a:ext cx="1699617" cy="32385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vi-VN" sz="2100" b="1">
                <a:solidFill>
                  <a:schemeClr val="tx1">
                    <a:lumMod val="50000"/>
                    <a:lumOff val="50000"/>
                  </a:schemeClr>
                </a:solidFill>
                <a:latin typeface="Times New Roman" panose="02020603050405020304" pitchFamily="18" charset="0"/>
                <a:ea typeface="Montserrat"/>
                <a:cs typeface="Times New Roman" panose="02020603050405020304" pitchFamily="18" charset="0"/>
                <a:sym typeface="Montserrat"/>
              </a:rPr>
              <a:t>0</a:t>
            </a:r>
            <a:r>
              <a:rPr lang="en-US" sz="2100" b="1" i="0" u="none" strike="noStrike" cap="none">
                <a:solidFill>
                  <a:schemeClr val="tx1">
                    <a:lumMod val="50000"/>
                    <a:lumOff val="50000"/>
                  </a:schemeClr>
                </a:solidFill>
                <a:latin typeface="Times New Roman" panose="02020603050405020304" pitchFamily="18" charset="0"/>
                <a:ea typeface="Montserrat"/>
                <a:cs typeface="Times New Roman" panose="02020603050405020304" pitchFamily="18" charset="0"/>
                <a:sym typeface="Montserrat"/>
              </a:rPr>
              <a:t>%</a:t>
            </a:r>
            <a:endParaRPr>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5" name="Google Shape;106;p13">
            <a:extLst>
              <a:ext uri="{FF2B5EF4-FFF2-40B4-BE49-F238E27FC236}">
                <a16:creationId xmlns:a16="http://schemas.microsoft.com/office/drawing/2014/main" id="{7572E96A-B277-C248-522B-EA56BA3A365B}"/>
              </a:ext>
            </a:extLst>
          </p:cNvPr>
          <p:cNvSpPr txBox="1"/>
          <p:nvPr/>
        </p:nvSpPr>
        <p:spPr>
          <a:xfrm>
            <a:off x="9911357" y="1899059"/>
            <a:ext cx="1699617" cy="161583"/>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050" b="0" i="0" u="none" strike="noStrike" cap="none">
                <a:solidFill>
                  <a:srgbClr val="B40000"/>
                </a:solidFill>
                <a:latin typeface="Times New Roman" panose="02020603050405020304" pitchFamily="18" charset="0"/>
                <a:ea typeface="Roboto SemiBold"/>
                <a:cs typeface="Times New Roman" panose="02020603050405020304" pitchFamily="18" charset="0"/>
                <a:sym typeface="Roboto SemiBold"/>
              </a:rPr>
              <a:t>CẦN HỖ TRỢ</a:t>
            </a:r>
            <a:endParaRPr>
              <a:solidFill>
                <a:srgbClr val="B40000"/>
              </a:solidFill>
              <a:latin typeface="Times New Roman" panose="02020603050405020304" pitchFamily="18" charset="0"/>
              <a:cs typeface="Times New Roman" panose="02020603050405020304" pitchFamily="18" charset="0"/>
            </a:endParaRPr>
          </a:p>
        </p:txBody>
      </p:sp>
      <p:sp>
        <p:nvSpPr>
          <p:cNvPr id="6" name="Google Shape;107;p13">
            <a:extLst>
              <a:ext uri="{FF2B5EF4-FFF2-40B4-BE49-F238E27FC236}">
                <a16:creationId xmlns:a16="http://schemas.microsoft.com/office/drawing/2014/main" id="{660C8A6C-1879-161C-D3A5-5FB98D5448F6}"/>
              </a:ext>
            </a:extLst>
          </p:cNvPr>
          <p:cNvSpPr txBox="1"/>
          <p:nvPr/>
        </p:nvSpPr>
        <p:spPr>
          <a:xfrm>
            <a:off x="9911357" y="2127659"/>
            <a:ext cx="1699617" cy="420115"/>
          </a:xfrm>
          <a:prstGeom prst="rect">
            <a:avLst/>
          </a:prstGeom>
          <a:noFill/>
          <a:ln>
            <a:noFill/>
          </a:ln>
        </p:spPr>
        <p:txBody>
          <a:bodyPr spcFirstLastPara="1" wrap="square" lIns="0" tIns="0" rIns="0" bIns="0" anchor="t" anchorCtr="0">
            <a:spAutoFit/>
          </a:bodyPr>
          <a:lstStyle/>
          <a:p>
            <a:pPr marL="0" marR="0" lvl="0" indent="0" algn="just" rtl="0">
              <a:lnSpc>
                <a:spcPct val="139897"/>
              </a:lnSpc>
              <a:spcBef>
                <a:spcPts val="0"/>
              </a:spcBef>
              <a:spcAft>
                <a:spcPts val="0"/>
              </a:spcAft>
              <a:buNone/>
            </a:pPr>
            <a:r>
              <a:rPr lang="en-US" sz="975" b="0" i="0" u="none" strike="noStrike" cap="none">
                <a:solidFill>
                  <a:srgbClr val="64748B"/>
                </a:solidFill>
                <a:latin typeface="Times New Roman" panose="02020603050405020304" pitchFamily="18" charset="0"/>
                <a:ea typeface="Roboto"/>
                <a:cs typeface="Times New Roman" panose="02020603050405020304" pitchFamily="18" charset="0"/>
                <a:sym typeface="Roboto"/>
              </a:rPr>
              <a:t>Học lực yếu ở cả hai mảng, có nguy cơ báo động học vụ.</a:t>
            </a:r>
            <a:endParaRPr>
              <a:latin typeface="Times New Roman" panose="02020603050405020304" pitchFamily="18" charset="0"/>
              <a:cs typeface="Times New Roman" panose="02020603050405020304" pitchFamily="18" charset="0"/>
            </a:endParaRPr>
          </a:p>
        </p:txBody>
      </p:sp>
      <p:sp>
        <p:nvSpPr>
          <p:cNvPr id="7" name="Google Shape;108;p13">
            <a:extLst>
              <a:ext uri="{FF2B5EF4-FFF2-40B4-BE49-F238E27FC236}">
                <a16:creationId xmlns:a16="http://schemas.microsoft.com/office/drawing/2014/main" id="{D8C9D069-551E-BA80-4695-66C3932F2C05}"/>
              </a:ext>
            </a:extLst>
          </p:cNvPr>
          <p:cNvSpPr txBox="1"/>
          <p:nvPr/>
        </p:nvSpPr>
        <p:spPr>
          <a:xfrm>
            <a:off x="9911357" y="2569381"/>
            <a:ext cx="1699617" cy="32385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2100" b="1">
                <a:solidFill>
                  <a:srgbClr val="FF2D2D"/>
                </a:solidFill>
                <a:latin typeface="Times New Roman" panose="02020603050405020304" pitchFamily="18" charset="0"/>
                <a:ea typeface="Montserrat"/>
                <a:cs typeface="Times New Roman" panose="02020603050405020304" pitchFamily="18" charset="0"/>
                <a:sym typeface="Montserrat"/>
              </a:rPr>
              <a:t>54,76</a:t>
            </a:r>
            <a:r>
              <a:rPr lang="en-US" sz="2100" b="1" i="0" u="none" strike="noStrike" cap="none">
                <a:solidFill>
                  <a:srgbClr val="FF2D2D"/>
                </a:solidFill>
                <a:latin typeface="Times New Roman" panose="02020603050405020304" pitchFamily="18" charset="0"/>
                <a:ea typeface="Montserrat"/>
                <a:cs typeface="Times New Roman" panose="02020603050405020304" pitchFamily="18" charset="0"/>
                <a:sym typeface="Montserrat"/>
              </a:rPr>
              <a:t>%</a:t>
            </a:r>
            <a:endParaRPr>
              <a:solidFill>
                <a:srgbClr val="FF2D2D"/>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E136E55-4959-F661-75C6-AEF8A0EDACEA}"/>
              </a:ext>
            </a:extLst>
          </p:cNvPr>
          <p:cNvPicPr>
            <a:picLocks noChangeAspect="1"/>
          </p:cNvPicPr>
          <p:nvPr/>
        </p:nvPicPr>
        <p:blipFill>
          <a:blip r:embed="rId5"/>
          <a:stretch>
            <a:fillRect/>
          </a:stretch>
        </p:blipFill>
        <p:spPr>
          <a:xfrm>
            <a:off x="762000" y="1609129"/>
            <a:ext cx="5828567" cy="4351734"/>
          </a:xfrm>
          <a:prstGeom prst="rect">
            <a:avLst/>
          </a:prstGeom>
        </p:spPr>
      </p:pic>
      <p:sp>
        <p:nvSpPr>
          <p:cNvPr id="14" name="TextBox 13">
            <a:extLst>
              <a:ext uri="{FF2B5EF4-FFF2-40B4-BE49-F238E27FC236}">
                <a16:creationId xmlns:a16="http://schemas.microsoft.com/office/drawing/2014/main" id="{EA18856E-7FD0-A52F-442A-22CF47D69A18}"/>
              </a:ext>
            </a:extLst>
          </p:cNvPr>
          <p:cNvSpPr txBox="1"/>
          <p:nvPr/>
        </p:nvSpPr>
        <p:spPr>
          <a:xfrm>
            <a:off x="2543175" y="1276953"/>
            <a:ext cx="3552825" cy="20774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350">
                <a:solidFill>
                  <a:srgbClr val="0F172A"/>
                </a:solidFill>
                <a:latin typeface="Montserrat SemiBold"/>
                <a:ea typeface="Montserrat SemiBold"/>
                <a:cs typeface="Montserrat SemiBold"/>
              </a:defRPr>
            </a:lvl1pPr>
          </a:lstStyle>
          <a:p>
            <a:pPr algn="just"/>
            <a:r>
              <a:rPr lang="vi-VN" b="1">
                <a:latin typeface="Times New Roman" panose="02020603050405020304" pitchFamily="18" charset="0"/>
                <a:cs typeface="Times New Roman" panose="02020603050405020304" pitchFamily="18" charset="0"/>
              </a:rPr>
              <a:t>Phân bổ năng lực sinh viên</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DF08814-A685-22E6-63F8-D5A21D7E4CAF}"/>
            </a:ext>
          </a:extLst>
        </p:cNvPr>
        <p:cNvGrpSpPr/>
        <p:nvPr/>
      </p:nvGrpSpPr>
      <p:grpSpPr>
        <a:xfrm>
          <a:off x="0" y="0"/>
          <a:ext cx="0" cy="0"/>
          <a:chOff x="0" y="0"/>
          <a:chExt cx="0" cy="0"/>
        </a:xfrm>
      </p:grpSpPr>
      <p:sp>
        <p:nvSpPr>
          <p:cNvPr id="47" name="Rectangle: Rounded Corners 46">
            <a:extLst>
              <a:ext uri="{FF2B5EF4-FFF2-40B4-BE49-F238E27FC236}">
                <a16:creationId xmlns:a16="http://schemas.microsoft.com/office/drawing/2014/main" id="{CC320CAC-63A8-9EC9-76C6-5C2E99B1B08A}"/>
              </a:ext>
            </a:extLst>
          </p:cNvPr>
          <p:cNvSpPr/>
          <p:nvPr/>
        </p:nvSpPr>
        <p:spPr>
          <a:xfrm>
            <a:off x="6835302" y="1050184"/>
            <a:ext cx="4899499" cy="1246376"/>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pic>
        <p:nvPicPr>
          <p:cNvPr id="28" name="Google Shape;86;p13">
            <a:extLst>
              <a:ext uri="{FF2B5EF4-FFF2-40B4-BE49-F238E27FC236}">
                <a16:creationId xmlns:a16="http://schemas.microsoft.com/office/drawing/2014/main" id="{76903C64-D64D-4863-5653-DFE28AC1EB6F}"/>
              </a:ext>
            </a:extLst>
          </p:cNvPr>
          <p:cNvPicPr preferRelativeResize="0"/>
          <p:nvPr/>
        </p:nvPicPr>
        <p:blipFill rotWithShape="1">
          <a:blip r:embed="rId3">
            <a:alphaModFix/>
          </a:blip>
          <a:srcRect/>
          <a:stretch/>
        </p:blipFill>
        <p:spPr>
          <a:xfrm>
            <a:off x="6835302" y="4213548"/>
            <a:ext cx="4918549" cy="1794936"/>
          </a:xfrm>
          <a:prstGeom prst="rect">
            <a:avLst/>
          </a:prstGeom>
          <a:noFill/>
          <a:ln>
            <a:noFill/>
          </a:ln>
        </p:spPr>
      </p:pic>
      <p:sp>
        <p:nvSpPr>
          <p:cNvPr id="45" name="Rectangle: Rounded Corners 44">
            <a:extLst>
              <a:ext uri="{FF2B5EF4-FFF2-40B4-BE49-F238E27FC236}">
                <a16:creationId xmlns:a16="http://schemas.microsoft.com/office/drawing/2014/main" id="{177011CA-95FC-DEA6-8510-08825EC11E12}"/>
              </a:ext>
            </a:extLst>
          </p:cNvPr>
          <p:cNvSpPr/>
          <p:nvPr/>
        </p:nvSpPr>
        <p:spPr>
          <a:xfrm>
            <a:off x="6816252" y="2482871"/>
            <a:ext cx="4918549" cy="1476375"/>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39" name="Rectangle: Rounded Corners 38">
            <a:extLst>
              <a:ext uri="{FF2B5EF4-FFF2-40B4-BE49-F238E27FC236}">
                <a16:creationId xmlns:a16="http://schemas.microsoft.com/office/drawing/2014/main" id="{1774F5DB-89F2-4147-4D80-BAD29B23AFFD}"/>
              </a:ext>
            </a:extLst>
          </p:cNvPr>
          <p:cNvSpPr/>
          <p:nvPr/>
        </p:nvSpPr>
        <p:spPr>
          <a:xfrm>
            <a:off x="695324" y="958943"/>
            <a:ext cx="5781822" cy="5001565"/>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91" name="Google Shape;91;p13">
            <a:extLst>
              <a:ext uri="{FF2B5EF4-FFF2-40B4-BE49-F238E27FC236}">
                <a16:creationId xmlns:a16="http://schemas.microsoft.com/office/drawing/2014/main" id="{F60AAC9C-8055-56D3-DA35-B3786112AAE5}"/>
              </a:ext>
            </a:extLst>
          </p:cNvPr>
          <p:cNvSpPr txBox="1"/>
          <p:nvPr/>
        </p:nvSpPr>
        <p:spPr>
          <a:xfrm>
            <a:off x="695324" y="509208"/>
            <a:ext cx="6750843" cy="369332"/>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vi-VN" sz="2400" b="1">
                <a:solidFill>
                  <a:schemeClr val="tx1"/>
                </a:solidFill>
                <a:latin typeface="Times New Roman" panose="02020603050405020304" pitchFamily="18" charset="0"/>
                <a:ea typeface="Montserrat"/>
                <a:cs typeface="Times New Roman" panose="02020603050405020304" pitchFamily="18" charset="0"/>
                <a:sym typeface="Montserrat"/>
              </a:rPr>
              <a:t>Tương quan TECH - BIZ</a:t>
            </a:r>
            <a:endParaRPr lang="vi-VN" sz="2400" b="1" i="0" u="none" strike="noStrike" cap="none">
              <a:solidFill>
                <a:schemeClr val="tx1"/>
              </a:solidFill>
              <a:latin typeface="Times New Roman" panose="02020603050405020304" pitchFamily="18" charset="0"/>
              <a:ea typeface="Montserrat"/>
              <a:cs typeface="Times New Roman" panose="02020603050405020304" pitchFamily="18" charset="0"/>
              <a:sym typeface="Montserrat"/>
            </a:endParaRPr>
          </a:p>
        </p:txBody>
      </p:sp>
      <p:sp>
        <p:nvSpPr>
          <p:cNvPr id="93" name="Google Shape;93;p13">
            <a:extLst>
              <a:ext uri="{FF2B5EF4-FFF2-40B4-BE49-F238E27FC236}">
                <a16:creationId xmlns:a16="http://schemas.microsoft.com/office/drawing/2014/main" id="{F8B63D37-014F-ABDF-B0E8-AC74AAD5AA7C}"/>
              </a:ext>
            </a:extLst>
          </p:cNvPr>
          <p:cNvSpPr txBox="1"/>
          <p:nvPr/>
        </p:nvSpPr>
        <p:spPr>
          <a:xfrm>
            <a:off x="11277600" y="6477000"/>
            <a:ext cx="152400" cy="15004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975" b="0" i="0" u="none" strike="noStrike" cap="none">
                <a:solidFill>
                  <a:srgbClr val="94A3B8"/>
                </a:solidFill>
                <a:latin typeface="Times New Roman" panose="02020603050405020304" pitchFamily="18" charset="0"/>
                <a:ea typeface="Roboto"/>
                <a:cs typeface="Times New Roman" panose="02020603050405020304" pitchFamily="18" charset="0"/>
                <a:sym typeface="Roboto"/>
              </a:rPr>
              <a:t>04</a:t>
            </a:r>
            <a:endParaRPr>
              <a:latin typeface="Times New Roman" panose="02020603050405020304" pitchFamily="18" charset="0"/>
              <a:cs typeface="Times New Roman" panose="02020603050405020304" pitchFamily="18" charset="0"/>
            </a:endParaRPr>
          </a:p>
        </p:txBody>
      </p:sp>
      <p:sp>
        <p:nvSpPr>
          <p:cNvPr id="96" name="Google Shape;96;p13">
            <a:extLst>
              <a:ext uri="{FF2B5EF4-FFF2-40B4-BE49-F238E27FC236}">
                <a16:creationId xmlns:a16="http://schemas.microsoft.com/office/drawing/2014/main" id="{F18816ED-B064-5088-6665-A06BE23616DD}"/>
              </a:ext>
            </a:extLst>
          </p:cNvPr>
          <p:cNvSpPr txBox="1"/>
          <p:nvPr/>
        </p:nvSpPr>
        <p:spPr>
          <a:xfrm>
            <a:off x="7052444" y="4392657"/>
            <a:ext cx="4571403" cy="1292662"/>
          </a:xfrm>
          <a:prstGeom prst="rect">
            <a:avLst/>
          </a:prstGeom>
          <a:noFill/>
          <a:ln>
            <a:noFill/>
          </a:ln>
        </p:spPr>
        <p:txBody>
          <a:bodyPr spcFirstLastPara="1" wrap="square" lIns="0" tIns="0" rIns="0" bIns="0" anchor="t" anchorCtr="0">
            <a:spAutoFit/>
          </a:bodyPr>
          <a:lstStyle/>
          <a:p>
            <a:pPr lvl="0" algn="just">
              <a:lnSpc>
                <a:spcPct val="150000"/>
              </a:lnSpc>
            </a:pPr>
            <a:r>
              <a:rPr lang="vi-VN" b="1" i="1">
                <a:solidFill>
                  <a:srgbClr val="1E3A8A"/>
                </a:solidFill>
                <a:latin typeface="Times New Roman" panose="02020603050405020304" pitchFamily="18" charset="0"/>
                <a:ea typeface="Roboto Medium"/>
                <a:cs typeface="Times New Roman" panose="02020603050405020304" pitchFamily="18" charset="0"/>
              </a:rPr>
              <a:t>Có cơ sở</a:t>
            </a:r>
            <a:r>
              <a:rPr lang="vi-VN" i="1">
                <a:solidFill>
                  <a:srgbClr val="1E3A8A"/>
                </a:solidFill>
                <a:latin typeface="Times New Roman" panose="02020603050405020304" pitchFamily="18" charset="0"/>
                <a:ea typeface="Roboto Medium"/>
                <a:cs typeface="Times New Roman" panose="02020603050405020304" pitchFamily="18" charset="0"/>
              </a:rPr>
              <a:t> cho giả thuyết sinh viên </a:t>
            </a:r>
            <a:r>
              <a:rPr lang="vi-VN" b="1" i="1">
                <a:solidFill>
                  <a:srgbClr val="1E3A8A"/>
                </a:solidFill>
                <a:latin typeface="Times New Roman" panose="02020603050405020304" pitchFamily="18" charset="0"/>
                <a:ea typeface="Roboto Medium"/>
                <a:cs typeface="Times New Roman" panose="02020603050405020304" pitchFamily="18" charset="0"/>
              </a:rPr>
              <a:t>có khả năng về Bi</a:t>
            </a:r>
            <a:r>
              <a:rPr lang="vi-VN" b="1">
                <a:solidFill>
                  <a:srgbClr val="1E3A8A"/>
                </a:solidFill>
                <a:latin typeface="Times New Roman" panose="02020603050405020304" pitchFamily="18" charset="0"/>
                <a:ea typeface="Roboto Medium"/>
                <a:cs typeface="Times New Roman" panose="02020603050405020304" pitchFamily="18" charset="0"/>
              </a:rPr>
              <a:t>z</a:t>
            </a:r>
            <a:r>
              <a:rPr lang="vi-VN" b="1" i="1">
                <a:solidFill>
                  <a:srgbClr val="1E3A8A"/>
                </a:solidFill>
                <a:latin typeface="Times New Roman" panose="02020603050405020304" pitchFamily="18" charset="0"/>
                <a:ea typeface="Roboto Medium"/>
                <a:cs typeface="Times New Roman" panose="02020603050405020304" pitchFamily="18" charset="0"/>
              </a:rPr>
              <a:t> </a:t>
            </a:r>
            <a:r>
              <a:rPr lang="vi-VN" i="1">
                <a:solidFill>
                  <a:srgbClr val="1E3A8A"/>
                </a:solidFill>
                <a:latin typeface="Times New Roman" panose="02020603050405020304" pitchFamily="18" charset="0"/>
                <a:ea typeface="Roboto Medium"/>
                <a:cs typeface="Times New Roman" panose="02020603050405020304" pitchFamily="18" charset="0"/>
              </a:rPr>
              <a:t>có xu hướng </a:t>
            </a:r>
            <a:r>
              <a:rPr lang="vi-VN" b="1" i="1">
                <a:solidFill>
                  <a:srgbClr val="1E3A8A"/>
                </a:solidFill>
                <a:latin typeface="Times New Roman" panose="02020603050405020304" pitchFamily="18" charset="0"/>
                <a:ea typeface="Roboto Medium"/>
                <a:cs typeface="Times New Roman" panose="02020603050405020304" pitchFamily="18" charset="0"/>
              </a:rPr>
              <a:t>học tốt ở các môn Tech</a:t>
            </a:r>
            <a:r>
              <a:rPr lang="vi-VN" i="1">
                <a:solidFill>
                  <a:srgbClr val="1E3A8A"/>
                </a:solidFill>
                <a:latin typeface="Times New Roman" panose="02020603050405020304" pitchFamily="18" charset="0"/>
                <a:ea typeface="Roboto Medium"/>
                <a:cs typeface="Times New Roman" panose="02020603050405020304" pitchFamily="18" charset="0"/>
              </a:rPr>
              <a:t> và </a:t>
            </a:r>
            <a:r>
              <a:rPr lang="vi-VN" b="1" i="1">
                <a:solidFill>
                  <a:srgbClr val="1E3A8A"/>
                </a:solidFill>
                <a:latin typeface="Times New Roman" panose="02020603050405020304" pitchFamily="18" charset="0"/>
                <a:ea typeface="Roboto Medium"/>
                <a:cs typeface="Times New Roman" panose="02020603050405020304" pitchFamily="18" charset="0"/>
              </a:rPr>
              <a:t>ngược lại</a:t>
            </a:r>
            <a:r>
              <a:rPr lang="vi-VN" i="1">
                <a:solidFill>
                  <a:srgbClr val="1E3A8A"/>
                </a:solidFill>
                <a:latin typeface="Times New Roman" panose="02020603050405020304" pitchFamily="18" charset="0"/>
                <a:ea typeface="Roboto Medium"/>
                <a:cs typeface="Times New Roman" panose="02020603050405020304" pitchFamily="18" charset="0"/>
              </a:rPr>
              <a:t>. Tuy nhiên có khả năng đây là </a:t>
            </a:r>
            <a:r>
              <a:rPr lang="vi-VN" b="1" i="1">
                <a:solidFill>
                  <a:srgbClr val="1E3A8A"/>
                </a:solidFill>
                <a:latin typeface="Times New Roman" panose="02020603050405020304" pitchFamily="18" charset="0"/>
                <a:ea typeface="Roboto Medium"/>
                <a:cs typeface="Times New Roman" panose="02020603050405020304" pitchFamily="18" charset="0"/>
              </a:rPr>
              <a:t>biểu hiện của một năng lực nền chung. </a:t>
            </a:r>
            <a:r>
              <a:rPr lang="vi-VN" i="1">
                <a:solidFill>
                  <a:srgbClr val="1E3A8A"/>
                </a:solidFill>
                <a:latin typeface="Times New Roman" panose="02020603050405020304" pitchFamily="18" charset="0"/>
                <a:ea typeface="Roboto Medium"/>
                <a:cs typeface="Times New Roman" panose="02020603050405020304" pitchFamily="18" charset="0"/>
              </a:rPr>
              <a:t>Cần thêm dữ liệu để kiểm chứng.</a:t>
            </a:r>
            <a:endParaRPr i="1">
              <a:solidFill>
                <a:srgbClr val="1E3A8A"/>
              </a:solidFill>
              <a:latin typeface="Times New Roman" panose="02020603050405020304" pitchFamily="18" charset="0"/>
              <a:ea typeface="Roboto Medium"/>
              <a:cs typeface="Times New Roman" panose="02020603050405020304" pitchFamily="18" charset="0"/>
            </a:endParaRPr>
          </a:p>
        </p:txBody>
      </p:sp>
      <p:pic>
        <p:nvPicPr>
          <p:cNvPr id="3" name="Picture 2">
            <a:extLst>
              <a:ext uri="{FF2B5EF4-FFF2-40B4-BE49-F238E27FC236}">
                <a16:creationId xmlns:a16="http://schemas.microsoft.com/office/drawing/2014/main" id="{59B2CA90-39E6-7815-106D-2C225E3EDC05}"/>
              </a:ext>
            </a:extLst>
          </p:cNvPr>
          <p:cNvPicPr>
            <a:picLocks noChangeAspect="1"/>
          </p:cNvPicPr>
          <p:nvPr/>
        </p:nvPicPr>
        <p:blipFill>
          <a:blip r:embed="rId4"/>
          <a:stretch>
            <a:fillRect/>
          </a:stretch>
        </p:blipFill>
        <p:spPr>
          <a:xfrm>
            <a:off x="885824" y="1357797"/>
            <a:ext cx="5322609" cy="4316476"/>
          </a:xfrm>
          <a:prstGeom prst="rect">
            <a:avLst/>
          </a:prstGeom>
        </p:spPr>
      </p:pic>
      <p:sp>
        <p:nvSpPr>
          <p:cNvPr id="10" name="Google Shape;89;p13">
            <a:extLst>
              <a:ext uri="{FF2B5EF4-FFF2-40B4-BE49-F238E27FC236}">
                <a16:creationId xmlns:a16="http://schemas.microsoft.com/office/drawing/2014/main" id="{03286AE3-A047-E029-B86D-95436F210951}"/>
              </a:ext>
            </a:extLst>
          </p:cNvPr>
          <p:cNvSpPr txBox="1"/>
          <p:nvPr/>
        </p:nvSpPr>
        <p:spPr>
          <a:xfrm>
            <a:off x="7052444" y="2575848"/>
            <a:ext cx="3877828" cy="228600"/>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just" rtl="0">
              <a:spcBef>
                <a:spcPts val="0"/>
              </a:spcBef>
              <a:spcAft>
                <a:spcPts val="0"/>
              </a:spcAft>
              <a:buNone/>
            </a:pPr>
            <a:r>
              <a:rPr lang="en-US" sz="1500" b="1" i="0" u="none" strike="noStrike" cap="none">
                <a:solidFill>
                  <a:srgbClr val="003366"/>
                </a:solidFill>
                <a:latin typeface="Times New Roman" panose="02020603050405020304" pitchFamily="18" charset="0"/>
                <a:ea typeface="Montserrat"/>
                <a:cs typeface="Times New Roman" panose="02020603050405020304" pitchFamily="18" charset="0"/>
                <a:sym typeface="Montserrat"/>
              </a:rPr>
              <a:t>Kết quả </a:t>
            </a:r>
            <a:r>
              <a:rPr lang="vi-VN" sz="1500" b="1">
                <a:solidFill>
                  <a:srgbClr val="003366"/>
                </a:solidFill>
                <a:latin typeface="Times New Roman" panose="02020603050405020304" pitchFamily="18" charset="0"/>
                <a:ea typeface="Montserrat"/>
                <a:cs typeface="Times New Roman" panose="02020603050405020304" pitchFamily="18" charset="0"/>
                <a:sym typeface="Montserrat"/>
              </a:rPr>
              <a:t>tương</a:t>
            </a:r>
            <a:r>
              <a:rPr lang="en-US" sz="1500" b="1" i="0" u="none" strike="noStrike" cap="none">
                <a:solidFill>
                  <a:srgbClr val="003366"/>
                </a:solidFill>
                <a:latin typeface="Times New Roman" panose="02020603050405020304" pitchFamily="18" charset="0"/>
                <a:ea typeface="Montserrat"/>
                <a:cs typeface="Times New Roman" panose="02020603050405020304" pitchFamily="18" charset="0"/>
                <a:sym typeface="Montserrat"/>
              </a:rPr>
              <a:t> quan</a:t>
            </a:r>
            <a:endParaRPr>
              <a:latin typeface="Times New Roman" panose="02020603050405020304" pitchFamily="18" charset="0"/>
              <a:cs typeface="Times New Roman" panose="02020603050405020304" pitchFamily="18" charset="0"/>
            </a:endParaRPr>
          </a:p>
        </p:txBody>
      </p:sp>
      <p:sp>
        <p:nvSpPr>
          <p:cNvPr id="17" name="Google Shape;90;p13">
            <a:extLst>
              <a:ext uri="{FF2B5EF4-FFF2-40B4-BE49-F238E27FC236}">
                <a16:creationId xmlns:a16="http://schemas.microsoft.com/office/drawing/2014/main" id="{4F0269FA-3A54-B0C4-04DD-108139545DD8}"/>
              </a:ext>
            </a:extLst>
          </p:cNvPr>
          <p:cNvSpPr txBox="1"/>
          <p:nvPr/>
        </p:nvSpPr>
        <p:spPr>
          <a:xfrm>
            <a:off x="7052736" y="2875003"/>
            <a:ext cx="3978919" cy="94641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just" rtl="0">
              <a:lnSpc>
                <a:spcPct val="150000"/>
              </a:lnSpc>
              <a:spcBef>
                <a:spcPts val="0"/>
              </a:spcBef>
              <a:spcAft>
                <a:spcPts val="0"/>
              </a:spcAft>
            </a:pPr>
            <a:r>
              <a:rPr lang="en-US" sz="1350" b="0" i="0" u="none" strike="noStrike" cap="none">
                <a:solidFill>
                  <a:srgbClr val="475569"/>
                </a:solidFill>
                <a:latin typeface="Times New Roman" panose="02020603050405020304" pitchFamily="18" charset="0"/>
                <a:ea typeface="Open Sans"/>
                <a:cs typeface="Times New Roman" panose="02020603050405020304" pitchFamily="18" charset="0"/>
                <a:sym typeface="Open Sans"/>
              </a:rPr>
              <a:t>Dữ liệu cho thấy sự </a:t>
            </a:r>
            <a:r>
              <a:rPr lang="en-US" i="1">
                <a:solidFill>
                  <a:srgbClr val="1E3A8A"/>
                </a:solidFill>
                <a:latin typeface="Times New Roman" panose="02020603050405020304" pitchFamily="18" charset="0"/>
                <a:ea typeface="Roboto Medium"/>
                <a:cs typeface="Times New Roman" panose="02020603050405020304" pitchFamily="18" charset="0"/>
                <a:sym typeface="Open Sans SemiBold"/>
              </a:rPr>
              <a:t>tương quan thuận</a:t>
            </a:r>
            <a:r>
              <a:rPr lang="vi-VN" i="1">
                <a:solidFill>
                  <a:srgbClr val="1E3A8A"/>
                </a:solidFill>
                <a:latin typeface="Times New Roman" panose="02020603050405020304" pitchFamily="18" charset="0"/>
                <a:ea typeface="Roboto Medium"/>
                <a:cs typeface="Times New Roman" panose="02020603050405020304" pitchFamily="18" charset="0"/>
                <a:sym typeface="Open Sans SemiBold"/>
              </a:rPr>
              <a:t> </a:t>
            </a:r>
            <a:r>
              <a:rPr lang="vi-VN" sz="1350">
                <a:solidFill>
                  <a:srgbClr val="475569"/>
                </a:solidFill>
                <a:latin typeface="Times New Roman" panose="02020603050405020304" pitchFamily="18" charset="0"/>
                <a:ea typeface="Open Sans"/>
                <a:cs typeface="Times New Roman" panose="02020603050405020304" pitchFamily="18" charset="0"/>
                <a:sym typeface="Open Sans SemiBold"/>
              </a:rPr>
              <a:t>giữa điểm kỹ thuật và điểm kinh tế. Tương tự cho trường hợp ngược lại.</a:t>
            </a:r>
          </a:p>
        </p:txBody>
      </p:sp>
      <p:pic>
        <p:nvPicPr>
          <p:cNvPr id="26" name="Google Shape;95;p13" descr="image.png">
            <a:extLst>
              <a:ext uri="{FF2B5EF4-FFF2-40B4-BE49-F238E27FC236}">
                <a16:creationId xmlns:a16="http://schemas.microsoft.com/office/drawing/2014/main" id="{C95114A6-7E0A-433C-897C-0C8F6F5F538E}"/>
              </a:ext>
            </a:extLst>
          </p:cNvPr>
          <p:cNvPicPr preferRelativeResize="0"/>
          <p:nvPr/>
        </p:nvPicPr>
        <p:blipFill rotWithShape="1">
          <a:blip r:embed="rId5">
            <a:alphaModFix/>
          </a:blip>
          <a:srcRect/>
          <a:stretch/>
        </p:blipFill>
        <p:spPr>
          <a:xfrm>
            <a:off x="6966719" y="4251547"/>
            <a:ext cx="171450" cy="1123950"/>
          </a:xfrm>
          <a:prstGeom prst="rect">
            <a:avLst/>
          </a:prstGeom>
          <a:noFill/>
          <a:ln>
            <a:noFill/>
          </a:ln>
        </p:spPr>
      </p:pic>
      <p:sp>
        <p:nvSpPr>
          <p:cNvPr id="40" name="TextBox 39">
            <a:extLst>
              <a:ext uri="{FF2B5EF4-FFF2-40B4-BE49-F238E27FC236}">
                <a16:creationId xmlns:a16="http://schemas.microsoft.com/office/drawing/2014/main" id="{6319F12B-3B3F-8DB4-8928-7C51D6CE8A04}"/>
              </a:ext>
            </a:extLst>
          </p:cNvPr>
          <p:cNvSpPr txBox="1"/>
          <p:nvPr/>
        </p:nvSpPr>
        <p:spPr>
          <a:xfrm>
            <a:off x="2457117" y="1132444"/>
            <a:ext cx="3552825" cy="20774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350">
                <a:solidFill>
                  <a:srgbClr val="0F172A"/>
                </a:solidFill>
                <a:latin typeface="Montserrat SemiBold"/>
                <a:ea typeface="Montserrat SemiBold"/>
                <a:cs typeface="Montserrat SemiBold"/>
              </a:defRPr>
            </a:lvl1pPr>
          </a:lstStyle>
          <a:p>
            <a:pPr algn="just"/>
            <a:r>
              <a:rPr lang="vi-VN" b="1">
                <a:latin typeface="Times New Roman" panose="02020603050405020304" pitchFamily="18" charset="0"/>
                <a:cs typeface="Times New Roman" panose="02020603050405020304" pitchFamily="18" charset="0"/>
              </a:rPr>
              <a:t>Tương quan điểm số Tech-Biz</a:t>
            </a:r>
            <a:endParaRPr lang="en-US"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988A13C-E52F-0460-376A-40F8F04ED85B}"/>
                  </a:ext>
                </a:extLst>
              </p:cNvPr>
              <p:cNvSpPr txBox="1"/>
              <p:nvPr/>
            </p:nvSpPr>
            <p:spPr>
              <a:xfrm>
                <a:off x="6894412" y="1973936"/>
                <a:ext cx="1103510" cy="261610"/>
              </a:xfrm>
              <a:prstGeom prst="rect">
                <a:avLst/>
              </a:prstGeom>
              <a:noFill/>
            </p:spPr>
            <p:txBody>
              <a:bodyPr wrap="square" rtlCol="0">
                <a:spAutoFit/>
              </a:bodyPr>
              <a:lstStyle>
                <a:defPPr marR="0" lvl="0" algn="l" rtl="0">
                  <a:lnSpc>
                    <a:spcPct val="100000"/>
                  </a:lnSpc>
                  <a:spcBef>
                    <a:spcPts val="0"/>
                  </a:spcBef>
                  <a:spcAft>
                    <a:spcPts val="0"/>
                  </a:spcAft>
                </a:defPPr>
                <a:lvl1pPr>
                  <a:defRPr sz="1100" i="1">
                    <a:solidFill>
                      <a:schemeClr val="bg1">
                        <a:lumMod val="65000"/>
                      </a:schemeClr>
                    </a:solidFill>
                    <a:latin typeface="Roboto Medium"/>
                    <a:ea typeface="Roboto Medium"/>
                    <a:cs typeface="Roboto Medium"/>
                  </a:defRPr>
                </a:lvl1pPr>
              </a:lstStyle>
              <a:p>
                <a:pPr algn="just"/>
                <a14:m>
                  <m:oMathPara xmlns:m="http://schemas.openxmlformats.org/officeDocument/2006/math">
                    <m:oMathParaPr>
                      <m:jc m:val="centerGroup"/>
                    </m:oMathParaPr>
                    <m:oMath xmlns:m="http://schemas.openxmlformats.org/officeDocument/2006/math">
                      <m:r>
                        <a:rPr lang="vi-VN" b="0" i="1" smtClean="0">
                          <a:solidFill>
                            <a:schemeClr val="tx1">
                              <a:lumMod val="50000"/>
                              <a:lumOff val="50000"/>
                            </a:schemeClr>
                          </a:solidFill>
                          <a:latin typeface="Cambria Math" panose="02040503050406030204" pitchFamily="18" charset="0"/>
                        </a:rPr>
                        <m:t>𝑃</m:t>
                      </m:r>
                      <m:r>
                        <a:rPr lang="vi-VN" b="0" i="1" smtClean="0">
                          <a:solidFill>
                            <a:schemeClr val="tx1">
                              <a:lumMod val="50000"/>
                              <a:lumOff val="50000"/>
                            </a:schemeClr>
                          </a:solidFill>
                          <a:latin typeface="Cambria Math" panose="02040503050406030204" pitchFamily="18" charset="0"/>
                        </a:rPr>
                        <m:t>_</m:t>
                      </m:r>
                      <m:r>
                        <a:rPr lang="vi-VN" b="0" i="1" smtClean="0">
                          <a:solidFill>
                            <a:schemeClr val="tx1">
                              <a:lumMod val="50000"/>
                              <a:lumOff val="50000"/>
                            </a:schemeClr>
                          </a:solidFill>
                          <a:latin typeface="Cambria Math" panose="02040503050406030204" pitchFamily="18" charset="0"/>
                        </a:rPr>
                        <m:t>𝑣𝑎𝑙𝑢𝑒</m:t>
                      </m:r>
                      <m:r>
                        <m:rPr>
                          <m:nor/>
                        </m:rPr>
                        <a:rPr lang="vi-VN">
                          <a:solidFill>
                            <a:schemeClr val="tx1">
                              <a:lumMod val="50000"/>
                              <a:lumOff val="50000"/>
                            </a:schemeClr>
                          </a:solidFill>
                          <a:latin typeface="Times New Roman" panose="02020603050405020304" pitchFamily="18" charset="0"/>
                          <a:cs typeface="Times New Roman" panose="02020603050405020304" pitchFamily="18" charset="0"/>
                        </a:rPr>
                        <m:t> </m:t>
                      </m:r>
                      <m:r>
                        <a:rPr lang="vi-VN" b="0" i="1">
                          <a:solidFill>
                            <a:schemeClr val="tx1">
                              <a:lumMod val="50000"/>
                              <a:lumOff val="50000"/>
                            </a:schemeClr>
                          </a:solidFill>
                          <a:latin typeface="Cambria Math" panose="02040503050406030204" pitchFamily="18" charset="0"/>
                        </a:rPr>
                        <m:t>≈</m:t>
                      </m:r>
                      <m:r>
                        <m:rPr>
                          <m:nor/>
                        </m:rPr>
                        <a:rPr lang="en-US">
                          <a:solidFill>
                            <a:schemeClr val="tx1">
                              <a:lumMod val="50000"/>
                              <a:lumOff val="50000"/>
                            </a:schemeClr>
                          </a:solidFill>
                          <a:latin typeface="Times New Roman" panose="02020603050405020304" pitchFamily="18" charset="0"/>
                          <a:cs typeface="Times New Roman" panose="02020603050405020304" pitchFamily="18" charset="0"/>
                        </a:rPr>
                        <m:t>0</m:t>
                      </m:r>
                    </m:oMath>
                  </m:oMathPara>
                </a14:m>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41" name="TextBox 40">
                <a:extLst>
                  <a:ext uri="{FF2B5EF4-FFF2-40B4-BE49-F238E27FC236}">
                    <a16:creationId xmlns:a16="http://schemas.microsoft.com/office/drawing/2014/main" id="{A988A13C-E52F-0460-376A-40F8F04ED85B}"/>
                  </a:ext>
                </a:extLst>
              </p:cNvPr>
              <p:cNvSpPr txBox="1">
                <a:spLocks noRot="1" noChangeAspect="1" noMove="1" noResize="1" noEditPoints="1" noAdjustHandles="1" noChangeArrowheads="1" noChangeShapeType="1" noTextEdit="1"/>
              </p:cNvSpPr>
              <p:nvPr/>
            </p:nvSpPr>
            <p:spPr>
              <a:xfrm>
                <a:off x="6894412" y="1973936"/>
                <a:ext cx="1103510" cy="2616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5DCDDB1-1C47-37E7-F3DE-9E73F24BA2E3}"/>
                  </a:ext>
                </a:extLst>
              </p:cNvPr>
              <p:cNvSpPr txBox="1"/>
              <p:nvPr/>
            </p:nvSpPr>
            <p:spPr>
              <a:xfrm>
                <a:off x="6859914" y="1374829"/>
                <a:ext cx="2510602" cy="261610"/>
              </a:xfrm>
              <a:prstGeom prst="rect">
                <a:avLst/>
              </a:prstGeom>
              <a:noFill/>
            </p:spPr>
            <p:txBody>
              <a:bodyPr wrap="square" rtlCol="0">
                <a:spAutoFit/>
              </a:bodyPr>
              <a:lstStyle>
                <a:defPPr marR="0" lvl="0" algn="l" rtl="0">
                  <a:lnSpc>
                    <a:spcPct val="100000"/>
                  </a:lnSpc>
                  <a:spcBef>
                    <a:spcPts val="0"/>
                  </a:spcBef>
                  <a:spcAft>
                    <a:spcPts val="0"/>
                  </a:spcAft>
                </a:defPPr>
                <a:lvl1pPr>
                  <a:defRPr sz="1100" i="1">
                    <a:solidFill>
                      <a:schemeClr val="bg1">
                        <a:lumMod val="65000"/>
                      </a:schemeClr>
                    </a:solidFill>
                    <a:latin typeface="Roboto Medium"/>
                    <a:ea typeface="Roboto Medium"/>
                    <a:cs typeface="Roboto Medium"/>
                  </a:defRPr>
                </a:lvl1pPr>
              </a:lstStyle>
              <a:p>
                <a:pPr algn="just"/>
                <a14:m>
                  <m:oMathPara xmlns:m="http://schemas.openxmlformats.org/officeDocument/2006/math">
                    <m:oMathParaPr>
                      <m:jc m:val="centerGroup"/>
                    </m:oMathParaPr>
                    <m:oMath xmlns:m="http://schemas.openxmlformats.org/officeDocument/2006/math">
                      <m:r>
                        <a:rPr lang="vi-VN" i="1" smtClean="0">
                          <a:solidFill>
                            <a:schemeClr val="tx1">
                              <a:lumMod val="50000"/>
                              <a:lumOff val="50000"/>
                            </a:schemeClr>
                          </a:solidFill>
                          <a:latin typeface="Cambria Math" panose="02040503050406030204" pitchFamily="18" charset="0"/>
                        </a:rPr>
                        <m:t>𝐷</m:t>
                      </m:r>
                      <m:r>
                        <m:rPr>
                          <m:nor/>
                        </m:rPr>
                        <a:rPr lang="vi-VN" b="0" smtClean="0">
                          <a:solidFill>
                            <a:schemeClr val="tx1">
                              <a:lumMod val="50000"/>
                              <a:lumOff val="50000"/>
                            </a:schemeClr>
                          </a:solidFill>
                          <a:latin typeface="Times New Roman" panose="02020603050405020304" pitchFamily="18" charset="0"/>
                          <a:cs typeface="Times New Roman" panose="02020603050405020304" pitchFamily="18" charset="0"/>
                        </a:rPr>
                        <m:t>.</m:t>
                      </m:r>
                      <m:r>
                        <a:rPr lang="vi-VN" i="1">
                          <a:solidFill>
                            <a:schemeClr val="tx1">
                              <a:lumMod val="50000"/>
                              <a:lumOff val="50000"/>
                            </a:schemeClr>
                          </a:solidFill>
                          <a:latin typeface="Cambria Math" panose="02040503050406030204" pitchFamily="18" charset="0"/>
                        </a:rPr>
                        <m:t>𝐾𝑖𝑇h𝑢𝑎𝑡</m:t>
                      </m:r>
                      <m:r>
                        <m:rPr>
                          <m:nor/>
                        </m:rPr>
                        <a:rPr lang="vi-VN" b="0" smtClean="0">
                          <a:solidFill>
                            <a:schemeClr val="tx1">
                              <a:lumMod val="50000"/>
                              <a:lumOff val="50000"/>
                            </a:schemeClr>
                          </a:solidFill>
                          <a:latin typeface="Times New Roman" panose="02020603050405020304" pitchFamily="18" charset="0"/>
                          <a:cs typeface="Times New Roman" panose="02020603050405020304" pitchFamily="18" charset="0"/>
                        </a:rPr>
                        <m:t>= </m:t>
                      </m:r>
                      <m:r>
                        <a:rPr lang="vi-VN" i="1">
                          <a:solidFill>
                            <a:schemeClr val="tx1">
                              <a:lumMod val="50000"/>
                              <a:lumOff val="50000"/>
                            </a:schemeClr>
                          </a:solidFill>
                          <a:latin typeface="Cambria Math" panose="02040503050406030204" pitchFamily="18" charset="0"/>
                        </a:rPr>
                        <m:t>0</m:t>
                      </m:r>
                      <m:r>
                        <m:rPr>
                          <m:nor/>
                        </m:rPr>
                        <a:rPr lang="vi-VN" b="0" smtClean="0">
                          <a:solidFill>
                            <a:schemeClr val="tx1">
                              <a:lumMod val="50000"/>
                              <a:lumOff val="50000"/>
                            </a:schemeClr>
                          </a:solidFill>
                          <a:latin typeface="Times New Roman" panose="02020603050405020304" pitchFamily="18" charset="0"/>
                          <a:cs typeface="Times New Roman" panose="02020603050405020304" pitchFamily="18" charset="0"/>
                        </a:rPr>
                        <m:t>,</m:t>
                      </m:r>
                      <m:r>
                        <a:rPr lang="vi-VN" i="1">
                          <a:solidFill>
                            <a:schemeClr val="tx1">
                              <a:lumMod val="50000"/>
                              <a:lumOff val="50000"/>
                            </a:schemeClr>
                          </a:solidFill>
                          <a:latin typeface="Cambria Math" panose="02040503050406030204" pitchFamily="18" charset="0"/>
                        </a:rPr>
                        <m:t>9067</m:t>
                      </m:r>
                      <m:r>
                        <m:rPr>
                          <m:nor/>
                        </m:rPr>
                        <a:rPr lang="vi-VN" b="0" smtClean="0">
                          <a:solidFill>
                            <a:schemeClr val="tx1">
                              <a:lumMod val="50000"/>
                              <a:lumOff val="50000"/>
                            </a:schemeClr>
                          </a:solidFill>
                          <a:latin typeface="Times New Roman" panose="02020603050405020304" pitchFamily="18" charset="0"/>
                          <a:cs typeface="Times New Roman" panose="02020603050405020304" pitchFamily="18" charset="0"/>
                        </a:rPr>
                        <m:t>. </m:t>
                      </m:r>
                      <m:r>
                        <a:rPr lang="vi-VN" i="1">
                          <a:solidFill>
                            <a:schemeClr val="tx1">
                              <a:lumMod val="50000"/>
                              <a:lumOff val="50000"/>
                            </a:schemeClr>
                          </a:solidFill>
                          <a:latin typeface="Cambria Math" panose="02040503050406030204" pitchFamily="18" charset="0"/>
                        </a:rPr>
                        <m:t>𝐷</m:t>
                      </m:r>
                      <m:r>
                        <m:rPr>
                          <m:nor/>
                        </m:rPr>
                        <a:rPr lang="vi-VN" b="0" smtClean="0">
                          <a:solidFill>
                            <a:schemeClr val="tx1">
                              <a:lumMod val="50000"/>
                              <a:lumOff val="50000"/>
                            </a:schemeClr>
                          </a:solidFill>
                          <a:latin typeface="Times New Roman" panose="02020603050405020304" pitchFamily="18" charset="0"/>
                          <a:cs typeface="Times New Roman" panose="02020603050405020304" pitchFamily="18" charset="0"/>
                        </a:rPr>
                        <m:t>.</m:t>
                      </m:r>
                      <m:r>
                        <a:rPr lang="vi-VN" i="1">
                          <a:solidFill>
                            <a:schemeClr val="tx1">
                              <a:lumMod val="50000"/>
                              <a:lumOff val="50000"/>
                            </a:schemeClr>
                          </a:solidFill>
                          <a:latin typeface="Cambria Math" panose="02040503050406030204" pitchFamily="18" charset="0"/>
                        </a:rPr>
                        <m:t>𝐾𝑖𝑛h𝑇𝑒</m:t>
                      </m:r>
                      <m:r>
                        <m:rPr>
                          <m:nor/>
                        </m:rPr>
                        <a:rPr lang="vi-VN" b="0" smtClean="0">
                          <a:solidFill>
                            <a:schemeClr val="tx1">
                              <a:lumMod val="50000"/>
                              <a:lumOff val="50000"/>
                            </a:schemeClr>
                          </a:solidFill>
                          <a:latin typeface="Times New Roman" panose="02020603050405020304" pitchFamily="18" charset="0"/>
                          <a:cs typeface="Times New Roman" panose="02020603050405020304" pitchFamily="18" charset="0"/>
                        </a:rPr>
                        <m:t> +</m:t>
                      </m:r>
                      <m:r>
                        <m:rPr>
                          <m:nor/>
                        </m:rPr>
                        <a:rPr lang="vi-VN">
                          <a:solidFill>
                            <a:schemeClr val="tx1">
                              <a:lumMod val="50000"/>
                              <a:lumOff val="50000"/>
                            </a:schemeClr>
                          </a:solidFill>
                          <a:latin typeface="Times New Roman" panose="02020603050405020304" pitchFamily="18" charset="0"/>
                          <a:cs typeface="Times New Roman" panose="02020603050405020304" pitchFamily="18" charset="0"/>
                        </a:rPr>
                        <m:t> </m:t>
                      </m:r>
                      <m:r>
                        <a:rPr lang="vi-VN" i="1" smtClean="0">
                          <a:solidFill>
                            <a:schemeClr val="tx1">
                              <a:lumMod val="50000"/>
                              <a:lumOff val="50000"/>
                            </a:schemeClr>
                          </a:solidFill>
                          <a:latin typeface="Cambria Math" panose="02040503050406030204" pitchFamily="18" charset="0"/>
                          <a:ea typeface="Cambria Math" panose="02040503050406030204" pitchFamily="18" charset="0"/>
                        </a:rPr>
                        <m:t>𝜀</m:t>
                      </m:r>
                    </m:oMath>
                  </m:oMathPara>
                </a14:m>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42" name="TextBox 41">
                <a:extLst>
                  <a:ext uri="{FF2B5EF4-FFF2-40B4-BE49-F238E27FC236}">
                    <a16:creationId xmlns:a16="http://schemas.microsoft.com/office/drawing/2014/main" id="{15DCDDB1-1C47-37E7-F3DE-9E73F24BA2E3}"/>
                  </a:ext>
                </a:extLst>
              </p:cNvPr>
              <p:cNvSpPr txBox="1">
                <a:spLocks noRot="1" noChangeAspect="1" noMove="1" noResize="1" noEditPoints="1" noAdjustHandles="1" noChangeArrowheads="1" noChangeShapeType="1" noTextEdit="1"/>
              </p:cNvSpPr>
              <p:nvPr/>
            </p:nvSpPr>
            <p:spPr>
              <a:xfrm>
                <a:off x="6859914" y="1374829"/>
                <a:ext cx="2510602" cy="2616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FDB60B0-E5A2-92AE-A51E-09CE549452E9}"/>
                  </a:ext>
                </a:extLst>
              </p:cNvPr>
              <p:cNvSpPr txBox="1"/>
              <p:nvPr/>
            </p:nvSpPr>
            <p:spPr>
              <a:xfrm>
                <a:off x="6728497" y="1691945"/>
                <a:ext cx="1339179" cy="261610"/>
              </a:xfrm>
              <a:prstGeom prst="rect">
                <a:avLst/>
              </a:prstGeom>
              <a:noFill/>
            </p:spPr>
            <p:txBody>
              <a:bodyPr wrap="square" rtlCol="0">
                <a:spAutoFit/>
              </a:bodyPr>
              <a:lstStyle>
                <a:defPPr marR="0" lvl="0" algn="l" rtl="0">
                  <a:lnSpc>
                    <a:spcPct val="100000"/>
                  </a:lnSpc>
                  <a:spcBef>
                    <a:spcPts val="0"/>
                  </a:spcBef>
                  <a:spcAft>
                    <a:spcPts val="0"/>
                  </a:spcAft>
                </a:defPPr>
                <a:lvl1pPr>
                  <a:defRPr sz="1100" i="1">
                    <a:solidFill>
                      <a:schemeClr val="bg1">
                        <a:lumMod val="65000"/>
                      </a:schemeClr>
                    </a:solidFill>
                    <a:latin typeface="Roboto Medium"/>
                    <a:ea typeface="Roboto Medium"/>
                    <a:cs typeface="Roboto Medium"/>
                  </a:defRPr>
                </a:lvl1pPr>
              </a:lstStyle>
              <a:p>
                <a:pPr algn="just"/>
                <a14:m>
                  <m:oMathPara xmlns:m="http://schemas.openxmlformats.org/officeDocument/2006/math">
                    <m:oMathParaPr>
                      <m:jc m:val="centerGroup"/>
                    </m:oMathParaPr>
                    <m:oMath xmlns:m="http://schemas.openxmlformats.org/officeDocument/2006/math">
                      <m:sSup>
                        <m:sSupPr>
                          <m:ctrlPr>
                            <a:rPr lang="vi-VN" b="0" i="1" smtClean="0">
                              <a:solidFill>
                                <a:schemeClr val="tx1">
                                  <a:lumMod val="50000"/>
                                  <a:lumOff val="50000"/>
                                </a:schemeClr>
                              </a:solidFill>
                              <a:latin typeface="Cambria Math" panose="02040503050406030204" pitchFamily="18" charset="0"/>
                            </a:rPr>
                          </m:ctrlPr>
                        </m:sSupPr>
                        <m:e>
                          <m:r>
                            <a:rPr lang="en-US" b="0" i="1" smtClean="0">
                              <a:solidFill>
                                <a:schemeClr val="tx1">
                                  <a:lumMod val="50000"/>
                                  <a:lumOff val="50000"/>
                                </a:schemeClr>
                              </a:solidFill>
                              <a:latin typeface="Cambria Math" panose="02040503050406030204" pitchFamily="18" charset="0"/>
                            </a:rPr>
                            <m:t>𝑅</m:t>
                          </m:r>
                        </m:e>
                        <m:sup>
                          <m:r>
                            <a:rPr lang="en-US" b="0" i="1" smtClean="0">
                              <a:solidFill>
                                <a:schemeClr val="tx1">
                                  <a:lumMod val="50000"/>
                                  <a:lumOff val="50000"/>
                                </a:schemeClr>
                              </a:solidFill>
                              <a:latin typeface="Cambria Math" panose="02040503050406030204" pitchFamily="18" charset="0"/>
                            </a:rPr>
                            <m:t>2</m:t>
                          </m:r>
                        </m:sup>
                      </m:sSup>
                      <m:r>
                        <a:rPr lang="en-US" b="0" i="1" smtClean="0">
                          <a:solidFill>
                            <a:schemeClr val="tx1">
                              <a:lumMod val="50000"/>
                              <a:lumOff val="50000"/>
                            </a:schemeClr>
                          </a:solidFill>
                          <a:latin typeface="Cambria Math" panose="02040503050406030204" pitchFamily="18" charset="0"/>
                        </a:rPr>
                        <m:t>=0,</m:t>
                      </m:r>
                      <m:r>
                        <a:rPr lang="vi-VN">
                          <a:solidFill>
                            <a:schemeClr val="tx1">
                              <a:lumMod val="50000"/>
                              <a:lumOff val="50000"/>
                            </a:schemeClr>
                          </a:solidFill>
                          <a:latin typeface="Cambria Math" panose="02040503050406030204" pitchFamily="18" charset="0"/>
                        </a:rPr>
                        <m:t>687</m:t>
                      </m:r>
                    </m:oMath>
                  </m:oMathPara>
                </a14:m>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43" name="TextBox 42">
                <a:extLst>
                  <a:ext uri="{FF2B5EF4-FFF2-40B4-BE49-F238E27FC236}">
                    <a16:creationId xmlns:a16="http://schemas.microsoft.com/office/drawing/2014/main" id="{4FDB60B0-E5A2-92AE-A51E-09CE549452E9}"/>
                  </a:ext>
                </a:extLst>
              </p:cNvPr>
              <p:cNvSpPr txBox="1">
                <a:spLocks noRot="1" noChangeAspect="1" noMove="1" noResize="1" noEditPoints="1" noAdjustHandles="1" noChangeArrowheads="1" noChangeShapeType="1" noTextEdit="1"/>
              </p:cNvSpPr>
              <p:nvPr/>
            </p:nvSpPr>
            <p:spPr>
              <a:xfrm>
                <a:off x="6728497" y="1691945"/>
                <a:ext cx="1339179" cy="261610"/>
              </a:xfrm>
              <a:prstGeom prst="rect">
                <a:avLst/>
              </a:prstGeom>
              <a:blipFill>
                <a:blip r:embed="rId8"/>
                <a:stretch>
                  <a:fillRect/>
                </a:stretch>
              </a:blipFill>
            </p:spPr>
            <p:txBody>
              <a:bodyPr/>
              <a:lstStyle/>
              <a:p>
                <a:r>
                  <a:rPr lang="en-US">
                    <a:noFill/>
                  </a:rPr>
                  <a:t> </a:t>
                </a:r>
              </a:p>
            </p:txBody>
          </p:sp>
        </mc:Fallback>
      </mc:AlternateContent>
      <p:sp>
        <p:nvSpPr>
          <p:cNvPr id="46" name="TextBox 45">
            <a:extLst>
              <a:ext uri="{FF2B5EF4-FFF2-40B4-BE49-F238E27FC236}">
                <a16:creationId xmlns:a16="http://schemas.microsoft.com/office/drawing/2014/main" id="{AC215CCA-822B-759A-00EA-396D4D81A25A}"/>
              </a:ext>
            </a:extLst>
          </p:cNvPr>
          <p:cNvSpPr txBox="1"/>
          <p:nvPr/>
        </p:nvSpPr>
        <p:spPr>
          <a:xfrm>
            <a:off x="6966719" y="1074737"/>
            <a:ext cx="2976799" cy="323165"/>
          </a:xfrm>
          <a:prstGeom prst="rect">
            <a:avLst/>
          </a:prstGeom>
          <a:noFill/>
        </p:spPr>
        <p:txBody>
          <a:bodyPr wrap="square" rtlCol="0">
            <a:spAutoFit/>
          </a:bodyPr>
          <a:lstStyle/>
          <a:p>
            <a:pPr algn="just"/>
            <a:r>
              <a:rPr lang="vi-VN" sz="1500" b="1">
                <a:solidFill>
                  <a:srgbClr val="003366"/>
                </a:solidFill>
                <a:latin typeface="Times New Roman" panose="02020603050405020304" pitchFamily="18" charset="0"/>
                <a:cs typeface="Times New Roman" panose="02020603050405020304" pitchFamily="18" charset="0"/>
              </a:rPr>
              <a:t>Các kết quả hồi quy</a:t>
            </a:r>
            <a:endParaRPr lang="en-US" sz="1500" b="1">
              <a:solidFill>
                <a:srgbClr val="003366"/>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B4E9049-1EED-4660-C825-A7B609B0D1D4}"/>
                  </a:ext>
                </a:extLst>
              </p:cNvPr>
              <p:cNvSpPr txBox="1"/>
              <p:nvPr/>
            </p:nvSpPr>
            <p:spPr>
              <a:xfrm>
                <a:off x="9379063" y="1973936"/>
                <a:ext cx="1103510" cy="261610"/>
              </a:xfrm>
              <a:prstGeom prst="rect">
                <a:avLst/>
              </a:prstGeom>
              <a:noFill/>
            </p:spPr>
            <p:txBody>
              <a:bodyPr wrap="square" rtlCol="0">
                <a:spAutoFit/>
              </a:bodyPr>
              <a:lstStyle>
                <a:defPPr marR="0" lvl="0" algn="l" rtl="0">
                  <a:lnSpc>
                    <a:spcPct val="100000"/>
                  </a:lnSpc>
                  <a:spcBef>
                    <a:spcPts val="0"/>
                  </a:spcBef>
                  <a:spcAft>
                    <a:spcPts val="0"/>
                  </a:spcAft>
                </a:defPPr>
                <a:lvl1pPr>
                  <a:defRPr sz="1100" i="1">
                    <a:solidFill>
                      <a:schemeClr val="bg1">
                        <a:lumMod val="65000"/>
                      </a:schemeClr>
                    </a:solidFill>
                    <a:latin typeface="Roboto Medium"/>
                    <a:ea typeface="Roboto Medium"/>
                    <a:cs typeface="Roboto Medium"/>
                  </a:defRPr>
                </a:lvl1pPr>
              </a:lstStyle>
              <a:p>
                <a:pPr algn="just"/>
                <a14:m>
                  <m:oMathPara xmlns:m="http://schemas.openxmlformats.org/officeDocument/2006/math">
                    <m:oMathParaPr>
                      <m:jc m:val="centerGroup"/>
                    </m:oMathParaPr>
                    <m:oMath xmlns:m="http://schemas.openxmlformats.org/officeDocument/2006/math">
                      <m:r>
                        <a:rPr lang="vi-VN" b="0" i="1" smtClean="0">
                          <a:solidFill>
                            <a:schemeClr val="tx1">
                              <a:lumMod val="50000"/>
                              <a:lumOff val="50000"/>
                            </a:schemeClr>
                          </a:solidFill>
                          <a:latin typeface="Cambria Math" panose="02040503050406030204" pitchFamily="18" charset="0"/>
                        </a:rPr>
                        <m:t>𝑃</m:t>
                      </m:r>
                      <m:r>
                        <a:rPr lang="vi-VN" b="0" i="1" smtClean="0">
                          <a:solidFill>
                            <a:schemeClr val="tx1">
                              <a:lumMod val="50000"/>
                              <a:lumOff val="50000"/>
                            </a:schemeClr>
                          </a:solidFill>
                          <a:latin typeface="Cambria Math" panose="02040503050406030204" pitchFamily="18" charset="0"/>
                        </a:rPr>
                        <m:t>_</m:t>
                      </m:r>
                      <m:r>
                        <a:rPr lang="vi-VN" b="0" i="1" smtClean="0">
                          <a:solidFill>
                            <a:schemeClr val="tx1">
                              <a:lumMod val="50000"/>
                              <a:lumOff val="50000"/>
                            </a:schemeClr>
                          </a:solidFill>
                          <a:latin typeface="Cambria Math" panose="02040503050406030204" pitchFamily="18" charset="0"/>
                        </a:rPr>
                        <m:t>𝑣𝑎𝑙𝑢𝑒</m:t>
                      </m:r>
                      <m:r>
                        <m:rPr>
                          <m:nor/>
                        </m:rPr>
                        <a:rPr lang="vi-VN">
                          <a:solidFill>
                            <a:schemeClr val="tx1">
                              <a:lumMod val="50000"/>
                              <a:lumOff val="50000"/>
                            </a:schemeClr>
                          </a:solidFill>
                          <a:latin typeface="Times New Roman" panose="02020603050405020304" pitchFamily="18" charset="0"/>
                          <a:cs typeface="Times New Roman" panose="02020603050405020304" pitchFamily="18" charset="0"/>
                        </a:rPr>
                        <m:t> </m:t>
                      </m:r>
                      <m:r>
                        <a:rPr lang="vi-VN" b="0" i="1">
                          <a:solidFill>
                            <a:schemeClr val="tx1">
                              <a:lumMod val="50000"/>
                              <a:lumOff val="50000"/>
                            </a:schemeClr>
                          </a:solidFill>
                          <a:latin typeface="Cambria Math" panose="02040503050406030204" pitchFamily="18" charset="0"/>
                        </a:rPr>
                        <m:t>≈</m:t>
                      </m:r>
                      <m:r>
                        <m:rPr>
                          <m:nor/>
                        </m:rPr>
                        <a:rPr lang="en-US">
                          <a:solidFill>
                            <a:schemeClr val="tx1">
                              <a:lumMod val="50000"/>
                              <a:lumOff val="50000"/>
                            </a:schemeClr>
                          </a:solidFill>
                          <a:latin typeface="Times New Roman" panose="02020603050405020304" pitchFamily="18" charset="0"/>
                          <a:cs typeface="Times New Roman" panose="02020603050405020304" pitchFamily="18" charset="0"/>
                        </a:rPr>
                        <m:t>0</m:t>
                      </m:r>
                    </m:oMath>
                  </m:oMathPara>
                </a14:m>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7B4E9049-1EED-4660-C825-A7B609B0D1D4}"/>
                  </a:ext>
                </a:extLst>
              </p:cNvPr>
              <p:cNvSpPr txBox="1">
                <a:spLocks noRot="1" noChangeAspect="1" noMove="1" noResize="1" noEditPoints="1" noAdjustHandles="1" noChangeArrowheads="1" noChangeShapeType="1" noTextEdit="1"/>
              </p:cNvSpPr>
              <p:nvPr/>
            </p:nvSpPr>
            <p:spPr>
              <a:xfrm>
                <a:off x="9379063" y="1973936"/>
                <a:ext cx="1103510" cy="2616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FE159D5-1F58-9DF9-93C8-DE955DB02503}"/>
                  </a:ext>
                </a:extLst>
              </p:cNvPr>
              <p:cNvSpPr txBox="1"/>
              <p:nvPr/>
            </p:nvSpPr>
            <p:spPr>
              <a:xfrm>
                <a:off x="9324824" y="1374829"/>
                <a:ext cx="2510602" cy="261610"/>
              </a:xfrm>
              <a:prstGeom prst="rect">
                <a:avLst/>
              </a:prstGeom>
              <a:noFill/>
            </p:spPr>
            <p:txBody>
              <a:bodyPr wrap="square" rtlCol="0">
                <a:spAutoFit/>
              </a:bodyPr>
              <a:lstStyle>
                <a:defPPr marR="0" lvl="0" algn="l" rtl="0">
                  <a:lnSpc>
                    <a:spcPct val="100000"/>
                  </a:lnSpc>
                  <a:spcBef>
                    <a:spcPts val="0"/>
                  </a:spcBef>
                  <a:spcAft>
                    <a:spcPts val="0"/>
                  </a:spcAft>
                </a:defPPr>
                <a:lvl1pPr>
                  <a:defRPr sz="1100" i="1">
                    <a:solidFill>
                      <a:schemeClr val="bg1">
                        <a:lumMod val="65000"/>
                      </a:schemeClr>
                    </a:solidFill>
                    <a:latin typeface="Roboto Medium"/>
                    <a:ea typeface="Roboto Medium"/>
                    <a:cs typeface="Roboto Medium"/>
                  </a:defRPr>
                </a:lvl1pPr>
              </a:lstStyle>
              <a:p>
                <a:pPr algn="just"/>
                <a14:m>
                  <m:oMathPara xmlns:m="http://schemas.openxmlformats.org/officeDocument/2006/math">
                    <m:oMathParaPr>
                      <m:jc m:val="centerGroup"/>
                    </m:oMathParaPr>
                    <m:oMath xmlns:m="http://schemas.openxmlformats.org/officeDocument/2006/math">
                      <m:r>
                        <a:rPr lang="vi-VN" smtClean="0">
                          <a:solidFill>
                            <a:schemeClr val="tx1">
                              <a:lumMod val="50000"/>
                              <a:lumOff val="50000"/>
                            </a:schemeClr>
                          </a:solidFill>
                          <a:latin typeface="Cambria Math" panose="02040503050406030204" pitchFamily="18" charset="0"/>
                        </a:rPr>
                        <m:t>𝐷</m:t>
                      </m:r>
                      <m:r>
                        <m:rPr>
                          <m:nor/>
                        </m:rPr>
                        <a:rPr lang="vi-VN">
                          <a:solidFill>
                            <a:schemeClr val="tx1">
                              <a:lumMod val="50000"/>
                              <a:lumOff val="50000"/>
                            </a:schemeClr>
                          </a:solidFill>
                          <a:latin typeface="Times New Roman" panose="02020603050405020304" pitchFamily="18" charset="0"/>
                          <a:cs typeface="Times New Roman" panose="02020603050405020304" pitchFamily="18" charset="0"/>
                        </a:rPr>
                        <m:t>.</m:t>
                      </m:r>
                      <m:r>
                        <a:rPr lang="vi-VN">
                          <a:solidFill>
                            <a:schemeClr val="tx1">
                              <a:lumMod val="50000"/>
                              <a:lumOff val="50000"/>
                            </a:schemeClr>
                          </a:solidFill>
                          <a:latin typeface="Cambria Math" panose="02040503050406030204" pitchFamily="18" charset="0"/>
                        </a:rPr>
                        <m:t>𝐾𝑖𝑛h𝑇𝑒</m:t>
                      </m:r>
                      <m:r>
                        <m:rPr>
                          <m:nor/>
                        </m:rPr>
                        <a:rPr lang="vi-VN" b="0" smtClean="0">
                          <a:solidFill>
                            <a:schemeClr val="tx1">
                              <a:lumMod val="50000"/>
                              <a:lumOff val="50000"/>
                            </a:schemeClr>
                          </a:solidFill>
                          <a:latin typeface="Times New Roman" panose="02020603050405020304" pitchFamily="18" charset="0"/>
                          <a:cs typeface="Times New Roman" panose="02020603050405020304" pitchFamily="18" charset="0"/>
                        </a:rPr>
                        <m:t>=</m:t>
                      </m:r>
                      <m:r>
                        <a:rPr lang="vi-VN">
                          <a:solidFill>
                            <a:schemeClr val="tx1">
                              <a:lumMod val="50000"/>
                              <a:lumOff val="50000"/>
                            </a:schemeClr>
                          </a:solidFill>
                          <a:latin typeface="Cambria Math" panose="02040503050406030204" pitchFamily="18" charset="0"/>
                          <a:cs typeface="Times New Roman" panose="02020603050405020304" pitchFamily="18" charset="0"/>
                        </a:rPr>
                        <m:t>0</m:t>
                      </m:r>
                      <m:r>
                        <a:rPr lang="vi-VN" b="0" i="1" smtClean="0">
                          <a:solidFill>
                            <a:schemeClr val="tx1">
                              <a:lumMod val="50000"/>
                              <a:lumOff val="50000"/>
                            </a:schemeClr>
                          </a:solidFill>
                          <a:latin typeface="Cambria Math" panose="02040503050406030204" pitchFamily="18" charset="0"/>
                          <a:cs typeface="Times New Roman" panose="02020603050405020304" pitchFamily="18" charset="0"/>
                        </a:rPr>
                        <m:t>,</m:t>
                      </m:r>
                      <m:r>
                        <a:rPr lang="vi-VN" smtClean="0">
                          <a:solidFill>
                            <a:schemeClr val="tx1">
                              <a:lumMod val="50000"/>
                              <a:lumOff val="50000"/>
                            </a:schemeClr>
                          </a:solidFill>
                          <a:latin typeface="Cambria Math" panose="02040503050406030204" pitchFamily="18" charset="0"/>
                          <a:cs typeface="Times New Roman" panose="02020603050405020304" pitchFamily="18" charset="0"/>
                        </a:rPr>
                        <m:t>7576</m:t>
                      </m:r>
                      <m:r>
                        <a:rPr lang="vi-VN" b="0" i="1" smtClean="0">
                          <a:solidFill>
                            <a:schemeClr val="tx1">
                              <a:lumMod val="50000"/>
                              <a:lumOff val="50000"/>
                            </a:schemeClr>
                          </a:solidFill>
                          <a:latin typeface="Cambria Math" panose="02040503050406030204" pitchFamily="18" charset="0"/>
                          <a:cs typeface="Times New Roman" panose="02020603050405020304" pitchFamily="18" charset="0"/>
                        </a:rPr>
                        <m:t>. </m:t>
                      </m:r>
                      <m:r>
                        <a:rPr lang="vi-VN">
                          <a:solidFill>
                            <a:schemeClr val="tx1">
                              <a:lumMod val="50000"/>
                              <a:lumOff val="50000"/>
                            </a:schemeClr>
                          </a:solidFill>
                          <a:latin typeface="Cambria Math" panose="02040503050406030204" pitchFamily="18" charset="0"/>
                        </a:rPr>
                        <m:t>𝐷</m:t>
                      </m:r>
                      <m:r>
                        <m:rPr>
                          <m:nor/>
                        </m:rPr>
                        <a:rPr lang="vi-VN">
                          <a:solidFill>
                            <a:schemeClr val="tx1">
                              <a:lumMod val="50000"/>
                              <a:lumOff val="50000"/>
                            </a:schemeClr>
                          </a:solidFill>
                          <a:latin typeface="Times New Roman" panose="02020603050405020304" pitchFamily="18" charset="0"/>
                          <a:cs typeface="Times New Roman" panose="02020603050405020304" pitchFamily="18" charset="0"/>
                        </a:rPr>
                        <m:t>.</m:t>
                      </m:r>
                      <m:r>
                        <a:rPr lang="vi-VN">
                          <a:solidFill>
                            <a:schemeClr val="tx1">
                              <a:lumMod val="50000"/>
                              <a:lumOff val="50000"/>
                            </a:schemeClr>
                          </a:solidFill>
                          <a:latin typeface="Cambria Math" panose="02040503050406030204" pitchFamily="18" charset="0"/>
                        </a:rPr>
                        <m:t>𝐾𝑖𝑇h𝑢𝑎𝑡</m:t>
                      </m:r>
                      <m:r>
                        <m:rPr>
                          <m:nor/>
                        </m:rPr>
                        <a:rPr lang="vi-VN" b="0" smtClean="0">
                          <a:solidFill>
                            <a:schemeClr val="tx1">
                              <a:lumMod val="50000"/>
                              <a:lumOff val="50000"/>
                            </a:schemeClr>
                          </a:solidFill>
                          <a:latin typeface="Times New Roman" panose="02020603050405020304" pitchFamily="18" charset="0"/>
                          <a:cs typeface="Times New Roman" panose="02020603050405020304" pitchFamily="18" charset="0"/>
                        </a:rPr>
                        <m:t>. +</m:t>
                      </m:r>
                      <m:r>
                        <m:rPr>
                          <m:nor/>
                        </m:rPr>
                        <a:rPr lang="vi-VN">
                          <a:solidFill>
                            <a:schemeClr val="tx1">
                              <a:lumMod val="50000"/>
                              <a:lumOff val="50000"/>
                            </a:schemeClr>
                          </a:solidFill>
                          <a:latin typeface="Times New Roman" panose="02020603050405020304" pitchFamily="18" charset="0"/>
                          <a:cs typeface="Times New Roman" panose="02020603050405020304" pitchFamily="18" charset="0"/>
                        </a:rPr>
                        <m:t> </m:t>
                      </m:r>
                      <m:r>
                        <a:rPr lang="vi-VN" i="1" smtClean="0">
                          <a:solidFill>
                            <a:schemeClr val="tx1">
                              <a:lumMod val="50000"/>
                              <a:lumOff val="50000"/>
                            </a:schemeClr>
                          </a:solidFill>
                          <a:latin typeface="Cambria Math" panose="02040503050406030204" pitchFamily="18" charset="0"/>
                          <a:ea typeface="Cambria Math" panose="02040503050406030204" pitchFamily="18" charset="0"/>
                        </a:rPr>
                        <m:t>𝜀</m:t>
                      </m:r>
                    </m:oMath>
                  </m:oMathPara>
                </a14:m>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3FE159D5-1F58-9DF9-93C8-DE955DB02503}"/>
                  </a:ext>
                </a:extLst>
              </p:cNvPr>
              <p:cNvSpPr txBox="1">
                <a:spLocks noRot="1" noChangeAspect="1" noMove="1" noResize="1" noEditPoints="1" noAdjustHandles="1" noChangeArrowheads="1" noChangeShapeType="1" noTextEdit="1"/>
              </p:cNvSpPr>
              <p:nvPr/>
            </p:nvSpPr>
            <p:spPr>
              <a:xfrm>
                <a:off x="9324824" y="1374829"/>
                <a:ext cx="2510602" cy="26161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51A6732-DE42-8B25-C93D-DE52EB498DC1}"/>
                  </a:ext>
                </a:extLst>
              </p:cNvPr>
              <p:cNvSpPr txBox="1"/>
              <p:nvPr/>
            </p:nvSpPr>
            <p:spPr>
              <a:xfrm>
                <a:off x="9220622" y="1691945"/>
                <a:ext cx="1339179" cy="261610"/>
              </a:xfrm>
              <a:prstGeom prst="rect">
                <a:avLst/>
              </a:prstGeom>
              <a:noFill/>
            </p:spPr>
            <p:txBody>
              <a:bodyPr wrap="square" rtlCol="0">
                <a:spAutoFit/>
              </a:bodyPr>
              <a:lstStyle>
                <a:defPPr marR="0" lvl="0" algn="l" rtl="0">
                  <a:lnSpc>
                    <a:spcPct val="100000"/>
                  </a:lnSpc>
                  <a:spcBef>
                    <a:spcPts val="0"/>
                  </a:spcBef>
                  <a:spcAft>
                    <a:spcPts val="0"/>
                  </a:spcAft>
                </a:defPPr>
                <a:lvl1pPr>
                  <a:defRPr sz="1100" i="1">
                    <a:solidFill>
                      <a:schemeClr val="bg1">
                        <a:lumMod val="65000"/>
                      </a:schemeClr>
                    </a:solidFill>
                    <a:latin typeface="Roboto Medium"/>
                    <a:ea typeface="Roboto Medium"/>
                    <a:cs typeface="Roboto Medium"/>
                  </a:defRPr>
                </a:lvl1pPr>
              </a:lstStyle>
              <a:p>
                <a:pPr algn="just"/>
                <a14:m>
                  <m:oMathPara xmlns:m="http://schemas.openxmlformats.org/officeDocument/2006/math">
                    <m:oMathParaPr>
                      <m:jc m:val="centerGroup"/>
                    </m:oMathParaPr>
                    <m:oMath xmlns:m="http://schemas.openxmlformats.org/officeDocument/2006/math">
                      <m:sSup>
                        <m:sSupPr>
                          <m:ctrlPr>
                            <a:rPr lang="vi-VN" b="0" i="1" smtClean="0">
                              <a:solidFill>
                                <a:schemeClr val="tx1">
                                  <a:lumMod val="50000"/>
                                  <a:lumOff val="50000"/>
                                </a:schemeClr>
                              </a:solidFill>
                              <a:latin typeface="Cambria Math" panose="02040503050406030204" pitchFamily="18" charset="0"/>
                            </a:rPr>
                          </m:ctrlPr>
                        </m:sSupPr>
                        <m:e>
                          <m:r>
                            <a:rPr lang="en-US" b="0" i="1" smtClean="0">
                              <a:solidFill>
                                <a:schemeClr val="tx1">
                                  <a:lumMod val="50000"/>
                                  <a:lumOff val="50000"/>
                                </a:schemeClr>
                              </a:solidFill>
                              <a:latin typeface="Cambria Math" panose="02040503050406030204" pitchFamily="18" charset="0"/>
                            </a:rPr>
                            <m:t>𝑅</m:t>
                          </m:r>
                        </m:e>
                        <m:sup>
                          <m:r>
                            <a:rPr lang="en-US" b="0" i="1" smtClean="0">
                              <a:solidFill>
                                <a:schemeClr val="tx1">
                                  <a:lumMod val="50000"/>
                                  <a:lumOff val="50000"/>
                                </a:schemeClr>
                              </a:solidFill>
                              <a:latin typeface="Cambria Math" panose="02040503050406030204" pitchFamily="18" charset="0"/>
                            </a:rPr>
                            <m:t>2</m:t>
                          </m:r>
                        </m:sup>
                      </m:sSup>
                      <m:r>
                        <a:rPr lang="en-US" b="0" i="1" smtClean="0">
                          <a:solidFill>
                            <a:schemeClr val="tx1">
                              <a:lumMod val="50000"/>
                              <a:lumOff val="50000"/>
                            </a:schemeClr>
                          </a:solidFill>
                          <a:latin typeface="Cambria Math" panose="02040503050406030204" pitchFamily="18" charset="0"/>
                        </a:rPr>
                        <m:t>=</m:t>
                      </m:r>
                      <m:r>
                        <a:rPr lang="vi-VN">
                          <a:solidFill>
                            <a:schemeClr val="tx1">
                              <a:lumMod val="50000"/>
                              <a:lumOff val="50000"/>
                            </a:schemeClr>
                          </a:solidFill>
                          <a:latin typeface="Cambria Math" panose="02040503050406030204" pitchFamily="18" charset="0"/>
                        </a:rPr>
                        <m:t>0</m:t>
                      </m:r>
                      <m:r>
                        <a:rPr lang="vi-VN" b="0" i="1" smtClean="0">
                          <a:solidFill>
                            <a:schemeClr val="tx1">
                              <a:lumMod val="50000"/>
                              <a:lumOff val="50000"/>
                            </a:schemeClr>
                          </a:solidFill>
                          <a:latin typeface="Cambria Math" panose="02040503050406030204" pitchFamily="18" charset="0"/>
                        </a:rPr>
                        <m:t>,</m:t>
                      </m:r>
                      <m:r>
                        <a:rPr lang="en-US">
                          <a:solidFill>
                            <a:schemeClr val="tx1">
                              <a:lumMod val="50000"/>
                              <a:lumOff val="50000"/>
                            </a:schemeClr>
                          </a:solidFill>
                          <a:latin typeface="Cambria Math" panose="02040503050406030204" pitchFamily="18" charset="0"/>
                        </a:rPr>
                        <m:t>687</m:t>
                      </m:r>
                    </m:oMath>
                  </m:oMathPara>
                </a14:m>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251A6732-DE42-8B25-C93D-DE52EB498DC1}"/>
                  </a:ext>
                </a:extLst>
              </p:cNvPr>
              <p:cNvSpPr txBox="1">
                <a:spLocks noRot="1" noChangeAspect="1" noMove="1" noResize="1" noEditPoints="1" noAdjustHandles="1" noChangeArrowheads="1" noChangeShapeType="1" noTextEdit="1"/>
              </p:cNvSpPr>
              <p:nvPr/>
            </p:nvSpPr>
            <p:spPr>
              <a:xfrm>
                <a:off x="9220622" y="1691945"/>
                <a:ext cx="1339179" cy="261610"/>
              </a:xfrm>
              <a:prstGeom prst="rect">
                <a:avLst/>
              </a:prstGeom>
              <a:blipFill>
                <a:blip r:embed="rId8"/>
                <a:stretch>
                  <a:fillRect/>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28A5881D-3780-E54F-92E9-AF98B04C7E19}"/>
              </a:ext>
            </a:extLst>
          </p:cNvPr>
          <p:cNvCxnSpPr>
            <a:cxnSpLocks/>
          </p:cNvCxnSpPr>
          <p:nvPr/>
        </p:nvCxnSpPr>
        <p:spPr>
          <a:xfrm>
            <a:off x="9321889" y="1397902"/>
            <a:ext cx="0" cy="762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415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0CBD74B2-0D19-84BF-9088-7A2081AE6872}"/>
              </a:ext>
            </a:extLst>
          </p:cNvPr>
          <p:cNvSpPr/>
          <p:nvPr/>
        </p:nvSpPr>
        <p:spPr>
          <a:xfrm>
            <a:off x="766300" y="1553497"/>
            <a:ext cx="10717777" cy="2087891"/>
          </a:xfrm>
          <a:prstGeom prst="roundRect">
            <a:avLst>
              <a:gd name="adj" fmla="val 4423"/>
            </a:avLst>
          </a:prstGeom>
          <a:solidFill>
            <a:srgbClr val="1E3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Google Shape;90;p13"/>
          <p:cNvSpPr txBox="1"/>
          <p:nvPr/>
        </p:nvSpPr>
        <p:spPr>
          <a:xfrm>
            <a:off x="1061576" y="3966050"/>
            <a:ext cx="10391775" cy="307777"/>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None/>
            </a:pPr>
            <a:r>
              <a:rPr lang="vi-VN" sz="2000" b="1">
                <a:solidFill>
                  <a:srgbClr val="1E3A8A"/>
                </a:solidFill>
                <a:latin typeface="Times New Roman" panose="02020603050405020304" pitchFamily="18" charset="0"/>
                <a:cs typeface="Times New Roman" panose="02020603050405020304" pitchFamily="18" charset="0"/>
              </a:rPr>
              <a:t>Nguyên nhân gây ra sự mất cân bằng</a:t>
            </a:r>
            <a:endParaRPr sz="2000" b="1">
              <a:solidFill>
                <a:srgbClr val="1E3A8A"/>
              </a:solidFill>
              <a:latin typeface="Times New Roman" panose="02020603050405020304" pitchFamily="18" charset="0"/>
              <a:cs typeface="Times New Roman" panose="02020603050405020304" pitchFamily="18" charset="0"/>
            </a:endParaRPr>
          </a:p>
        </p:txBody>
      </p:sp>
      <p:sp>
        <p:nvSpPr>
          <p:cNvPr id="96" name="Google Shape;96;p13"/>
          <p:cNvSpPr txBox="1"/>
          <p:nvPr/>
        </p:nvSpPr>
        <p:spPr>
          <a:xfrm>
            <a:off x="870926" y="4501743"/>
            <a:ext cx="2870150" cy="3200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lnSpc>
                <a:spcPct val="129925"/>
              </a:lnSpc>
              <a:buNone/>
              <a:defRPr sz="1350" b="1">
                <a:solidFill>
                  <a:srgbClr val="0F172A"/>
                </a:solidFill>
                <a:latin typeface="Times New Roman" panose="02020603050405020304" pitchFamily="18" charset="0"/>
                <a:ea typeface="Montserrat"/>
                <a:cs typeface="Times New Roman" panose="02020603050405020304" pitchFamily="18" charset="0"/>
              </a:defRPr>
            </a:lvl1pPr>
          </a:lstStyle>
          <a:p>
            <a:pPr algn="just"/>
            <a:r>
              <a:rPr lang="vi-VN" sz="1600"/>
              <a:t>Sự phát triển của AI</a:t>
            </a:r>
            <a:endParaRPr sz="1600"/>
          </a:p>
        </p:txBody>
      </p:sp>
      <p:sp>
        <p:nvSpPr>
          <p:cNvPr id="97" name="Google Shape;97;p13"/>
          <p:cNvSpPr txBox="1"/>
          <p:nvPr/>
        </p:nvSpPr>
        <p:spPr>
          <a:xfrm>
            <a:off x="832976" y="4852416"/>
            <a:ext cx="2973488" cy="1034129"/>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vi-VN">
                <a:solidFill>
                  <a:srgbClr val="475569"/>
                </a:solidFill>
                <a:latin typeface="Times New Roman" panose="02020603050405020304" pitchFamily="18" charset="0"/>
                <a:ea typeface="Roboto"/>
                <a:cs typeface="Times New Roman" panose="02020603050405020304" pitchFamily="18" charset="0"/>
              </a:rPr>
              <a:t>Công cụ AI giải quyết tốt bài kỹ thuật, trong khi bài kinh tế đòi hỏi tư duy phân tích sâu hơn.</a:t>
            </a:r>
            <a:endParaRPr>
              <a:solidFill>
                <a:srgbClr val="475569"/>
              </a:solidFill>
              <a:latin typeface="Times New Roman" panose="02020603050405020304" pitchFamily="18" charset="0"/>
              <a:ea typeface="Roboto"/>
              <a:cs typeface="Times New Roman" panose="02020603050405020304" pitchFamily="18" charset="0"/>
            </a:endParaRPr>
          </a:p>
        </p:txBody>
      </p:sp>
      <p:sp>
        <p:nvSpPr>
          <p:cNvPr id="99" name="Google Shape;99;p13"/>
          <p:cNvSpPr txBox="1"/>
          <p:nvPr/>
        </p:nvSpPr>
        <p:spPr>
          <a:xfrm>
            <a:off x="4503226" y="4501743"/>
            <a:ext cx="3117800" cy="640175"/>
          </a:xfrm>
          <a:prstGeom prst="rect">
            <a:avLst/>
          </a:prstGeom>
          <a:noFill/>
          <a:ln>
            <a:noFill/>
          </a:ln>
        </p:spPr>
        <p:txBody>
          <a:bodyPr spcFirstLastPara="1" wrap="square" lIns="0" tIns="0" rIns="0" bIns="0" anchor="t" anchorCtr="0">
            <a:spAutoFit/>
          </a:bodyPr>
          <a:lstStyle/>
          <a:p>
            <a:pPr marL="0" marR="0" lvl="0" indent="0" algn="just" rtl="0">
              <a:lnSpc>
                <a:spcPct val="129925"/>
              </a:lnSpc>
              <a:spcBef>
                <a:spcPts val="0"/>
              </a:spcBef>
              <a:spcAft>
                <a:spcPts val="0"/>
              </a:spcAft>
              <a:buNone/>
            </a:pPr>
            <a:r>
              <a:rPr lang="vi-VN" sz="160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Bản chất ngành Khoa học dữ liệu trong kinh doanh</a:t>
            </a:r>
            <a:endParaRPr sz="1800">
              <a:latin typeface="Times New Roman" panose="02020603050405020304" pitchFamily="18" charset="0"/>
              <a:cs typeface="Times New Roman" panose="02020603050405020304" pitchFamily="18" charset="0"/>
            </a:endParaRPr>
          </a:p>
        </p:txBody>
      </p:sp>
      <p:sp>
        <p:nvSpPr>
          <p:cNvPr id="102" name="Google Shape;102;p13"/>
          <p:cNvSpPr txBox="1"/>
          <p:nvPr/>
        </p:nvSpPr>
        <p:spPr>
          <a:xfrm>
            <a:off x="8135377" y="4501743"/>
            <a:ext cx="2870150" cy="320088"/>
          </a:xfrm>
          <a:prstGeom prst="rect">
            <a:avLst/>
          </a:prstGeom>
          <a:noFill/>
          <a:ln>
            <a:noFill/>
          </a:ln>
        </p:spPr>
        <p:txBody>
          <a:bodyPr spcFirstLastPara="1" wrap="square" lIns="0" tIns="0" rIns="0" bIns="0" anchor="t" anchorCtr="0">
            <a:spAutoFit/>
          </a:bodyPr>
          <a:lstStyle/>
          <a:p>
            <a:pPr marL="0" marR="0" lvl="0" indent="0" algn="just" rtl="0">
              <a:lnSpc>
                <a:spcPct val="129925"/>
              </a:lnSpc>
              <a:spcBef>
                <a:spcPts val="0"/>
              </a:spcBef>
              <a:spcAft>
                <a:spcPts val="0"/>
              </a:spcAft>
              <a:buNone/>
            </a:pPr>
            <a:r>
              <a:rPr lang="vi-VN" sz="1600" b="1">
                <a:solidFill>
                  <a:srgbClr val="0F172A"/>
                </a:solidFill>
                <a:latin typeface="Times New Roman" panose="02020603050405020304" pitchFamily="18" charset="0"/>
                <a:ea typeface="Montserrat"/>
                <a:cs typeface="Times New Roman" panose="02020603050405020304" pitchFamily="18" charset="0"/>
                <a:sym typeface="Montserrat"/>
              </a:rPr>
              <a:t>Do các yếu tố khách quan khác</a:t>
            </a:r>
            <a:endParaRPr sz="1800">
              <a:latin typeface="Times New Roman" panose="02020603050405020304" pitchFamily="18" charset="0"/>
              <a:cs typeface="Times New Roman" panose="02020603050405020304" pitchFamily="18" charset="0"/>
            </a:endParaRPr>
          </a:p>
        </p:txBody>
      </p:sp>
      <p:sp>
        <p:nvSpPr>
          <p:cNvPr id="103" name="Google Shape;103;p13"/>
          <p:cNvSpPr txBox="1"/>
          <p:nvPr/>
        </p:nvSpPr>
        <p:spPr>
          <a:xfrm>
            <a:off x="8135377" y="4846410"/>
            <a:ext cx="3089224" cy="1034129"/>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vi-VN">
                <a:solidFill>
                  <a:srgbClr val="475569"/>
                </a:solidFill>
                <a:latin typeface="Times New Roman" panose="02020603050405020304" pitchFamily="18" charset="0"/>
                <a:ea typeface="Roboto"/>
                <a:cs typeface="Times New Roman" panose="02020603050405020304" pitchFamily="18" charset="0"/>
              </a:rPr>
              <a:t>Trình độ giảng viên, tính chất đề thi, và năng lực đầu vào của sinh viên đều tạo ra sự chênh lệch.</a:t>
            </a:r>
            <a:endParaRPr>
              <a:solidFill>
                <a:srgbClr val="475569"/>
              </a:solidFill>
              <a:latin typeface="Times New Roman" panose="02020603050405020304" pitchFamily="18" charset="0"/>
              <a:ea typeface="Roboto"/>
              <a:cs typeface="Times New Roman" panose="02020603050405020304" pitchFamily="18" charset="0"/>
            </a:endParaRPr>
          </a:p>
        </p:txBody>
      </p:sp>
      <p:sp>
        <p:nvSpPr>
          <p:cNvPr id="107" name="Google Shape;107;p13"/>
          <p:cNvSpPr txBox="1"/>
          <p:nvPr/>
        </p:nvSpPr>
        <p:spPr>
          <a:xfrm>
            <a:off x="866239" y="1816317"/>
            <a:ext cx="10391774" cy="180049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lnSpc>
                <a:spcPct val="139948"/>
              </a:lnSpc>
              <a:buNone/>
              <a:defRPr sz="1950">
                <a:solidFill>
                  <a:srgbClr val="FFFFFF"/>
                </a:solidFill>
                <a:latin typeface="Montserrat SemiBold"/>
                <a:ea typeface="Montserrat SemiBold"/>
                <a:cs typeface="Montserrat SemiBold"/>
              </a:defRPr>
            </a:lvl1pPr>
          </a:lstStyle>
          <a:p>
            <a:pPr algn="just">
              <a:lnSpc>
                <a:spcPct val="200000"/>
              </a:lnSpc>
            </a:pPr>
            <a:r>
              <a:rPr lang="vi-VN">
                <a:latin typeface="Times New Roman" panose="02020603050405020304" pitchFamily="18" charset="0"/>
                <a:cs typeface="Times New Roman" panose="02020603050405020304" pitchFamily="18" charset="0"/>
                <a:sym typeface="Montserrat SemiBold"/>
              </a:rPr>
              <a:t>Số liệu cho thấy rằng, có tình trạng học lệch nặng giữa Tech và Biz</a:t>
            </a:r>
            <a:r>
              <a:rPr lang="en-US">
                <a:latin typeface="Times New Roman" panose="02020603050405020304" pitchFamily="18" charset="0"/>
                <a:cs typeface="Times New Roman" panose="02020603050405020304" pitchFamily="18" charset="0"/>
                <a:sym typeface="Montserrat SemiBold"/>
              </a:rPr>
              <a:t>.</a:t>
            </a:r>
            <a:r>
              <a:rPr lang="vi-VN">
                <a:latin typeface="Times New Roman" panose="02020603050405020304" pitchFamily="18" charset="0"/>
                <a:cs typeface="Times New Roman" panose="02020603050405020304" pitchFamily="18" charset="0"/>
                <a:sym typeface="Montserrat SemiBold"/>
              </a:rPr>
              <a:t> Tech dường như trở nên đại trà thì Biz trở thành bộ lọc tốt nhất để chọn ra sinh viên ưu tú. Ngoài ra, tư duy kinh doanh có thể mang lại tư duy kỹ thuật tốt.  </a:t>
            </a:r>
            <a:endParaRPr lang="en-US">
              <a:latin typeface="Times New Roman" panose="02020603050405020304" pitchFamily="18" charset="0"/>
              <a:cs typeface="Times New Roman" panose="02020603050405020304" pitchFamily="18" charset="0"/>
            </a:endParaRPr>
          </a:p>
        </p:txBody>
      </p:sp>
      <p:sp>
        <p:nvSpPr>
          <p:cNvPr id="4" name="Google Shape;97;p13">
            <a:extLst>
              <a:ext uri="{FF2B5EF4-FFF2-40B4-BE49-F238E27FC236}">
                <a16:creationId xmlns:a16="http://schemas.microsoft.com/office/drawing/2014/main" id="{587E9771-1551-61F1-46D5-8F049D349CD5}"/>
              </a:ext>
            </a:extLst>
          </p:cNvPr>
          <p:cNvSpPr txBox="1"/>
          <p:nvPr/>
        </p:nvSpPr>
        <p:spPr>
          <a:xfrm>
            <a:off x="4503226" y="5129865"/>
            <a:ext cx="2973488" cy="103412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lnSpc>
                <a:spcPct val="160000"/>
              </a:lnSpc>
              <a:buNone/>
              <a:defRPr sz="1125">
                <a:solidFill>
                  <a:srgbClr val="475569"/>
                </a:solidFill>
                <a:latin typeface="Times New Roman" panose="02020603050405020304" pitchFamily="18" charset="0"/>
                <a:ea typeface="Roboto"/>
                <a:cs typeface="Times New Roman" panose="02020603050405020304" pitchFamily="18" charset="0"/>
              </a:defRPr>
            </a:lvl1pPr>
          </a:lstStyle>
          <a:p>
            <a:pPr algn="just"/>
            <a:r>
              <a:rPr lang="vi-VN" sz="1400"/>
              <a:t>Dù kết hợp Tech + Biz, tâm lý "khoa học dữ liệu" khiến phần kỹ thuật được chú trọng hơn.</a:t>
            </a:r>
          </a:p>
        </p:txBody>
      </p:sp>
      <p:sp>
        <p:nvSpPr>
          <p:cNvPr id="13" name="Google Shape;89;p13">
            <a:extLst>
              <a:ext uri="{FF2B5EF4-FFF2-40B4-BE49-F238E27FC236}">
                <a16:creationId xmlns:a16="http://schemas.microsoft.com/office/drawing/2014/main" id="{8A67D2C5-F921-F00E-F6A0-DC0E96C9A528}"/>
              </a:ext>
            </a:extLst>
          </p:cNvPr>
          <p:cNvSpPr txBox="1"/>
          <p:nvPr/>
        </p:nvSpPr>
        <p:spPr>
          <a:xfrm>
            <a:off x="766300" y="473825"/>
            <a:ext cx="10477500" cy="184666"/>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200" b="1" i="0" u="none" strike="noStrike" cap="none">
                <a:solidFill>
                  <a:srgbClr val="64748B"/>
                </a:solidFill>
                <a:latin typeface="Times New Roman" panose="02020603050405020304" pitchFamily="18" charset="0"/>
                <a:ea typeface="Roboto"/>
                <a:cs typeface="Times New Roman" panose="02020603050405020304" pitchFamily="18" charset="0"/>
                <a:sym typeface="Roboto"/>
              </a:rPr>
              <a:t>Insight Vấn đề 1</a:t>
            </a:r>
            <a:endParaRPr>
              <a:latin typeface="Times New Roman" panose="02020603050405020304" pitchFamily="18" charset="0"/>
              <a:cs typeface="Times New Roman" panose="02020603050405020304" pitchFamily="18" charset="0"/>
            </a:endParaRPr>
          </a:p>
        </p:txBody>
      </p:sp>
      <p:sp>
        <p:nvSpPr>
          <p:cNvPr id="14" name="Google Shape;90;p13">
            <a:extLst>
              <a:ext uri="{FF2B5EF4-FFF2-40B4-BE49-F238E27FC236}">
                <a16:creationId xmlns:a16="http://schemas.microsoft.com/office/drawing/2014/main" id="{339060F0-B18C-3B30-6020-1F9DBE57AEAC}"/>
              </a:ext>
            </a:extLst>
          </p:cNvPr>
          <p:cNvSpPr txBox="1"/>
          <p:nvPr/>
        </p:nvSpPr>
        <p:spPr>
          <a:xfrm>
            <a:off x="756775" y="624796"/>
            <a:ext cx="11001375" cy="55399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3000" b="1" i="0" u="none" strike="noStrike" cap="none">
                <a:solidFill>
                  <a:srgbClr val="0F172A"/>
                </a:solidFill>
                <a:latin typeface="Times New Roman" panose="02020603050405020304" pitchFamily="18" charset="0"/>
                <a:ea typeface="Montserrat ExtraBold"/>
                <a:cs typeface="Times New Roman" panose="02020603050405020304" pitchFamily="18" charset="0"/>
                <a:sym typeface="Montserrat ExtraBold"/>
              </a:rPr>
              <a:t>Học lệch Tech/Biz: </a:t>
            </a:r>
            <a:r>
              <a:rPr lang="en-US" sz="3000" b="1" i="0" u="none" strike="noStrike" cap="none">
                <a:solidFill>
                  <a:srgbClr val="1E3A8A"/>
                </a:solidFill>
                <a:latin typeface="Times New Roman" panose="02020603050405020304" pitchFamily="18" charset="0"/>
                <a:ea typeface="Montserrat ExtraBold"/>
                <a:cs typeface="Times New Roman" panose="02020603050405020304" pitchFamily="18" charset="0"/>
                <a:sym typeface="Montserrat ExtraBold"/>
              </a:rPr>
              <a:t>Biz là bộ lọc</a:t>
            </a:r>
            <a:r>
              <a:rPr lang="en-US" sz="3000" b="1" i="0" u="none" strike="noStrike" cap="none">
                <a:solidFill>
                  <a:srgbClr val="0F172A"/>
                </a:solidFill>
                <a:latin typeface="Times New Roman" panose="02020603050405020304" pitchFamily="18" charset="0"/>
                <a:ea typeface="Montserrat ExtraBold"/>
                <a:cs typeface="Times New Roman" panose="02020603050405020304" pitchFamily="18" charset="0"/>
                <a:sym typeface="Montserrat ExtraBold"/>
              </a:rPr>
              <a:t>, không phải điểm yếu</a:t>
            </a:r>
            <a:endParaRPr b="1">
              <a:latin typeface="Times New Roman" panose="02020603050405020304" pitchFamily="18" charset="0"/>
              <a:cs typeface="Times New Roman" panose="02020603050405020304" pitchFamily="18" charset="0"/>
            </a:endParaRPr>
          </a:p>
        </p:txBody>
      </p:sp>
      <p:pic>
        <p:nvPicPr>
          <p:cNvPr id="16" name="Google Shape;96;p13" descr="image.png">
            <a:extLst>
              <a:ext uri="{FF2B5EF4-FFF2-40B4-BE49-F238E27FC236}">
                <a16:creationId xmlns:a16="http://schemas.microsoft.com/office/drawing/2014/main" id="{619156C2-F3D5-83D1-7B0E-C219DC75204D}"/>
              </a:ext>
            </a:extLst>
          </p:cNvPr>
          <p:cNvPicPr preferRelativeResize="0"/>
          <p:nvPr/>
        </p:nvPicPr>
        <p:blipFill rotWithShape="1">
          <a:blip r:embed="rId3">
            <a:alphaModFix/>
          </a:blip>
          <a:srcRect/>
          <a:stretch/>
        </p:blipFill>
        <p:spPr>
          <a:xfrm>
            <a:off x="870926" y="1681404"/>
            <a:ext cx="190500" cy="171450"/>
          </a:xfrm>
          <a:prstGeom prst="rect">
            <a:avLst/>
          </a:prstGeom>
          <a:noFill/>
          <a:ln>
            <a:noFill/>
          </a:ln>
        </p:spPr>
      </p:pic>
      <p:sp>
        <p:nvSpPr>
          <p:cNvPr id="17" name="Google Shape;104;p13">
            <a:extLst>
              <a:ext uri="{FF2B5EF4-FFF2-40B4-BE49-F238E27FC236}">
                <a16:creationId xmlns:a16="http://schemas.microsoft.com/office/drawing/2014/main" id="{FF0F67E6-B788-17AA-7543-FAE3FC029DAF}"/>
              </a:ext>
            </a:extLst>
          </p:cNvPr>
          <p:cNvSpPr txBox="1"/>
          <p:nvPr/>
        </p:nvSpPr>
        <p:spPr>
          <a:xfrm>
            <a:off x="1156676" y="1680567"/>
            <a:ext cx="9239250" cy="173124"/>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None/>
            </a:pPr>
            <a:r>
              <a:rPr lang="en-US" sz="1125" b="1" i="0" u="none" strike="noStrike" cap="none">
                <a:solidFill>
                  <a:srgbClr val="93C5FD"/>
                </a:solidFill>
                <a:latin typeface="Times New Roman" panose="02020603050405020304" pitchFamily="18" charset="0"/>
                <a:ea typeface="Montserrat"/>
                <a:cs typeface="Times New Roman" panose="02020603050405020304" pitchFamily="18" charset="0"/>
                <a:sym typeface="Montserrat"/>
              </a:rPr>
              <a:t>KẾT LUẬN CỐT LÕI</a:t>
            </a:r>
            <a:endParaRPr>
              <a:latin typeface="Times New Roman" panose="02020603050405020304" pitchFamily="18" charset="0"/>
              <a:cs typeface="Times New Roman" panose="02020603050405020304" pitchFamily="18" charset="0"/>
            </a:endParaRPr>
          </a:p>
        </p:txBody>
      </p:sp>
      <p:pic>
        <p:nvPicPr>
          <p:cNvPr id="18" name="Google Shape;97;p13" descr="image.png">
            <a:extLst>
              <a:ext uri="{FF2B5EF4-FFF2-40B4-BE49-F238E27FC236}">
                <a16:creationId xmlns:a16="http://schemas.microsoft.com/office/drawing/2014/main" id="{34CAC8FF-C157-625D-260B-8CF4B02B3156}"/>
              </a:ext>
            </a:extLst>
          </p:cNvPr>
          <p:cNvPicPr preferRelativeResize="0"/>
          <p:nvPr/>
        </p:nvPicPr>
        <p:blipFill rotWithShape="1">
          <a:blip r:embed="rId4">
            <a:alphaModFix/>
          </a:blip>
          <a:srcRect/>
          <a:stretch/>
        </p:blipFill>
        <p:spPr>
          <a:xfrm>
            <a:off x="766300" y="4012730"/>
            <a:ext cx="190500" cy="190500"/>
          </a:xfrm>
          <a:prstGeom prst="rect">
            <a:avLst/>
          </a:prstGeom>
          <a:noFill/>
          <a:ln>
            <a:noFill/>
          </a:ln>
        </p:spPr>
      </p:pic>
      <p:cxnSp>
        <p:nvCxnSpPr>
          <p:cNvPr id="22" name="Straight Connector 21">
            <a:extLst>
              <a:ext uri="{FF2B5EF4-FFF2-40B4-BE49-F238E27FC236}">
                <a16:creationId xmlns:a16="http://schemas.microsoft.com/office/drawing/2014/main" id="{E6710C93-EDAD-D84A-CCF3-1F448583840C}"/>
              </a:ext>
            </a:extLst>
          </p:cNvPr>
          <p:cNvCxnSpPr/>
          <p:nvPr/>
        </p:nvCxnSpPr>
        <p:spPr>
          <a:xfrm>
            <a:off x="819257" y="4503175"/>
            <a:ext cx="297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2A6BF07-B4C3-25FA-F93F-A32A699F4BF5}"/>
              </a:ext>
            </a:extLst>
          </p:cNvPr>
          <p:cNvCxnSpPr/>
          <p:nvPr/>
        </p:nvCxnSpPr>
        <p:spPr>
          <a:xfrm>
            <a:off x="4503226" y="4477163"/>
            <a:ext cx="297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CD5DB12-7CA5-5E31-0BE9-90B34A999B17}"/>
              </a:ext>
            </a:extLst>
          </p:cNvPr>
          <p:cNvCxnSpPr/>
          <p:nvPr/>
        </p:nvCxnSpPr>
        <p:spPr>
          <a:xfrm>
            <a:off x="8135377" y="4477163"/>
            <a:ext cx="297348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2" name="Google Shape;102;p14"/>
          <p:cNvSpPr txBox="1"/>
          <p:nvPr/>
        </p:nvSpPr>
        <p:spPr>
          <a:xfrm>
            <a:off x="952500" y="3187154"/>
            <a:ext cx="9001125" cy="118854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1" i="0" u="none" strike="noStrike" cap="none">
                <a:solidFill>
                  <a:srgbClr val="1E3A8A"/>
                </a:solidFill>
                <a:latin typeface="Montserrat"/>
                <a:ea typeface="Montserrat"/>
                <a:cs typeface="Montserrat"/>
                <a:sym typeface="Montserrat"/>
              </a:rPr>
              <a:t>Điểm số có đang phân hóa đủ để đảm bảo chất lượng?</a:t>
            </a:r>
            <a:endParaRPr/>
          </a:p>
        </p:txBody>
      </p:sp>
      <p:sp>
        <p:nvSpPr>
          <p:cNvPr id="103" name="Google Shape;103;p14"/>
          <p:cNvSpPr txBox="1"/>
          <p:nvPr/>
        </p:nvSpPr>
        <p:spPr>
          <a:xfrm>
            <a:off x="952500" y="4661445"/>
            <a:ext cx="7620000"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64748B"/>
                </a:solidFill>
                <a:latin typeface="Roboto Light"/>
                <a:ea typeface="Roboto Light"/>
                <a:cs typeface="Roboto Light"/>
                <a:sym typeface="Roboto Light"/>
              </a:rPr>
              <a:t>Rà soát tính minh bạch và giá trị phân loại của điểm số trong bối cảnh phổ cập trí tuệ nhân tạo.</a:t>
            </a:r>
            <a:endParaRPr/>
          </a:p>
        </p:txBody>
      </p:sp>
      <p:sp>
        <p:nvSpPr>
          <p:cNvPr id="2" name="Google Shape;88;p13">
            <a:extLst>
              <a:ext uri="{FF2B5EF4-FFF2-40B4-BE49-F238E27FC236}">
                <a16:creationId xmlns:a16="http://schemas.microsoft.com/office/drawing/2014/main" id="{D5C4902A-D2DA-A0B2-E043-D6D5AA45732A}"/>
              </a:ext>
            </a:extLst>
          </p:cNvPr>
          <p:cNvSpPr txBox="1"/>
          <p:nvPr/>
        </p:nvSpPr>
        <p:spPr>
          <a:xfrm>
            <a:off x="952500" y="1510754"/>
            <a:ext cx="10287000" cy="138499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vi-VN" sz="9000" b="0" i="0" u="none" strike="noStrike" cap="none">
                <a:solidFill>
                  <a:srgbClr val="3B82F6"/>
                </a:solidFill>
                <a:latin typeface="Montserrat Light"/>
                <a:ea typeface="Montserrat Light"/>
                <a:cs typeface="Montserrat Light"/>
                <a:sym typeface="Montserrat Light"/>
              </a:rPr>
              <a:t>02</a:t>
            </a:r>
            <a:endParaRPr/>
          </a:p>
        </p:txBody>
      </p:sp>
      <p:sp>
        <p:nvSpPr>
          <p:cNvPr id="3" name="Google Shape;89;p13">
            <a:extLst>
              <a:ext uri="{FF2B5EF4-FFF2-40B4-BE49-F238E27FC236}">
                <a16:creationId xmlns:a16="http://schemas.microsoft.com/office/drawing/2014/main" id="{69C2B0F9-5382-7252-E9DE-60E11B1B2C1C}"/>
              </a:ext>
            </a:extLst>
          </p:cNvPr>
          <p:cNvSpPr/>
          <p:nvPr/>
        </p:nvSpPr>
        <p:spPr>
          <a:xfrm>
            <a:off x="1047749" y="2739479"/>
            <a:ext cx="1076325" cy="57150"/>
          </a:xfrm>
          <a:prstGeom prst="roundRect">
            <a:avLst>
              <a:gd name="adj" fmla="val 50000"/>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0A0FF043-DCED-C747-47C9-80FE29633916}"/>
              </a:ext>
            </a:extLst>
          </p:cNvPr>
          <p:cNvSpPr/>
          <p:nvPr/>
        </p:nvSpPr>
        <p:spPr>
          <a:xfrm>
            <a:off x="6327711" y="4392035"/>
            <a:ext cx="4918549" cy="1614874"/>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B33DF00-0908-4745-B3BA-185F8692D6E2}"/>
              </a:ext>
            </a:extLst>
          </p:cNvPr>
          <p:cNvSpPr/>
          <p:nvPr/>
        </p:nvSpPr>
        <p:spPr>
          <a:xfrm>
            <a:off x="886938" y="4392036"/>
            <a:ext cx="4918549" cy="1614874"/>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pic>
        <p:nvPicPr>
          <p:cNvPr id="84" name="Google Shape;84;p13" descr="image.png"/>
          <p:cNvPicPr preferRelativeResize="0"/>
          <p:nvPr/>
        </p:nvPicPr>
        <p:blipFill rotWithShape="1">
          <a:blip r:embed="rId3">
            <a:alphaModFix/>
          </a:blip>
          <a:srcRect/>
          <a:stretch/>
        </p:blipFill>
        <p:spPr>
          <a:xfrm>
            <a:off x="768760" y="1548312"/>
            <a:ext cx="10477500" cy="1782960"/>
          </a:xfrm>
          <a:prstGeom prst="rect">
            <a:avLst/>
          </a:prstGeom>
          <a:noFill/>
          <a:ln>
            <a:noFill/>
          </a:ln>
        </p:spPr>
      </p:pic>
      <p:sp>
        <p:nvSpPr>
          <p:cNvPr id="91" name="Google Shape;91;p13"/>
          <p:cNvSpPr txBox="1"/>
          <p:nvPr/>
        </p:nvSpPr>
        <p:spPr>
          <a:xfrm>
            <a:off x="768760" y="209282"/>
            <a:ext cx="11001375"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F172A"/>
                </a:solidFill>
                <a:latin typeface="Times New Roman" panose="02020603050405020304" pitchFamily="18" charset="0"/>
                <a:ea typeface="Montserrat ExtraBold"/>
                <a:cs typeface="Times New Roman" panose="02020603050405020304" pitchFamily="18" charset="0"/>
                <a:sym typeface="Montserrat ExtraBold"/>
              </a:rPr>
              <a:t>Chương trình đào tạo có </a:t>
            </a:r>
            <a:endParaRPr lang="vi-VN" sz="3000" b="1" i="0" u="none" strike="noStrike" cap="none">
              <a:solidFill>
                <a:srgbClr val="0F172A"/>
              </a:solidFill>
              <a:latin typeface="Times New Roman" panose="02020603050405020304" pitchFamily="18" charset="0"/>
              <a:ea typeface="Montserrat ExtraBold"/>
              <a:cs typeface="Times New Roman" panose="02020603050405020304" pitchFamily="18" charset="0"/>
              <a:sym typeface="Montserrat ExtraBold"/>
            </a:endParaRPr>
          </a:p>
          <a:p>
            <a:pPr marL="0" marR="0" lvl="0" indent="0" algn="l" rtl="0">
              <a:lnSpc>
                <a:spcPct val="120000"/>
              </a:lnSpc>
              <a:spcBef>
                <a:spcPts val="0"/>
              </a:spcBef>
              <a:spcAft>
                <a:spcPts val="0"/>
              </a:spcAft>
              <a:buNone/>
            </a:pPr>
            <a:r>
              <a:rPr lang="en-US" sz="3000" b="1" i="0" u="none" strike="noStrike" cap="none">
                <a:solidFill>
                  <a:srgbClr val="0F172A"/>
                </a:solidFill>
                <a:latin typeface="Times New Roman" panose="02020603050405020304" pitchFamily="18" charset="0"/>
                <a:ea typeface="Montserrat ExtraBold"/>
                <a:cs typeface="Times New Roman" panose="02020603050405020304" pitchFamily="18" charset="0"/>
                <a:sym typeface="Montserrat ExtraBold"/>
              </a:rPr>
              <a:t>đang làm tốt </a:t>
            </a:r>
            <a:r>
              <a:rPr lang="en-US" sz="3000" b="1" i="0" u="none" strike="noStrike" cap="none">
                <a:solidFill>
                  <a:srgbClr val="1E3A8A"/>
                </a:solidFill>
                <a:latin typeface="Times New Roman" panose="02020603050405020304" pitchFamily="18" charset="0"/>
                <a:ea typeface="Montserrat ExtraBold"/>
                <a:cs typeface="Times New Roman" panose="02020603050405020304" pitchFamily="18" charset="0"/>
                <a:sym typeface="Montserrat ExtraBold"/>
              </a:rPr>
              <a:t>phân hóa năng lực</a:t>
            </a:r>
            <a:r>
              <a:rPr lang="en-US" sz="3000" b="1" i="0" u="none" strike="noStrike" cap="none">
                <a:solidFill>
                  <a:srgbClr val="0F172A"/>
                </a:solidFill>
                <a:latin typeface="Times New Roman" panose="02020603050405020304" pitchFamily="18" charset="0"/>
                <a:ea typeface="Montserrat ExtraBold"/>
                <a:cs typeface="Times New Roman" panose="02020603050405020304" pitchFamily="18" charset="0"/>
                <a:sym typeface="Montserrat ExtraBold"/>
              </a:rPr>
              <a:t>?</a:t>
            </a:r>
            <a:endParaRPr b="1">
              <a:latin typeface="Times New Roman" panose="02020603050405020304" pitchFamily="18" charset="0"/>
              <a:cs typeface="Times New Roman" panose="02020603050405020304" pitchFamily="18" charset="0"/>
            </a:endParaRPr>
          </a:p>
        </p:txBody>
      </p:sp>
      <p:sp>
        <p:nvSpPr>
          <p:cNvPr id="92" name="Google Shape;92;p13"/>
          <p:cNvSpPr txBox="1"/>
          <p:nvPr/>
        </p:nvSpPr>
        <p:spPr>
          <a:xfrm>
            <a:off x="1211826" y="1786227"/>
            <a:ext cx="292417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a:solidFill>
                  <a:srgbClr val="64748B"/>
                </a:solidFill>
                <a:latin typeface="Times New Roman" panose="02020603050405020304" pitchFamily="18" charset="0"/>
                <a:ea typeface="Roboto"/>
                <a:cs typeface="Times New Roman" panose="02020603050405020304" pitchFamily="18" charset="0"/>
                <a:sym typeface="Roboto"/>
              </a:rPr>
              <a:t>Độ lệch chuẩn trung bình</a:t>
            </a:r>
            <a:endParaRPr lang="vi-VN" sz="1600" b="1" i="0" u="none" strike="noStrike" cap="none">
              <a:solidFill>
                <a:srgbClr val="64748B"/>
              </a:solidFill>
              <a:latin typeface="Times New Roman" panose="02020603050405020304" pitchFamily="18" charset="0"/>
              <a:ea typeface="Roboto"/>
              <a:cs typeface="Times New Roman" panose="02020603050405020304" pitchFamily="18" charset="0"/>
              <a:sym typeface="Roboto"/>
            </a:endParaRPr>
          </a:p>
        </p:txBody>
      </p:sp>
      <p:sp>
        <p:nvSpPr>
          <p:cNvPr id="95" name="Google Shape;95;p13"/>
          <p:cNvSpPr txBox="1"/>
          <p:nvPr/>
        </p:nvSpPr>
        <p:spPr>
          <a:xfrm>
            <a:off x="5969410" y="1841334"/>
            <a:ext cx="4838700" cy="147732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algn="just">
              <a:lnSpc>
                <a:spcPct val="150000"/>
              </a:lnSpc>
              <a:defRPr b="1" i="1">
                <a:solidFill>
                  <a:srgbClr val="1E3A8A"/>
                </a:solidFill>
                <a:latin typeface="Times New Roman" panose="02020603050405020304" pitchFamily="18" charset="0"/>
                <a:ea typeface="Roboto Medium"/>
                <a:cs typeface="Times New Roman" panose="02020603050405020304" pitchFamily="18" charset="0"/>
              </a:defRPr>
            </a:lvl1pPr>
          </a:lstStyle>
          <a:p>
            <a:r>
              <a:rPr lang="en-US" sz="1600" b="0">
                <a:sym typeface="Roboto"/>
              </a:rPr>
              <a:t>Trên thang điểm 10, độ lệch chuẩn trung bình 1.125 cho thấy phổ điểm sinh viên đang </a:t>
            </a:r>
            <a:r>
              <a:rPr lang="en-US" sz="1600">
                <a:sym typeface="Roboto"/>
              </a:rPr>
              <a:t>phân bố đều và ổn </a:t>
            </a:r>
            <a:r>
              <a:rPr lang="vi-VN" sz="1600">
                <a:sym typeface="Roboto"/>
              </a:rPr>
              <a:t>định, </a:t>
            </a:r>
            <a:r>
              <a:rPr lang="en-US" sz="1600" b="0">
                <a:sym typeface="Roboto"/>
              </a:rPr>
              <a:t>đủ để phân biệt rõ các mức năng lực. Đây là nền tảng để đi sâu vào từng môn học</a:t>
            </a:r>
            <a:endParaRPr sz="1600" b="0"/>
          </a:p>
        </p:txBody>
      </p:sp>
      <p:pic>
        <p:nvPicPr>
          <p:cNvPr id="96" name="Google Shape;96;p13" descr="image.png"/>
          <p:cNvPicPr preferRelativeResize="0"/>
          <p:nvPr/>
        </p:nvPicPr>
        <p:blipFill rotWithShape="1">
          <a:blip r:embed="rId4">
            <a:alphaModFix/>
          </a:blip>
          <a:srcRect/>
          <a:stretch/>
        </p:blipFill>
        <p:spPr>
          <a:xfrm>
            <a:off x="1152525" y="4732614"/>
            <a:ext cx="476250" cy="476250"/>
          </a:xfrm>
          <a:prstGeom prst="rect">
            <a:avLst/>
          </a:prstGeom>
          <a:noFill/>
          <a:ln>
            <a:noFill/>
          </a:ln>
        </p:spPr>
      </p:pic>
      <p:pic>
        <p:nvPicPr>
          <p:cNvPr id="97" name="Google Shape;97;p13" descr="image.png"/>
          <p:cNvPicPr preferRelativeResize="0"/>
          <p:nvPr/>
        </p:nvPicPr>
        <p:blipFill rotWithShape="1">
          <a:blip r:embed="rId5">
            <a:alphaModFix/>
          </a:blip>
          <a:srcRect/>
          <a:stretch/>
        </p:blipFill>
        <p:spPr>
          <a:xfrm>
            <a:off x="6581775" y="4732614"/>
            <a:ext cx="476250" cy="476250"/>
          </a:xfrm>
          <a:prstGeom prst="rect">
            <a:avLst/>
          </a:prstGeom>
          <a:noFill/>
          <a:ln>
            <a:noFill/>
          </a:ln>
        </p:spPr>
      </p:pic>
      <p:pic>
        <p:nvPicPr>
          <p:cNvPr id="98" name="Google Shape;98;p13" descr="image.png"/>
          <p:cNvPicPr preferRelativeResize="0"/>
          <p:nvPr/>
        </p:nvPicPr>
        <p:blipFill rotWithShape="1">
          <a:blip r:embed="rId6">
            <a:alphaModFix/>
          </a:blip>
          <a:srcRect/>
          <a:stretch/>
        </p:blipFill>
        <p:spPr>
          <a:xfrm>
            <a:off x="1276350" y="4856439"/>
            <a:ext cx="228600" cy="228600"/>
          </a:xfrm>
          <a:prstGeom prst="rect">
            <a:avLst/>
          </a:prstGeom>
          <a:noFill/>
          <a:ln>
            <a:noFill/>
          </a:ln>
        </p:spPr>
      </p:pic>
      <p:sp>
        <p:nvSpPr>
          <p:cNvPr id="99" name="Google Shape;99;p13"/>
          <p:cNvSpPr txBox="1"/>
          <p:nvPr/>
        </p:nvSpPr>
        <p:spPr>
          <a:xfrm>
            <a:off x="1819275" y="4732614"/>
            <a:ext cx="37909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Phân hóa theo nhóm môn</a:t>
            </a:r>
            <a:endParaRPr>
              <a:latin typeface="Times New Roman" panose="02020603050405020304" pitchFamily="18" charset="0"/>
              <a:cs typeface="Times New Roman" panose="02020603050405020304" pitchFamily="18" charset="0"/>
            </a:endParaRPr>
          </a:p>
        </p:txBody>
      </p:sp>
      <p:sp>
        <p:nvSpPr>
          <p:cNvPr id="100" name="Google Shape;100;p13"/>
          <p:cNvSpPr txBox="1"/>
          <p:nvPr/>
        </p:nvSpPr>
        <p:spPr>
          <a:xfrm>
            <a:off x="1819275" y="5037414"/>
            <a:ext cx="3790950"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vi-VN" b="0" i="0" u="none" strike="noStrike" cap="none">
                <a:solidFill>
                  <a:srgbClr val="64748B"/>
                </a:solidFill>
                <a:latin typeface="Times New Roman" panose="02020603050405020304" pitchFamily="18" charset="0"/>
                <a:ea typeface="Roboto"/>
                <a:cs typeface="Times New Roman" panose="02020603050405020304" pitchFamily="18" charset="0"/>
                <a:sym typeface="Roboto"/>
              </a:rPr>
              <a:t>Một số môn có độ lệch chuẩn cao hơn, phản ánh đặc thù nội dung hoặc phương pháp kiểm tra</a:t>
            </a:r>
            <a:endParaRPr>
              <a:latin typeface="Times New Roman" panose="02020603050405020304" pitchFamily="18" charset="0"/>
              <a:cs typeface="Times New Roman" panose="02020603050405020304" pitchFamily="18" charset="0"/>
            </a:endParaRPr>
          </a:p>
        </p:txBody>
      </p:sp>
      <p:pic>
        <p:nvPicPr>
          <p:cNvPr id="101" name="Google Shape;101;p13" descr="image.png"/>
          <p:cNvPicPr preferRelativeResize="0"/>
          <p:nvPr/>
        </p:nvPicPr>
        <p:blipFill rotWithShape="1">
          <a:blip r:embed="rId7">
            <a:alphaModFix/>
          </a:blip>
          <a:srcRect/>
          <a:stretch/>
        </p:blipFill>
        <p:spPr>
          <a:xfrm>
            <a:off x="6677025" y="4856439"/>
            <a:ext cx="285750" cy="228600"/>
          </a:xfrm>
          <a:prstGeom prst="rect">
            <a:avLst/>
          </a:prstGeom>
          <a:noFill/>
          <a:ln>
            <a:noFill/>
          </a:ln>
        </p:spPr>
      </p:pic>
      <p:sp>
        <p:nvSpPr>
          <p:cNvPr id="102" name="Google Shape;102;p13"/>
          <p:cNvSpPr txBox="1"/>
          <p:nvPr/>
        </p:nvSpPr>
        <p:spPr>
          <a:xfrm>
            <a:off x="7248525" y="4732614"/>
            <a:ext cx="37909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50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Xu hướng toàn chương trình</a:t>
            </a:r>
            <a:endParaRPr>
              <a:latin typeface="Times New Roman" panose="02020603050405020304" pitchFamily="18" charset="0"/>
              <a:cs typeface="Times New Roman" panose="02020603050405020304" pitchFamily="18" charset="0"/>
            </a:endParaRPr>
          </a:p>
        </p:txBody>
      </p:sp>
      <p:sp>
        <p:nvSpPr>
          <p:cNvPr id="103" name="Google Shape;103;p13"/>
          <p:cNvSpPr txBox="1"/>
          <p:nvPr/>
        </p:nvSpPr>
        <p:spPr>
          <a:xfrm>
            <a:off x="7248525" y="5037414"/>
            <a:ext cx="3790950"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0" i="0" u="none" strike="noStrike" cap="none">
                <a:solidFill>
                  <a:srgbClr val="64748B"/>
                </a:solidFill>
                <a:latin typeface="Times New Roman" panose="02020603050405020304" pitchFamily="18" charset="0"/>
                <a:ea typeface="Roboto"/>
                <a:cs typeface="Times New Roman" panose="02020603050405020304" pitchFamily="18" charset="0"/>
                <a:sym typeface="Roboto"/>
              </a:rPr>
              <a:t>Phân bố điểm nhất quán giữa các bộ môn cho thấy thang đánh giá đang hoạt động hiệu </a:t>
            </a:r>
            <a:r>
              <a:rPr lang="vi-VN" b="0" i="0" u="none" strike="noStrike" cap="none">
                <a:solidFill>
                  <a:srgbClr val="64748B"/>
                </a:solidFill>
                <a:latin typeface="Times New Roman" panose="02020603050405020304" pitchFamily="18" charset="0"/>
                <a:ea typeface="Roboto"/>
                <a:cs typeface="Times New Roman" panose="02020603050405020304" pitchFamily="18" charset="0"/>
                <a:sym typeface="Roboto"/>
              </a:rPr>
              <a:t>quả</a:t>
            </a: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0BA1137-557F-0CB6-3F49-F6B7E615FB23}"/>
              </a:ext>
            </a:extLst>
          </p:cNvPr>
          <p:cNvSpPr txBox="1"/>
          <p:nvPr/>
        </p:nvSpPr>
        <p:spPr>
          <a:xfrm>
            <a:off x="1187860" y="2377230"/>
            <a:ext cx="6096000" cy="769441"/>
          </a:xfrm>
          <a:prstGeom prst="rect">
            <a:avLst/>
          </a:prstGeom>
          <a:noFill/>
        </p:spPr>
        <p:txBody>
          <a:bodyPr wrap="square">
            <a:spAutoFit/>
          </a:bodyPr>
          <a:lstStyle/>
          <a:p>
            <a:pPr marL="0" marR="0" lvl="0" indent="0" algn="l" rtl="0">
              <a:spcBef>
                <a:spcPts val="0"/>
              </a:spcBef>
              <a:spcAft>
                <a:spcPts val="0"/>
              </a:spcAft>
              <a:buNone/>
            </a:pPr>
            <a:r>
              <a:rPr lang="en-US" sz="4400" b="1" i="0" u="none" strike="noStrike" cap="none">
                <a:solidFill>
                  <a:srgbClr val="1E3A8A"/>
                </a:solidFill>
                <a:latin typeface="Times New Roman" panose="02020603050405020304" pitchFamily="18" charset="0"/>
                <a:ea typeface="Roboto ExtraBold"/>
                <a:cs typeface="Times New Roman" panose="02020603050405020304" pitchFamily="18" charset="0"/>
                <a:sym typeface="Roboto ExtraBold"/>
              </a:rPr>
              <a:t>1.125</a:t>
            </a:r>
            <a:endParaRPr lang="en-US" sz="4800" b="1">
              <a:latin typeface="Times New Roman" panose="02020603050405020304" pitchFamily="18" charset="0"/>
              <a:cs typeface="Times New Roman" panose="02020603050405020304" pitchFamily="18" charset="0"/>
            </a:endParaRPr>
          </a:p>
        </p:txBody>
      </p:sp>
      <p:pic>
        <p:nvPicPr>
          <p:cNvPr id="6" name="Google Shape;95;p13" descr="image.png">
            <a:extLst>
              <a:ext uri="{FF2B5EF4-FFF2-40B4-BE49-F238E27FC236}">
                <a16:creationId xmlns:a16="http://schemas.microsoft.com/office/drawing/2014/main" id="{C72D1167-CF9E-9183-00BC-72841A29AB8C}"/>
              </a:ext>
            </a:extLst>
          </p:cNvPr>
          <p:cNvPicPr preferRelativeResize="0"/>
          <p:nvPr/>
        </p:nvPicPr>
        <p:blipFill rotWithShape="1">
          <a:blip r:embed="rId8">
            <a:alphaModFix/>
          </a:blip>
          <a:srcRect/>
          <a:stretch/>
        </p:blipFill>
        <p:spPr>
          <a:xfrm>
            <a:off x="5760780" y="1785170"/>
            <a:ext cx="171450" cy="1123950"/>
          </a:xfrm>
          <a:prstGeom prst="rect">
            <a:avLst/>
          </a:prstGeom>
          <a:noFill/>
          <a:ln>
            <a:noFill/>
          </a:ln>
        </p:spPr>
      </p:pic>
      <p:sp>
        <p:nvSpPr>
          <p:cNvPr id="8" name="Rectangle 7">
            <a:extLst>
              <a:ext uri="{FF2B5EF4-FFF2-40B4-BE49-F238E27FC236}">
                <a16:creationId xmlns:a16="http://schemas.microsoft.com/office/drawing/2014/main" id="{6247183D-8A2B-FD6E-CD13-42E86337BBC8}"/>
              </a:ext>
            </a:extLst>
          </p:cNvPr>
          <p:cNvSpPr/>
          <p:nvPr/>
        </p:nvSpPr>
        <p:spPr>
          <a:xfrm>
            <a:off x="5250426" y="1700981"/>
            <a:ext cx="359799" cy="1357855"/>
          </a:xfrm>
          <a:prstGeom prst="rect">
            <a:avLst/>
          </a:prstGeom>
          <a:solidFill>
            <a:srgbClr val="F8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811D115B-69FE-9DB1-70CF-FAED8BAADDBE}"/>
              </a:ext>
            </a:extLst>
          </p:cNvPr>
          <p:cNvSpPr/>
          <p:nvPr/>
        </p:nvSpPr>
        <p:spPr>
          <a:xfrm>
            <a:off x="4410075" y="3719094"/>
            <a:ext cx="3371850" cy="488340"/>
          </a:xfrm>
          <a:prstGeom prst="roundRect">
            <a:avLst>
              <a:gd name="adj" fmla="val 50000"/>
            </a:avLst>
          </a:prstGeom>
          <a:solidFill>
            <a:srgbClr val="1E3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Times New Roman" panose="02020603050405020304" pitchFamily="18" charset="0"/>
                <a:cs typeface="Times New Roman" panose="02020603050405020304" pitchFamily="18" charset="0"/>
              </a:rPr>
              <a:t>Khám phá quy luật phân hóa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B41CE5F-AE6B-5522-6D94-9FA3545CA78E}"/>
              </a:ext>
            </a:extLst>
          </p:cNvPr>
          <p:cNvSpPr/>
          <p:nvPr/>
        </p:nvSpPr>
        <p:spPr>
          <a:xfrm>
            <a:off x="5570486" y="1014511"/>
            <a:ext cx="6676815" cy="5239502"/>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pic>
        <p:nvPicPr>
          <p:cNvPr id="87" name="Google Shape;87;p13" descr="image.png"/>
          <p:cNvPicPr preferRelativeResize="0"/>
          <p:nvPr/>
        </p:nvPicPr>
        <p:blipFill rotWithShape="1">
          <a:blip r:embed="rId3">
            <a:alphaModFix/>
          </a:blip>
          <a:srcRect/>
          <a:stretch/>
        </p:blipFill>
        <p:spPr>
          <a:xfrm>
            <a:off x="571500" y="1014510"/>
            <a:ext cx="4689425" cy="1595340"/>
          </a:xfrm>
          <a:prstGeom prst="rect">
            <a:avLst/>
          </a:prstGeom>
          <a:noFill/>
          <a:ln>
            <a:noFill/>
          </a:ln>
        </p:spPr>
      </p:pic>
      <p:pic>
        <p:nvPicPr>
          <p:cNvPr id="88" name="Google Shape;88;p13" descr="image.png"/>
          <p:cNvPicPr preferRelativeResize="0"/>
          <p:nvPr/>
        </p:nvPicPr>
        <p:blipFill rotWithShape="1">
          <a:blip r:embed="rId4">
            <a:alphaModFix/>
          </a:blip>
          <a:srcRect/>
          <a:stretch/>
        </p:blipFill>
        <p:spPr>
          <a:xfrm>
            <a:off x="571500" y="2909887"/>
            <a:ext cx="4689425" cy="1443037"/>
          </a:xfrm>
          <a:prstGeom prst="rect">
            <a:avLst/>
          </a:prstGeom>
          <a:noFill/>
          <a:ln>
            <a:noFill/>
          </a:ln>
        </p:spPr>
      </p:pic>
      <p:pic>
        <p:nvPicPr>
          <p:cNvPr id="89" name="Google Shape;89;p13" descr="image.png"/>
          <p:cNvPicPr preferRelativeResize="0"/>
          <p:nvPr/>
        </p:nvPicPr>
        <p:blipFill rotWithShape="1">
          <a:blip r:embed="rId5">
            <a:alphaModFix/>
          </a:blip>
          <a:srcRect/>
          <a:stretch/>
        </p:blipFill>
        <p:spPr>
          <a:xfrm>
            <a:off x="571500" y="4684443"/>
            <a:ext cx="4689425" cy="1569570"/>
          </a:xfrm>
          <a:prstGeom prst="rect">
            <a:avLst/>
          </a:prstGeom>
          <a:noFill/>
          <a:ln>
            <a:noFill/>
          </a:ln>
        </p:spPr>
      </p:pic>
      <p:sp>
        <p:nvSpPr>
          <p:cNvPr id="96" name="Google Shape;96;p13"/>
          <p:cNvSpPr txBox="1"/>
          <p:nvPr/>
        </p:nvSpPr>
        <p:spPr>
          <a:xfrm>
            <a:off x="800099" y="1614585"/>
            <a:ext cx="4460825" cy="969496"/>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b="1" i="0" u="none" strike="noStrike" cap="none">
                <a:solidFill>
                  <a:schemeClr val="tx1"/>
                </a:solidFill>
                <a:latin typeface="Times New Roman" panose="02020603050405020304" pitchFamily="18" charset="0"/>
                <a:ea typeface="Roboto"/>
                <a:cs typeface="Times New Roman" panose="02020603050405020304" pitchFamily="18" charset="0"/>
                <a:sym typeface="Roboto"/>
              </a:rPr>
              <a:t>Nhóm Toán &amp; Kinh tế định </a:t>
            </a:r>
            <a:r>
              <a:rPr lang="vi-VN" b="1" i="0" u="none" strike="noStrike" cap="none">
                <a:solidFill>
                  <a:schemeClr val="tx1"/>
                </a:solidFill>
                <a:latin typeface="Times New Roman" panose="02020603050405020304" pitchFamily="18" charset="0"/>
                <a:ea typeface="Roboto"/>
                <a:cs typeface="Times New Roman" panose="02020603050405020304" pitchFamily="18" charset="0"/>
                <a:sym typeface="Roboto"/>
              </a:rPr>
              <a:t>lượng </a:t>
            </a:r>
            <a:r>
              <a:rPr lang="en-US"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tạo ra sự phân hóa </a:t>
            </a:r>
            <a:r>
              <a:rPr lang="vi-VN">
                <a:solidFill>
                  <a:srgbClr val="475569"/>
                </a:solidFill>
                <a:latin typeface="Times New Roman" panose="02020603050405020304" pitchFamily="18" charset="0"/>
                <a:ea typeface="Roboto"/>
                <a:cs typeface="Times New Roman" panose="02020603050405020304" pitchFamily="18" charset="0"/>
                <a:sym typeface="Roboto"/>
              </a:rPr>
              <a:t>mạnh</a:t>
            </a:r>
            <a:r>
              <a:rPr lang="vi-VN" b="0" i="0" u="none" strike="noStrike" cap="none">
                <a:solidFill>
                  <a:srgbClr val="475569"/>
                </a:solidFill>
                <a:latin typeface="Times New Roman" panose="02020603050405020304" pitchFamily="18" charset="0"/>
                <a:ea typeface="Roboto"/>
                <a:cs typeface="Times New Roman" panose="02020603050405020304" pitchFamily="18" charset="0"/>
                <a:sym typeface="Roboto"/>
              </a:rPr>
              <a:t>. Khối Tech (Học máy, Lập trình R) dù có điểm trung bình cao nhưng không hề bị lạm phát vẫn duy trì sự phân hóa cao.</a:t>
            </a:r>
            <a:endParaRPr sz="1800">
              <a:latin typeface="Times New Roman" panose="02020603050405020304" pitchFamily="18" charset="0"/>
              <a:cs typeface="Times New Roman" panose="02020603050405020304" pitchFamily="18" charset="0"/>
            </a:endParaRPr>
          </a:p>
        </p:txBody>
      </p:sp>
      <p:sp>
        <p:nvSpPr>
          <p:cNvPr id="97" name="Google Shape;97;p13"/>
          <p:cNvSpPr txBox="1"/>
          <p:nvPr/>
        </p:nvSpPr>
        <p:spPr>
          <a:xfrm>
            <a:off x="800099" y="3365230"/>
            <a:ext cx="4460825" cy="969496"/>
          </a:xfrm>
          <a:prstGeom prst="rect">
            <a:avLst/>
          </a:prstGeom>
          <a:noFill/>
          <a:ln>
            <a:noFill/>
          </a:ln>
        </p:spPr>
        <p:txBody>
          <a:bodyPr spcFirstLastPara="1" wrap="square" lIns="0" tIns="0" rIns="0" bIns="0" anchor="t" anchorCtr="0">
            <a:spAutoFit/>
          </a:bodyPr>
          <a:lstStyle/>
          <a:p>
            <a:pPr lvl="0">
              <a:lnSpc>
                <a:spcPct val="149955"/>
              </a:lnSpc>
            </a:pPr>
            <a:r>
              <a:rPr lang="vi-VN" b="1">
                <a:solidFill>
                  <a:schemeClr val="tx1"/>
                </a:solidFill>
                <a:latin typeface="Times New Roman" panose="02020603050405020304" pitchFamily="18" charset="0"/>
                <a:ea typeface="Roboto"/>
                <a:cs typeface="Times New Roman" panose="02020603050405020304" pitchFamily="18" charset="0"/>
              </a:rPr>
              <a:t>N</a:t>
            </a:r>
            <a:r>
              <a:rPr lang="en-US" b="1">
                <a:solidFill>
                  <a:schemeClr val="tx1"/>
                </a:solidFill>
                <a:latin typeface="Times New Roman" panose="02020603050405020304" pitchFamily="18" charset="0"/>
                <a:ea typeface="Roboto"/>
                <a:cs typeface="Times New Roman" panose="02020603050405020304" pitchFamily="18" charset="0"/>
              </a:rPr>
              <a:t>hóm Kinh tế cốt lõi </a:t>
            </a:r>
            <a:r>
              <a:rPr lang="en-US">
                <a:solidFill>
                  <a:srgbClr val="475569"/>
                </a:solidFill>
                <a:latin typeface="Times New Roman" panose="02020603050405020304" pitchFamily="18" charset="0"/>
                <a:ea typeface="Roboto"/>
                <a:cs typeface="Times New Roman" panose="02020603050405020304" pitchFamily="18" charset="0"/>
              </a:rPr>
              <a:t>giữ vững vai trò phễu lọc chuẩn xác ở mức điểm Khá, trong khi nhóm Kỹ thuật khẳng định điểm Giỏi của sinh viên là năng lực thực chất</a:t>
            </a:r>
            <a:endParaRPr lang="vi-VN">
              <a:solidFill>
                <a:srgbClr val="475569"/>
              </a:solidFill>
              <a:latin typeface="Times New Roman" panose="02020603050405020304" pitchFamily="18" charset="0"/>
              <a:ea typeface="Roboto"/>
              <a:cs typeface="Times New Roman" panose="02020603050405020304" pitchFamily="18" charset="0"/>
            </a:endParaRPr>
          </a:p>
        </p:txBody>
      </p:sp>
      <p:sp>
        <p:nvSpPr>
          <p:cNvPr id="98" name="Google Shape;98;p13"/>
          <p:cNvSpPr txBox="1"/>
          <p:nvPr/>
        </p:nvSpPr>
        <p:spPr>
          <a:xfrm>
            <a:off x="800099" y="5177097"/>
            <a:ext cx="4460825" cy="969496"/>
          </a:xfrm>
          <a:prstGeom prst="rect">
            <a:avLst/>
          </a:prstGeom>
          <a:noFill/>
          <a:ln>
            <a:noFill/>
          </a:ln>
        </p:spPr>
        <p:txBody>
          <a:bodyPr spcFirstLastPara="1" wrap="square" lIns="0" tIns="0" rIns="0" bIns="0" anchor="t" anchorCtr="0">
            <a:spAutoFit/>
          </a:bodyPr>
          <a:lstStyle/>
          <a:p>
            <a:pPr lvl="0">
              <a:lnSpc>
                <a:spcPct val="149955"/>
              </a:lnSpc>
            </a:pPr>
            <a:r>
              <a:rPr lang="vi-VN">
                <a:solidFill>
                  <a:srgbClr val="475569"/>
                </a:solidFill>
                <a:latin typeface="Times New Roman" panose="02020603050405020304" pitchFamily="18" charset="0"/>
                <a:ea typeface="Roboto"/>
                <a:cs typeface="Times New Roman" panose="02020603050405020304" pitchFamily="18" charset="0"/>
              </a:rPr>
              <a:t>Đây là vùng có mật độ dày đặc nhất. Đa số các môn </a:t>
            </a:r>
            <a:r>
              <a:rPr lang="vi-VN" b="1">
                <a:solidFill>
                  <a:schemeClr val="tx1"/>
                </a:solidFill>
                <a:latin typeface="Times New Roman" panose="02020603050405020304" pitchFamily="18" charset="0"/>
                <a:ea typeface="Roboto"/>
                <a:cs typeface="Times New Roman" panose="02020603050405020304" pitchFamily="18" charset="0"/>
              </a:rPr>
              <a:t>Kinh tế quản trị và Lý luận</a:t>
            </a:r>
            <a:r>
              <a:rPr lang="vi-VN" b="1">
                <a:solidFill>
                  <a:srgbClr val="475569"/>
                </a:solidFill>
                <a:latin typeface="Times New Roman" panose="02020603050405020304" pitchFamily="18" charset="0"/>
                <a:ea typeface="Roboto"/>
                <a:cs typeface="Times New Roman" panose="02020603050405020304" pitchFamily="18" charset="0"/>
              </a:rPr>
              <a:t> </a:t>
            </a:r>
            <a:r>
              <a:rPr lang="vi-VN">
                <a:solidFill>
                  <a:srgbClr val="475569"/>
                </a:solidFill>
                <a:latin typeface="Times New Roman" panose="02020603050405020304" pitchFamily="18" charset="0"/>
                <a:ea typeface="Roboto"/>
                <a:cs typeface="Times New Roman" panose="02020603050405020304" pitchFamily="18" charset="0"/>
              </a:rPr>
              <a:t>tập trung ở vùng này, xen lẫn sự xuất hiện với tần suất thưa thớt của một vài môn Kỹ thuật</a:t>
            </a:r>
            <a:endParaRPr>
              <a:solidFill>
                <a:srgbClr val="475569"/>
              </a:solidFill>
              <a:latin typeface="Times New Roman" panose="02020603050405020304" pitchFamily="18" charset="0"/>
              <a:ea typeface="Roboto"/>
              <a:cs typeface="Times New Roman" panose="02020603050405020304" pitchFamily="18" charset="0"/>
            </a:endParaRPr>
          </a:p>
        </p:txBody>
      </p:sp>
      <p:sp>
        <p:nvSpPr>
          <p:cNvPr id="100" name="Google Shape;100;p13"/>
          <p:cNvSpPr txBox="1"/>
          <p:nvPr/>
        </p:nvSpPr>
        <p:spPr>
          <a:xfrm>
            <a:off x="1119638" y="1177149"/>
            <a:ext cx="283845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Vùng </a:t>
            </a:r>
            <a:r>
              <a:rPr lang="vi-VN" sz="1600" b="1">
                <a:solidFill>
                  <a:srgbClr val="0F172A"/>
                </a:solidFill>
                <a:latin typeface="Times New Roman" panose="02020603050405020304" pitchFamily="18" charset="0"/>
                <a:ea typeface="Montserrat"/>
                <a:cs typeface="Times New Roman" panose="02020603050405020304" pitchFamily="18" charset="0"/>
                <a:sym typeface="Montserrat"/>
              </a:rPr>
              <a:t>p</a:t>
            </a:r>
            <a:r>
              <a:rPr lang="vi-VN" sz="160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hân hóa mạnh</a:t>
            </a:r>
            <a:r>
              <a:rPr lang="en-US" sz="160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 </a:t>
            </a:r>
            <a:endParaRPr sz="1800">
              <a:latin typeface="Times New Roman" panose="02020603050405020304" pitchFamily="18" charset="0"/>
              <a:cs typeface="Times New Roman" panose="02020603050405020304" pitchFamily="18" charset="0"/>
            </a:endParaRPr>
          </a:p>
        </p:txBody>
      </p:sp>
      <p:sp>
        <p:nvSpPr>
          <p:cNvPr id="102" name="Google Shape;102;p13"/>
          <p:cNvSpPr txBox="1"/>
          <p:nvPr/>
        </p:nvSpPr>
        <p:spPr>
          <a:xfrm>
            <a:off x="1119638" y="3023759"/>
            <a:ext cx="265747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600" b="1">
                <a:solidFill>
                  <a:srgbClr val="0F172A"/>
                </a:solidFill>
                <a:latin typeface="Times New Roman" panose="02020603050405020304" pitchFamily="18" charset="0"/>
                <a:ea typeface="Montserrat"/>
                <a:cs typeface="Times New Roman" panose="02020603050405020304" pitchFamily="18" charset="0"/>
                <a:sym typeface="Montserrat"/>
              </a:rPr>
              <a:t>Vùng tiêu chuẩn</a:t>
            </a:r>
            <a:r>
              <a:rPr lang="en-US" sz="160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 </a:t>
            </a:r>
            <a:endParaRPr sz="1800">
              <a:latin typeface="Times New Roman" panose="02020603050405020304" pitchFamily="18" charset="0"/>
              <a:cs typeface="Times New Roman" panose="02020603050405020304" pitchFamily="18" charset="0"/>
            </a:endParaRPr>
          </a:p>
        </p:txBody>
      </p:sp>
      <p:sp>
        <p:nvSpPr>
          <p:cNvPr id="104" name="Google Shape;104;p13"/>
          <p:cNvSpPr txBox="1"/>
          <p:nvPr/>
        </p:nvSpPr>
        <p:spPr>
          <a:xfrm>
            <a:off x="1119638" y="4863437"/>
            <a:ext cx="27432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60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Vùng phân hóa thấp</a:t>
            </a:r>
            <a:endParaRPr sz="1800">
              <a:latin typeface="Times New Roman" panose="02020603050405020304" pitchFamily="18" charset="0"/>
              <a:cs typeface="Times New Roman" panose="02020603050405020304" pitchFamily="18" charset="0"/>
            </a:endParaRPr>
          </a:p>
        </p:txBody>
      </p:sp>
      <p:pic>
        <p:nvPicPr>
          <p:cNvPr id="105" name="Google Shape;105;p13" descr="image.png"/>
          <p:cNvPicPr preferRelativeResize="0"/>
          <p:nvPr/>
        </p:nvPicPr>
        <p:blipFill rotWithShape="1">
          <a:blip r:embed="rId6">
            <a:alphaModFix/>
          </a:blip>
          <a:srcRect/>
          <a:stretch/>
        </p:blipFill>
        <p:spPr>
          <a:xfrm>
            <a:off x="881062" y="1233585"/>
            <a:ext cx="152400" cy="152400"/>
          </a:xfrm>
          <a:prstGeom prst="rect">
            <a:avLst/>
          </a:prstGeom>
          <a:noFill/>
          <a:ln>
            <a:noFill/>
          </a:ln>
        </p:spPr>
      </p:pic>
      <p:pic>
        <p:nvPicPr>
          <p:cNvPr id="106" name="Google Shape;106;p13" descr="image.png"/>
          <p:cNvPicPr preferRelativeResize="0"/>
          <p:nvPr/>
        </p:nvPicPr>
        <p:blipFill rotWithShape="1">
          <a:blip r:embed="rId7">
            <a:alphaModFix/>
          </a:blip>
          <a:srcRect/>
          <a:stretch/>
        </p:blipFill>
        <p:spPr>
          <a:xfrm>
            <a:off x="881062" y="3060762"/>
            <a:ext cx="152400" cy="152400"/>
          </a:xfrm>
          <a:prstGeom prst="rect">
            <a:avLst/>
          </a:prstGeom>
          <a:noFill/>
          <a:ln>
            <a:noFill/>
          </a:ln>
        </p:spPr>
      </p:pic>
      <p:pic>
        <p:nvPicPr>
          <p:cNvPr id="107" name="Google Shape;107;p13" descr="image.png"/>
          <p:cNvPicPr preferRelativeResize="0"/>
          <p:nvPr/>
        </p:nvPicPr>
        <p:blipFill rotWithShape="1">
          <a:blip r:embed="rId8">
            <a:alphaModFix/>
          </a:blip>
          <a:srcRect/>
          <a:stretch/>
        </p:blipFill>
        <p:spPr>
          <a:xfrm>
            <a:off x="881062" y="4917277"/>
            <a:ext cx="152400" cy="152400"/>
          </a:xfrm>
          <a:prstGeom prst="rect">
            <a:avLst/>
          </a:prstGeom>
          <a:noFill/>
          <a:ln>
            <a:noFill/>
          </a:ln>
        </p:spPr>
      </p:pic>
      <p:pic>
        <p:nvPicPr>
          <p:cNvPr id="3" name="Picture 2">
            <a:extLst>
              <a:ext uri="{FF2B5EF4-FFF2-40B4-BE49-F238E27FC236}">
                <a16:creationId xmlns:a16="http://schemas.microsoft.com/office/drawing/2014/main" id="{35612AA2-254F-902C-FAA4-5032E5D92BE9}"/>
              </a:ext>
            </a:extLst>
          </p:cNvPr>
          <p:cNvPicPr>
            <a:picLocks noChangeAspect="1"/>
          </p:cNvPicPr>
          <p:nvPr/>
        </p:nvPicPr>
        <p:blipFill>
          <a:blip r:embed="rId9"/>
          <a:stretch>
            <a:fillRect/>
          </a:stretch>
        </p:blipFill>
        <p:spPr>
          <a:xfrm>
            <a:off x="5737760" y="1543764"/>
            <a:ext cx="6509541" cy="4533900"/>
          </a:xfrm>
          <a:prstGeom prst="rect">
            <a:avLst/>
          </a:prstGeom>
        </p:spPr>
      </p:pic>
      <p:sp>
        <p:nvSpPr>
          <p:cNvPr id="7" name="Google Shape;91;p13">
            <a:extLst>
              <a:ext uri="{FF2B5EF4-FFF2-40B4-BE49-F238E27FC236}">
                <a16:creationId xmlns:a16="http://schemas.microsoft.com/office/drawing/2014/main" id="{896476A9-181F-22C9-1C08-E6A16CFA7294}"/>
              </a:ext>
            </a:extLst>
          </p:cNvPr>
          <p:cNvSpPr txBox="1"/>
          <p:nvPr/>
        </p:nvSpPr>
        <p:spPr>
          <a:xfrm>
            <a:off x="595312" y="224439"/>
            <a:ext cx="11001375" cy="5539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vi-VN" sz="3000" b="1">
                <a:solidFill>
                  <a:schemeClr val="tx1">
                    <a:lumMod val="95000"/>
                    <a:lumOff val="5000"/>
                  </a:schemeClr>
                </a:solidFill>
                <a:latin typeface="Times New Roman" panose="02020603050405020304" pitchFamily="18" charset="0"/>
                <a:cs typeface="Times New Roman" panose="02020603050405020304" pitchFamily="18" charset="0"/>
              </a:rPr>
              <a:t>Sự phân hóa có quy luật theo nhóm môn</a:t>
            </a:r>
            <a:endParaRPr sz="3000"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94E030B-FE70-B87D-0DA1-7B552EEB3035}"/>
              </a:ext>
            </a:extLst>
          </p:cNvPr>
          <p:cNvSpPr txBox="1"/>
          <p:nvPr/>
        </p:nvSpPr>
        <p:spPr>
          <a:xfrm>
            <a:off x="7343442" y="1221195"/>
            <a:ext cx="3552825" cy="20774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350">
                <a:solidFill>
                  <a:srgbClr val="0F172A"/>
                </a:solidFill>
                <a:latin typeface="Montserrat SemiBold"/>
                <a:ea typeface="Montserrat SemiBold"/>
                <a:cs typeface="Montserrat SemiBold"/>
              </a:defRPr>
            </a:lvl1pPr>
          </a:lstStyle>
          <a:p>
            <a:pPr algn="just"/>
            <a:r>
              <a:rPr lang="vi-VN" b="1">
                <a:latin typeface="Times New Roman" panose="02020603050405020304" pitchFamily="18" charset="0"/>
                <a:cs typeface="Times New Roman" panose="02020603050405020304" pitchFamily="18" charset="0"/>
              </a:rPr>
              <a:t>Tương quan trung bình và độ lệch chuẩn</a:t>
            </a:r>
            <a:endParaRPr lang="en-US" b="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3961D3C-1CBB-8295-D88F-EAA03B5D1E72}"/>
              </a:ext>
            </a:extLst>
          </p:cNvPr>
          <p:cNvSpPr txBox="1"/>
          <p:nvPr/>
        </p:nvSpPr>
        <p:spPr>
          <a:xfrm>
            <a:off x="10016810" y="5992403"/>
            <a:ext cx="2070415" cy="261610"/>
          </a:xfrm>
          <a:prstGeom prst="rect">
            <a:avLst/>
          </a:prstGeom>
          <a:noFill/>
        </p:spPr>
        <p:txBody>
          <a:bodyPr wrap="square">
            <a:spAutoFit/>
          </a:bodyPr>
          <a:lstStyle/>
          <a:p>
            <a:pPr marL="0" marR="0" lvl="0" indent="0" algn="just" rtl="0">
              <a:spcBef>
                <a:spcPts val="0"/>
              </a:spcBef>
              <a:spcAft>
                <a:spcPts val="0"/>
              </a:spcAft>
              <a:buNone/>
            </a:pPr>
            <a:r>
              <a:rPr lang="vi-VN" sz="1100" b="1" i="0" u="none" strike="noStrike" cap="none">
                <a:solidFill>
                  <a:schemeClr val="bg1">
                    <a:lumMod val="65000"/>
                  </a:schemeClr>
                </a:solidFill>
                <a:latin typeface="Times New Roman" panose="02020603050405020304" pitchFamily="18" charset="0"/>
                <a:ea typeface="Montserrat"/>
                <a:cs typeface="Times New Roman" panose="02020603050405020304" pitchFamily="18" charset="0"/>
                <a:sym typeface="Montserrat"/>
              </a:rPr>
              <a:t>Tiêu chuẩn SD 1-1,2, Mean 8.0 </a:t>
            </a:r>
            <a:endParaRPr lang="vi-VN" sz="800">
              <a:solidFill>
                <a:schemeClr val="bg1">
                  <a:lumMod val="65000"/>
                </a:schemeClr>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C880130F-1753-F823-F160-5E3B68EA03D7}"/>
              </a:ext>
            </a:extLst>
          </p:cNvPr>
          <p:cNvSpPr txBox="1"/>
          <p:nvPr/>
        </p:nvSpPr>
        <p:spPr>
          <a:xfrm>
            <a:off x="10921927" y="574943"/>
            <a:ext cx="1290972" cy="246221"/>
          </a:xfrm>
          <a:prstGeom prst="rect">
            <a:avLst/>
          </a:prstGeom>
          <a:noFill/>
        </p:spPr>
        <p:txBody>
          <a:bodyPr wrap="square" rtlCol="0">
            <a:spAutoFit/>
          </a:bodyPr>
          <a:lstStyle/>
          <a:p>
            <a:r>
              <a:rPr lang="en-US" sz="1000">
                <a:solidFill>
                  <a:schemeClr val="bg1">
                    <a:lumMod val="50000"/>
                  </a:schemeClr>
                </a:solidFill>
                <a:latin typeface="Times New Roman" panose="02020603050405020304" pitchFamily="18" charset="0"/>
                <a:cs typeface="Times New Roman" panose="02020603050405020304" pitchFamily="18" charset="0"/>
                <a:hlinkClick r:id="rId10">
                  <a:extLst>
                    <a:ext uri="{A12FA001-AC4F-418D-AE19-62706E023703}">
                      <ahyp:hlinkClr xmlns:ahyp="http://schemas.microsoft.com/office/drawing/2018/hyperlinkcolor" val="tx"/>
                    </a:ext>
                  </a:extLst>
                </a:hlinkClick>
              </a:rPr>
              <a:t>https://surl.li/yjvdlt</a:t>
            </a:r>
            <a:endParaRPr lang="en-US" sz="1000">
              <a:solidFill>
                <a:schemeClr val="bg1">
                  <a:lumMod val="50000"/>
                </a:schemeClr>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092330F-1522-A31B-FC36-5DFBB922643B}"/>
              </a:ext>
            </a:extLst>
          </p:cNvPr>
          <p:cNvSpPr txBox="1"/>
          <p:nvPr/>
        </p:nvSpPr>
        <p:spPr>
          <a:xfrm>
            <a:off x="9439276" y="362783"/>
            <a:ext cx="2647949" cy="400110"/>
          </a:xfrm>
          <a:prstGeom prst="rect">
            <a:avLst/>
          </a:prstGeom>
          <a:noFill/>
        </p:spPr>
        <p:txBody>
          <a:bodyPr wrap="square" rtlCol="0">
            <a:spAutoFit/>
          </a:bodyPr>
          <a:lstStyle>
            <a:defPPr marR="0" lvl="0" algn="l" rtl="0">
              <a:lnSpc>
                <a:spcPct val="100000"/>
              </a:lnSpc>
              <a:spcBef>
                <a:spcPts val="0"/>
              </a:spcBef>
              <a:spcAft>
                <a:spcPts val="0"/>
              </a:spcAft>
            </a:defPPr>
            <a:lvl1pPr>
              <a:defRPr sz="1000">
                <a:solidFill>
                  <a:schemeClr val="bg1">
                    <a:lumMod val="50000"/>
                  </a:schemeClr>
                </a:solidFill>
                <a:latin typeface="Times New Roman" panose="02020603050405020304" pitchFamily="18" charset="0"/>
                <a:cs typeface="Times New Roman" panose="02020603050405020304" pitchFamily="18" charset="0"/>
              </a:defRPr>
            </a:lvl1pPr>
          </a:lstStyle>
          <a:p>
            <a:r>
              <a:rPr lang="en-US"/>
              <a:t>PDF điểm trung bình và độ lệch chuẩn </a:t>
            </a:r>
            <a:r>
              <a:rPr lang="vi-VN"/>
              <a:t>các môn</a:t>
            </a:r>
            <a:endParaRPr lang="en-US"/>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CA57B232-00E9-53DF-DC68-19DE87DA1DC1}"/>
              </a:ext>
            </a:extLst>
          </p:cNvPr>
          <p:cNvSpPr/>
          <p:nvPr/>
        </p:nvSpPr>
        <p:spPr>
          <a:xfrm>
            <a:off x="462072" y="1215071"/>
            <a:ext cx="6385052" cy="5055037"/>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a:latin typeface="Times New Roman" panose="02020603050405020304" pitchFamily="18" charset="0"/>
                <a:cs typeface="Times New Roman" panose="02020603050405020304" pitchFamily="18" charset="0"/>
              </a:rPr>
              <a:t>f</a:t>
            </a:r>
            <a:endParaRPr lang="en-US">
              <a:latin typeface="Times New Roman" panose="02020603050405020304" pitchFamily="18" charset="0"/>
              <a:cs typeface="Times New Roman" panose="02020603050405020304" pitchFamily="18" charset="0"/>
            </a:endParaRPr>
          </a:p>
        </p:txBody>
      </p:sp>
      <p:sp>
        <p:nvSpPr>
          <p:cNvPr id="17" name="Rectangle: Rounded Corners 16">
            <a:extLst>
              <a:ext uri="{FF2B5EF4-FFF2-40B4-BE49-F238E27FC236}">
                <a16:creationId xmlns:a16="http://schemas.microsoft.com/office/drawing/2014/main" id="{3C0AC053-33FA-DFC5-7577-287B8AC4D1E8}"/>
              </a:ext>
            </a:extLst>
          </p:cNvPr>
          <p:cNvSpPr/>
          <p:nvPr/>
        </p:nvSpPr>
        <p:spPr>
          <a:xfrm>
            <a:off x="3736692" y="1461515"/>
            <a:ext cx="2488315" cy="928926"/>
          </a:xfrm>
          <a:prstGeom prst="roundRect">
            <a:avLst>
              <a:gd name="adj" fmla="val 6262"/>
            </a:avLst>
          </a:prstGeom>
          <a:solidFill>
            <a:srgbClr val="F05353"/>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B82F6"/>
              </a:solidFill>
            </a:endParaRPr>
          </a:p>
        </p:txBody>
      </p:sp>
      <p:sp>
        <p:nvSpPr>
          <p:cNvPr id="13" name="Rectangle: Rounded Corners 12">
            <a:extLst>
              <a:ext uri="{FF2B5EF4-FFF2-40B4-BE49-F238E27FC236}">
                <a16:creationId xmlns:a16="http://schemas.microsoft.com/office/drawing/2014/main" id="{C932E07E-AE14-F915-A1CA-75854EA9DE93}"/>
              </a:ext>
            </a:extLst>
          </p:cNvPr>
          <p:cNvSpPr/>
          <p:nvPr/>
        </p:nvSpPr>
        <p:spPr>
          <a:xfrm>
            <a:off x="3814911" y="1458727"/>
            <a:ext cx="2488315" cy="935608"/>
          </a:xfrm>
          <a:prstGeom prst="roundRect">
            <a:avLst>
              <a:gd name="adj" fmla="val 6262"/>
            </a:avLst>
          </a:prstGeom>
          <a:solidFill>
            <a:schemeClr val="bg1"/>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67E8A7BD-C27E-3115-BD8C-0A0631B0EE60}"/>
              </a:ext>
            </a:extLst>
          </p:cNvPr>
          <p:cNvSpPr/>
          <p:nvPr/>
        </p:nvSpPr>
        <p:spPr>
          <a:xfrm>
            <a:off x="702672" y="1462240"/>
            <a:ext cx="2488315" cy="934881"/>
          </a:xfrm>
          <a:prstGeom prst="roundRect">
            <a:avLst>
              <a:gd name="adj" fmla="val 6262"/>
            </a:avLst>
          </a:prstGeom>
          <a:solidFill>
            <a:srgbClr val="3B82F6"/>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B82F6"/>
              </a:solidFill>
            </a:endParaRPr>
          </a:p>
        </p:txBody>
      </p:sp>
      <p:sp>
        <p:nvSpPr>
          <p:cNvPr id="10" name="Rectangle: Rounded Corners 9">
            <a:extLst>
              <a:ext uri="{FF2B5EF4-FFF2-40B4-BE49-F238E27FC236}">
                <a16:creationId xmlns:a16="http://schemas.microsoft.com/office/drawing/2014/main" id="{04A1D33A-5A1C-D6E5-6B22-CB8DA1FA8BEA}"/>
              </a:ext>
            </a:extLst>
          </p:cNvPr>
          <p:cNvSpPr/>
          <p:nvPr/>
        </p:nvSpPr>
        <p:spPr>
          <a:xfrm>
            <a:off x="779083" y="1461514"/>
            <a:ext cx="2488315" cy="935608"/>
          </a:xfrm>
          <a:prstGeom prst="roundRect">
            <a:avLst>
              <a:gd name="adj" fmla="val 6262"/>
            </a:avLst>
          </a:prstGeom>
          <a:solidFill>
            <a:schemeClr val="bg1"/>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Google Shape;92;p13"/>
          <p:cNvSpPr txBox="1"/>
          <p:nvPr/>
        </p:nvSpPr>
        <p:spPr>
          <a:xfrm>
            <a:off x="702672" y="384843"/>
            <a:ext cx="11401425"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3B82F6"/>
                </a:solidFill>
                <a:latin typeface="Times New Roman" panose="02020603050405020304" pitchFamily="18" charset="0"/>
                <a:ea typeface="Times New Roman"/>
                <a:cs typeface="Times New Roman" panose="02020603050405020304" pitchFamily="18" charset="0"/>
                <a:sym typeface="Times New Roman"/>
              </a:rPr>
              <a:t>Kĩ thuật </a:t>
            </a:r>
            <a:r>
              <a:rPr lang="vi-VN" sz="2850" b="1">
                <a:solidFill>
                  <a:srgbClr val="0F172A"/>
                </a:solidFill>
                <a:latin typeface="Times New Roman" panose="02020603050405020304" pitchFamily="18" charset="0"/>
                <a:cs typeface="Times New Roman" panose="02020603050405020304" pitchFamily="18" charset="0"/>
                <a:sym typeface="Times New Roman"/>
              </a:rPr>
              <a:t>phân hóa tốt hơn</a:t>
            </a:r>
            <a:r>
              <a:rPr lang="en-US" sz="2850" b="1" i="0" u="none" strike="noStrike" cap="none">
                <a:solidFill>
                  <a:srgbClr val="3B82F6"/>
                </a:solidFill>
                <a:latin typeface="Times New Roman" panose="02020603050405020304" pitchFamily="18" charset="0"/>
                <a:ea typeface="Times New Roman"/>
                <a:cs typeface="Times New Roman" panose="02020603050405020304" pitchFamily="18" charset="0"/>
                <a:sym typeface="Times New Roman"/>
              </a:rPr>
              <a:t> </a:t>
            </a:r>
            <a:r>
              <a:rPr lang="en-US" sz="2850" b="1">
                <a:solidFill>
                  <a:srgbClr val="F05353"/>
                </a:solidFill>
                <a:latin typeface="Times New Roman" panose="02020603050405020304" pitchFamily="18" charset="0"/>
                <a:cs typeface="Times New Roman" panose="02020603050405020304" pitchFamily="18" charset="0"/>
                <a:sym typeface="Times New Roman"/>
              </a:rPr>
              <a:t>Kinh tế</a:t>
            </a:r>
            <a:endParaRPr lang="en-US" sz="2850" b="1">
              <a:solidFill>
                <a:srgbClr val="F05353"/>
              </a:solidFill>
              <a:latin typeface="Times New Roman" panose="02020603050405020304" pitchFamily="18" charset="0"/>
              <a:cs typeface="Times New Roman" panose="02020603050405020304" pitchFamily="18" charset="0"/>
            </a:endParaRPr>
          </a:p>
        </p:txBody>
      </p:sp>
      <p:pic>
        <p:nvPicPr>
          <p:cNvPr id="93" name="Google Shape;93;p13" descr="image.png"/>
          <p:cNvPicPr preferRelativeResize="0"/>
          <p:nvPr/>
        </p:nvPicPr>
        <p:blipFill rotWithShape="1">
          <a:blip r:embed="rId3">
            <a:alphaModFix/>
          </a:blip>
          <a:srcRect/>
          <a:stretch/>
        </p:blipFill>
        <p:spPr>
          <a:xfrm>
            <a:off x="637560" y="969092"/>
            <a:ext cx="130224" cy="142875"/>
          </a:xfrm>
          <a:prstGeom prst="rect">
            <a:avLst/>
          </a:prstGeom>
          <a:noFill/>
          <a:ln>
            <a:noFill/>
          </a:ln>
        </p:spPr>
      </p:pic>
      <p:sp>
        <p:nvSpPr>
          <p:cNvPr id="98" name="Google Shape;98;p13"/>
          <p:cNvSpPr txBox="1"/>
          <p:nvPr/>
        </p:nvSpPr>
        <p:spPr>
          <a:xfrm>
            <a:off x="4027438" y="1583314"/>
            <a:ext cx="2306687" cy="2462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600" b="1">
                <a:solidFill>
                  <a:srgbClr val="64748B"/>
                </a:solidFill>
                <a:latin typeface="Times New Roman" panose="02020603050405020304" pitchFamily="18" charset="0"/>
                <a:ea typeface="Roboto"/>
                <a:cs typeface="Times New Roman" panose="02020603050405020304" pitchFamily="18" charset="0"/>
              </a:defRPr>
            </a:lvl1pPr>
          </a:lstStyle>
          <a:p>
            <a:r>
              <a:rPr lang="vi-VN">
                <a:solidFill>
                  <a:schemeClr val="tx1">
                    <a:lumMod val="65000"/>
                    <a:lumOff val="35000"/>
                  </a:schemeClr>
                </a:solidFill>
                <a:sym typeface="Times New Roman"/>
              </a:rPr>
              <a:t>Chỉ số khối kinh tế</a:t>
            </a:r>
            <a:endParaRPr>
              <a:solidFill>
                <a:schemeClr val="tx1">
                  <a:lumMod val="65000"/>
                  <a:lumOff val="35000"/>
                </a:schemeClr>
              </a:solidFill>
            </a:endParaRPr>
          </a:p>
        </p:txBody>
      </p:sp>
      <p:sp>
        <p:nvSpPr>
          <p:cNvPr id="99" name="Google Shape;99;p13"/>
          <p:cNvSpPr txBox="1"/>
          <p:nvPr/>
        </p:nvSpPr>
        <p:spPr>
          <a:xfrm>
            <a:off x="938856" y="2204588"/>
            <a:ext cx="2306687" cy="18466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i="0" u="none" strike="noStrike" cap="none">
                <a:solidFill>
                  <a:schemeClr val="tx1">
                    <a:lumMod val="50000"/>
                    <a:lumOff val="50000"/>
                  </a:schemeClr>
                </a:solidFill>
                <a:latin typeface="Times New Roman" panose="02020603050405020304" pitchFamily="18" charset="0"/>
                <a:ea typeface="Times"/>
                <a:cs typeface="Times New Roman" panose="02020603050405020304" pitchFamily="18" charset="0"/>
                <a:sym typeface="Times"/>
              </a:rPr>
              <a:t>Điểm </a:t>
            </a:r>
            <a:r>
              <a:rPr lang="vi-VN" sz="1200" i="0" u="none" strike="noStrike" cap="none">
                <a:solidFill>
                  <a:schemeClr val="tx1">
                    <a:lumMod val="50000"/>
                    <a:lumOff val="50000"/>
                  </a:schemeClr>
                </a:solidFill>
                <a:latin typeface="Times New Roman" panose="02020603050405020304" pitchFamily="18" charset="0"/>
                <a:ea typeface="Times"/>
                <a:cs typeface="Times New Roman" panose="02020603050405020304" pitchFamily="18" charset="0"/>
                <a:sym typeface="Times"/>
              </a:rPr>
              <a:t>TB: </a:t>
            </a:r>
            <a:r>
              <a:rPr lang="en-US" sz="1200" i="0" u="none" strike="noStrike" cap="none">
                <a:solidFill>
                  <a:schemeClr val="tx1">
                    <a:lumMod val="50000"/>
                    <a:lumOff val="50000"/>
                  </a:schemeClr>
                </a:solidFill>
                <a:latin typeface="Times New Roman" panose="02020603050405020304" pitchFamily="18" charset="0"/>
                <a:ea typeface="Times New Roman"/>
                <a:cs typeface="Times New Roman" panose="02020603050405020304" pitchFamily="18" charset="0"/>
                <a:sym typeface="Times New Roman"/>
              </a:rPr>
              <a:t>7.84</a:t>
            </a:r>
            <a:endParaRPr>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00" name="Google Shape;100;p13"/>
          <p:cNvSpPr txBox="1"/>
          <p:nvPr/>
        </p:nvSpPr>
        <p:spPr>
          <a:xfrm>
            <a:off x="938856" y="1785740"/>
            <a:ext cx="2306687" cy="36933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1">
                <a:solidFill>
                  <a:srgbClr val="1E3A8A"/>
                </a:solidFill>
                <a:latin typeface="Times New Roman" panose="02020603050405020304" pitchFamily="18" charset="0"/>
                <a:cs typeface="Times New Roman" panose="02020603050405020304" pitchFamily="18" charset="0"/>
                <a:sym typeface="Times New Roman"/>
              </a:rPr>
              <a:t>1.18</a:t>
            </a:r>
            <a:r>
              <a:rPr lang="en-US" sz="2000" b="1" i="0" u="none" strike="noStrike" cap="none">
                <a:solidFill>
                  <a:srgbClr val="16A34A"/>
                </a:solidFill>
                <a:latin typeface="Times New Roman" panose="02020603050405020304" pitchFamily="18" charset="0"/>
                <a:ea typeface="Times New Roman"/>
                <a:cs typeface="Times New Roman" panose="02020603050405020304" pitchFamily="18" charset="0"/>
                <a:sym typeface="Times New Roman"/>
              </a:rPr>
              <a:t> </a:t>
            </a:r>
            <a:r>
              <a:rPr lang="en-US" b="1">
                <a:solidFill>
                  <a:schemeClr val="bg1">
                    <a:lumMod val="50000"/>
                  </a:schemeClr>
                </a:solidFill>
                <a:latin typeface="Times New Roman" panose="02020603050405020304" pitchFamily="18" charset="0"/>
                <a:cs typeface="Times New Roman" panose="02020603050405020304" pitchFamily="18" charset="0"/>
                <a:sym typeface="Times New Roman"/>
              </a:rPr>
              <a:t>SD</a:t>
            </a:r>
            <a:endParaRPr b="1">
              <a:solidFill>
                <a:schemeClr val="bg1">
                  <a:lumMod val="50000"/>
                </a:schemeClr>
              </a:solidFill>
              <a:latin typeface="Times New Roman" panose="02020603050405020304" pitchFamily="18" charset="0"/>
              <a:cs typeface="Times New Roman" panose="02020603050405020304" pitchFamily="18" charset="0"/>
            </a:endParaRPr>
          </a:p>
        </p:txBody>
      </p:sp>
      <p:sp>
        <p:nvSpPr>
          <p:cNvPr id="102" name="Google Shape;102;p13"/>
          <p:cNvSpPr txBox="1"/>
          <p:nvPr/>
        </p:nvSpPr>
        <p:spPr>
          <a:xfrm>
            <a:off x="4027290" y="2186229"/>
            <a:ext cx="2306835" cy="18466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i="0" u="none" strike="noStrike" cap="none">
                <a:solidFill>
                  <a:schemeClr val="tx1">
                    <a:lumMod val="50000"/>
                    <a:lumOff val="50000"/>
                  </a:schemeClr>
                </a:solidFill>
                <a:latin typeface="Times New Roman" panose="02020603050405020304" pitchFamily="18" charset="0"/>
                <a:ea typeface="Times"/>
                <a:cs typeface="Times New Roman" panose="02020603050405020304" pitchFamily="18" charset="0"/>
                <a:sym typeface="Times"/>
              </a:rPr>
              <a:t>Điểm </a:t>
            </a:r>
            <a:r>
              <a:rPr lang="vi-VN" sz="1200" i="0" u="none" strike="noStrike" cap="none">
                <a:solidFill>
                  <a:schemeClr val="tx1">
                    <a:lumMod val="50000"/>
                    <a:lumOff val="50000"/>
                  </a:schemeClr>
                </a:solidFill>
                <a:latin typeface="Times New Roman" panose="02020603050405020304" pitchFamily="18" charset="0"/>
                <a:ea typeface="Times"/>
                <a:cs typeface="Times New Roman" panose="02020603050405020304" pitchFamily="18" charset="0"/>
                <a:sym typeface="Times"/>
              </a:rPr>
              <a:t>TB: </a:t>
            </a:r>
            <a:r>
              <a:rPr lang="en-US" sz="1200" i="0" u="none" strike="noStrike" cap="none">
                <a:solidFill>
                  <a:schemeClr val="tx1">
                    <a:lumMod val="50000"/>
                    <a:lumOff val="50000"/>
                  </a:schemeClr>
                </a:solidFill>
                <a:latin typeface="Times New Roman" panose="02020603050405020304" pitchFamily="18" charset="0"/>
                <a:ea typeface="Times New Roman"/>
                <a:cs typeface="Times New Roman" panose="02020603050405020304" pitchFamily="18" charset="0"/>
                <a:sym typeface="Times New Roman"/>
              </a:rPr>
              <a:t>7.08</a:t>
            </a:r>
            <a:endParaRPr>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03" name="Google Shape;103;p13"/>
          <p:cNvSpPr txBox="1"/>
          <p:nvPr/>
        </p:nvSpPr>
        <p:spPr>
          <a:xfrm>
            <a:off x="4027289" y="1784063"/>
            <a:ext cx="2306835" cy="36933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1" i="0" u="none" strike="noStrike" cap="none">
                <a:solidFill>
                  <a:srgbClr val="DC2626"/>
                </a:solidFill>
                <a:latin typeface="Times New Roman" panose="02020603050405020304" pitchFamily="18" charset="0"/>
                <a:ea typeface="Times New Roman"/>
                <a:cs typeface="Times New Roman" panose="02020603050405020304" pitchFamily="18" charset="0"/>
                <a:sym typeface="Times New Roman"/>
              </a:rPr>
              <a:t>1.12 </a:t>
            </a:r>
            <a:r>
              <a:rPr lang="en-US" b="1" i="0" u="none" strike="noStrike" cap="none">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SD</a:t>
            </a:r>
            <a:endParaRPr sz="1200">
              <a:solidFill>
                <a:schemeClr val="bg1">
                  <a:lumMod val="50000"/>
                </a:schemeClr>
              </a:solidFill>
              <a:latin typeface="Times New Roman" panose="02020603050405020304" pitchFamily="18" charset="0"/>
              <a:cs typeface="Times New Roman" panose="02020603050405020304" pitchFamily="18" charset="0"/>
            </a:endParaRPr>
          </a:p>
        </p:txBody>
      </p:sp>
      <p:sp>
        <p:nvSpPr>
          <p:cNvPr id="8" name="Google Shape;98;p13">
            <a:extLst>
              <a:ext uri="{FF2B5EF4-FFF2-40B4-BE49-F238E27FC236}">
                <a16:creationId xmlns:a16="http://schemas.microsoft.com/office/drawing/2014/main" id="{EC52AB46-C66C-43E1-0B4E-92363D6C8FA0}"/>
              </a:ext>
            </a:extLst>
          </p:cNvPr>
          <p:cNvSpPr txBox="1"/>
          <p:nvPr/>
        </p:nvSpPr>
        <p:spPr>
          <a:xfrm>
            <a:off x="938858" y="1584991"/>
            <a:ext cx="2306687" cy="2462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600" b="1">
                <a:solidFill>
                  <a:srgbClr val="64748B"/>
                </a:solidFill>
                <a:latin typeface="Times New Roman" panose="02020603050405020304" pitchFamily="18" charset="0"/>
                <a:ea typeface="Roboto"/>
                <a:cs typeface="Times New Roman" panose="02020603050405020304" pitchFamily="18" charset="0"/>
              </a:defRPr>
            </a:lvl1pPr>
          </a:lstStyle>
          <a:p>
            <a:r>
              <a:rPr lang="vi-VN">
                <a:solidFill>
                  <a:schemeClr val="tx1">
                    <a:lumMod val="65000"/>
                    <a:lumOff val="35000"/>
                  </a:schemeClr>
                </a:solidFill>
                <a:sym typeface="Times New Roman"/>
              </a:rPr>
              <a:t>Chỉ số khối kỹ thuật</a:t>
            </a:r>
            <a:endParaRPr>
              <a:solidFill>
                <a:schemeClr val="tx1">
                  <a:lumMod val="65000"/>
                  <a:lumOff val="35000"/>
                </a:schemeClr>
              </a:solidFill>
            </a:endParaRPr>
          </a:p>
        </p:txBody>
      </p:sp>
      <p:graphicFrame>
        <p:nvGraphicFramePr>
          <p:cNvPr id="18" name="Chart 17">
            <a:extLst>
              <a:ext uri="{FF2B5EF4-FFF2-40B4-BE49-F238E27FC236}">
                <a16:creationId xmlns:a16="http://schemas.microsoft.com/office/drawing/2014/main" id="{32BD56CB-4FA2-59D9-37BD-5B0D9C9D6F00}"/>
              </a:ext>
            </a:extLst>
          </p:cNvPr>
          <p:cNvGraphicFramePr>
            <a:graphicFrameLocks/>
          </p:cNvGraphicFramePr>
          <p:nvPr>
            <p:extLst>
              <p:ext uri="{D42A27DB-BD31-4B8C-83A1-F6EECF244321}">
                <p14:modId xmlns:p14="http://schemas.microsoft.com/office/powerpoint/2010/main" val="1741035539"/>
              </p:ext>
            </p:extLst>
          </p:nvPr>
        </p:nvGraphicFramePr>
        <p:xfrm>
          <a:off x="462071" y="2759174"/>
          <a:ext cx="7297531" cy="3470175"/>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Box 18">
            <a:extLst>
              <a:ext uri="{FF2B5EF4-FFF2-40B4-BE49-F238E27FC236}">
                <a16:creationId xmlns:a16="http://schemas.microsoft.com/office/drawing/2014/main" id="{E8BF27D6-A985-0438-A4EF-A799735D9C74}"/>
              </a:ext>
            </a:extLst>
          </p:cNvPr>
          <p:cNvSpPr txBox="1"/>
          <p:nvPr/>
        </p:nvSpPr>
        <p:spPr>
          <a:xfrm>
            <a:off x="702672" y="3676405"/>
            <a:ext cx="2107413" cy="307777"/>
          </a:xfrm>
          <a:prstGeom prst="rect">
            <a:avLst/>
          </a:prstGeom>
          <a:noFill/>
        </p:spPr>
        <p:txBody>
          <a:bodyPr wrap="square" rtlCol="0">
            <a:spAutoFit/>
          </a:bodyPr>
          <a:lstStyle/>
          <a:p>
            <a:r>
              <a:rPr lang="vi-VN" b="1">
                <a:solidFill>
                  <a:schemeClr val="tx1">
                    <a:lumMod val="65000"/>
                    <a:lumOff val="35000"/>
                  </a:schemeClr>
                </a:solidFill>
              </a:rPr>
              <a:t>Kỹ thuật</a:t>
            </a:r>
            <a:endParaRPr lang="en-US" b="1">
              <a:solidFill>
                <a:schemeClr val="tx1">
                  <a:lumMod val="65000"/>
                  <a:lumOff val="35000"/>
                </a:schemeClr>
              </a:solidFill>
            </a:endParaRPr>
          </a:p>
        </p:txBody>
      </p:sp>
      <p:sp>
        <p:nvSpPr>
          <p:cNvPr id="20" name="TextBox 19">
            <a:extLst>
              <a:ext uri="{FF2B5EF4-FFF2-40B4-BE49-F238E27FC236}">
                <a16:creationId xmlns:a16="http://schemas.microsoft.com/office/drawing/2014/main" id="{D433CC11-CF31-4BA6-C158-DC8316117E30}"/>
              </a:ext>
            </a:extLst>
          </p:cNvPr>
          <p:cNvSpPr txBox="1"/>
          <p:nvPr/>
        </p:nvSpPr>
        <p:spPr>
          <a:xfrm>
            <a:off x="692006" y="4833558"/>
            <a:ext cx="2107413" cy="307777"/>
          </a:xfrm>
          <a:prstGeom prst="rect">
            <a:avLst/>
          </a:prstGeom>
          <a:noFill/>
        </p:spPr>
        <p:txBody>
          <a:bodyPr wrap="square" rtlCol="0">
            <a:spAutoFit/>
          </a:bodyPr>
          <a:lstStyle/>
          <a:p>
            <a:r>
              <a:rPr lang="vi-VN" b="1">
                <a:solidFill>
                  <a:schemeClr val="tx1">
                    <a:lumMod val="65000"/>
                    <a:lumOff val="35000"/>
                  </a:schemeClr>
                </a:solidFill>
              </a:rPr>
              <a:t>Kinh tế</a:t>
            </a:r>
            <a:endParaRPr lang="en-US" b="1">
              <a:solidFill>
                <a:schemeClr val="tx1">
                  <a:lumMod val="65000"/>
                  <a:lumOff val="35000"/>
                </a:schemeClr>
              </a:solidFill>
            </a:endParaRPr>
          </a:p>
        </p:txBody>
      </p:sp>
      <p:sp>
        <p:nvSpPr>
          <p:cNvPr id="32" name="Rectangle: Rounded Corners 31">
            <a:extLst>
              <a:ext uri="{FF2B5EF4-FFF2-40B4-BE49-F238E27FC236}">
                <a16:creationId xmlns:a16="http://schemas.microsoft.com/office/drawing/2014/main" id="{8729CBB6-51D7-5542-2F11-52C3BDA07AD4}"/>
              </a:ext>
            </a:extLst>
          </p:cNvPr>
          <p:cNvSpPr/>
          <p:nvPr/>
        </p:nvSpPr>
        <p:spPr>
          <a:xfrm>
            <a:off x="7022612" y="3839966"/>
            <a:ext cx="4960183" cy="2446082"/>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33" name="Rectangle: Rounded Corners 32">
            <a:extLst>
              <a:ext uri="{FF2B5EF4-FFF2-40B4-BE49-F238E27FC236}">
                <a16:creationId xmlns:a16="http://schemas.microsoft.com/office/drawing/2014/main" id="{DB2C7A8A-6D80-277E-43FB-91857A58E1F9}"/>
              </a:ext>
            </a:extLst>
          </p:cNvPr>
          <p:cNvSpPr/>
          <p:nvPr/>
        </p:nvSpPr>
        <p:spPr>
          <a:xfrm>
            <a:off x="7022612" y="1275604"/>
            <a:ext cx="4960183" cy="2446082"/>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atin typeface="Times New Roman" panose="02020603050405020304" pitchFamily="18" charset="0"/>
              <a:cs typeface="Times New Roman" panose="02020603050405020304" pitchFamily="18" charset="0"/>
            </a:endParaRPr>
          </a:p>
        </p:txBody>
      </p:sp>
      <p:sp>
        <p:nvSpPr>
          <p:cNvPr id="35" name="Google Shape;95;p13">
            <a:extLst>
              <a:ext uri="{FF2B5EF4-FFF2-40B4-BE49-F238E27FC236}">
                <a16:creationId xmlns:a16="http://schemas.microsoft.com/office/drawing/2014/main" id="{F7C75AFF-DEBF-4D6E-B4C8-8EF49E9352CA}"/>
              </a:ext>
            </a:extLst>
          </p:cNvPr>
          <p:cNvSpPr txBox="1"/>
          <p:nvPr/>
        </p:nvSpPr>
        <p:spPr>
          <a:xfrm>
            <a:off x="7270261" y="1965750"/>
            <a:ext cx="4377928" cy="137883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Khối Tech có </a:t>
            </a:r>
            <a:r>
              <a:rPr lang="en-US" b="1"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điểm trung bình cao  </a:t>
            </a:r>
            <a:r>
              <a:rPr lang="en-US"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nhưng vẫn giữ được </a:t>
            </a:r>
            <a:r>
              <a:rPr lang="en-US" b="1"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độ lệch chuẩn lý tưởng</a:t>
            </a:r>
            <a:r>
              <a:rPr lang="en-US"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 Biểu đồ cho thấy </a:t>
            </a:r>
            <a:r>
              <a:rPr lang="en-US" b="1">
                <a:solidFill>
                  <a:srgbClr val="3B82F6"/>
                </a:solidFill>
                <a:latin typeface="Times New Roman" panose="02020603050405020304" pitchFamily="18" charset="0"/>
                <a:cs typeface="Times New Roman" panose="02020603050405020304" pitchFamily="18" charset="0"/>
                <a:sym typeface="Times New Roman"/>
              </a:rPr>
              <a:t>hơn 61.5%</a:t>
            </a:r>
            <a:r>
              <a:rPr lang="en-US" b="1" i="0" u="none" strike="noStrike" cap="none">
                <a:solidFill>
                  <a:srgbClr val="3B82F6"/>
                </a:solidFill>
                <a:latin typeface="Times New Roman" panose="02020603050405020304" pitchFamily="18" charset="0"/>
                <a:ea typeface="Times New Roman"/>
                <a:cs typeface="Times New Roman" panose="02020603050405020304" pitchFamily="18" charset="0"/>
                <a:sym typeface="Times New Roman"/>
              </a:rPr>
              <a:t> </a:t>
            </a:r>
            <a:r>
              <a:rPr lang="en-US"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học phần nằm ở vùng </a:t>
            </a:r>
            <a:r>
              <a:rPr lang="en-US" b="1" i="0" u="none" strike="noStrike" cap="none">
                <a:solidFill>
                  <a:srgbClr val="3B82F6"/>
                </a:solidFill>
                <a:latin typeface="Times New Roman" panose="02020603050405020304" pitchFamily="18" charset="0"/>
                <a:ea typeface="Times New Roman"/>
                <a:cs typeface="Times New Roman" panose="02020603050405020304" pitchFamily="18" charset="0"/>
                <a:sym typeface="Times New Roman"/>
              </a:rPr>
              <a:t>Phân hóa Cao </a:t>
            </a:r>
            <a:r>
              <a:rPr lang="en-US"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chứng tỏ đề thi lọc cực tốt năng lực thực chất của sinh viên thay vì cho điểm ảo.</a:t>
            </a:r>
            <a:endParaRPr sz="1600">
              <a:latin typeface="Times New Roman" panose="02020603050405020304" pitchFamily="18" charset="0"/>
              <a:cs typeface="Times New Roman" panose="02020603050405020304" pitchFamily="18" charset="0"/>
            </a:endParaRPr>
          </a:p>
        </p:txBody>
      </p:sp>
      <p:sp>
        <p:nvSpPr>
          <p:cNvPr id="37" name="Google Shape;97;p13">
            <a:extLst>
              <a:ext uri="{FF2B5EF4-FFF2-40B4-BE49-F238E27FC236}">
                <a16:creationId xmlns:a16="http://schemas.microsoft.com/office/drawing/2014/main" id="{65FC1DA6-2F1C-E1D5-C3F5-E9EE8CC36131}"/>
              </a:ext>
            </a:extLst>
          </p:cNvPr>
          <p:cNvSpPr txBox="1"/>
          <p:nvPr/>
        </p:nvSpPr>
        <p:spPr>
          <a:xfrm>
            <a:off x="7270261" y="4380938"/>
            <a:ext cx="4377928" cy="17235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Dù </a:t>
            </a:r>
            <a:r>
              <a:rPr lang="vi-VN" b="1"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điểm trung bình thấp hơn</a:t>
            </a:r>
            <a:r>
              <a:rPr lang="vi-VN"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 </a:t>
            </a:r>
            <a:r>
              <a:rPr lang="vi-VN" b="1"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độ lệch</a:t>
            </a:r>
            <a:r>
              <a:rPr lang="vi-VN"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 của khối Biz vẫn </a:t>
            </a:r>
            <a:r>
              <a:rPr lang="vi-VN" b="1"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thấp hơn </a:t>
            </a:r>
            <a:r>
              <a:rPr lang="vi-VN"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khối </a:t>
            </a:r>
            <a:r>
              <a:rPr lang="vi-VN" b="1"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Kĩ thuật</a:t>
            </a:r>
            <a:r>
              <a:rPr lang="vi-VN"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 Đáng chú ý hơn, có tới </a:t>
            </a:r>
            <a:r>
              <a:rPr lang="vi-VN" b="1" i="0" u="none" strike="noStrike" cap="none">
                <a:solidFill>
                  <a:srgbClr val="F05353"/>
                </a:solidFill>
                <a:latin typeface="Times New Roman" panose="02020603050405020304" pitchFamily="18" charset="0"/>
                <a:ea typeface="Times New Roman"/>
                <a:cs typeface="Times New Roman" panose="02020603050405020304" pitchFamily="18" charset="0"/>
                <a:sym typeface="Times New Roman"/>
              </a:rPr>
              <a:t>40%</a:t>
            </a:r>
            <a:r>
              <a:rPr lang="vi-VN"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 học phần rơi vào vùng </a:t>
            </a:r>
            <a:r>
              <a:rPr lang="vi-VN" b="1" i="0" u="none" strike="noStrike" cap="none">
                <a:solidFill>
                  <a:srgbClr val="F05353"/>
                </a:solidFill>
                <a:latin typeface="Times New Roman" panose="02020603050405020304" pitchFamily="18" charset="0"/>
                <a:ea typeface="Times New Roman"/>
                <a:cs typeface="Times New Roman" panose="02020603050405020304" pitchFamily="18" charset="0"/>
                <a:sym typeface="Times New Roman"/>
              </a:rPr>
              <a:t>Phân hóa Thấp</a:t>
            </a:r>
            <a:r>
              <a:rPr lang="vi-VN" b="0" i="0" u="none" strike="noStrike" cap="none">
                <a:solidFill>
                  <a:srgbClr val="475569"/>
                </a:solidFill>
                <a:latin typeface="Times New Roman" panose="02020603050405020304" pitchFamily="18" charset="0"/>
                <a:ea typeface="Times New Roman"/>
                <a:cs typeface="Times New Roman" panose="02020603050405020304" pitchFamily="18" charset="0"/>
                <a:sym typeface="Times New Roman"/>
              </a:rPr>
              <a:t>, điều này khiến học sinh giỏi và xuất sắc khó bứt phá, trong khi nhóm trung bình vẫn duy trì được mặt bằng điểm tương đối.</a:t>
            </a:r>
            <a:endParaRPr sz="1600">
              <a:latin typeface="Times New Roman" panose="02020603050405020304" pitchFamily="18" charset="0"/>
              <a:cs typeface="Times New Roman" panose="02020603050405020304" pitchFamily="18" charset="0"/>
            </a:endParaRPr>
          </a:p>
        </p:txBody>
      </p:sp>
      <p:sp>
        <p:nvSpPr>
          <p:cNvPr id="38" name="Google Shape;104;p13">
            <a:extLst>
              <a:ext uri="{FF2B5EF4-FFF2-40B4-BE49-F238E27FC236}">
                <a16:creationId xmlns:a16="http://schemas.microsoft.com/office/drawing/2014/main" id="{F5B9E979-5275-4DFF-7C6B-13DF8BDD5026}"/>
              </a:ext>
            </a:extLst>
          </p:cNvPr>
          <p:cNvSpPr txBox="1"/>
          <p:nvPr/>
        </p:nvSpPr>
        <p:spPr>
          <a:xfrm>
            <a:off x="7270261" y="1522232"/>
            <a:ext cx="344232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800" b="1" i="0" u="none" strike="noStrike" cap="none">
                <a:solidFill>
                  <a:srgbClr val="0F172A"/>
                </a:solidFill>
                <a:latin typeface="Times New Roman" panose="02020603050405020304" pitchFamily="18" charset="0"/>
                <a:ea typeface="Times New Roman"/>
                <a:cs typeface="Times New Roman" panose="02020603050405020304" pitchFamily="18" charset="0"/>
                <a:sym typeface="Times New Roman"/>
              </a:rPr>
              <a:t>P</a:t>
            </a:r>
            <a:r>
              <a:rPr lang="en-US" sz="1800" b="1" i="0" u="none" strike="noStrike" cap="none">
                <a:solidFill>
                  <a:srgbClr val="0F172A"/>
                </a:solidFill>
                <a:latin typeface="Times New Roman" panose="02020603050405020304" pitchFamily="18" charset="0"/>
                <a:ea typeface="Times New Roman"/>
                <a:cs typeface="Times New Roman" panose="02020603050405020304" pitchFamily="18" charset="0"/>
                <a:sym typeface="Times New Roman"/>
              </a:rPr>
              <a:t>hân hóa vượt trội</a:t>
            </a:r>
            <a:r>
              <a:rPr lang="vi-VN" sz="1800" b="1" i="0" u="none" strike="noStrike" cap="none">
                <a:solidFill>
                  <a:srgbClr val="0F172A"/>
                </a:solidFill>
                <a:latin typeface="Times New Roman" panose="02020603050405020304" pitchFamily="18" charset="0"/>
                <a:ea typeface="Times New Roman"/>
                <a:cs typeface="Times New Roman" panose="02020603050405020304" pitchFamily="18" charset="0"/>
                <a:sym typeface="Times New Roman"/>
              </a:rPr>
              <a:t> ở </a:t>
            </a:r>
            <a:r>
              <a:rPr lang="vi-VN" sz="1800" b="1" i="0" u="none" strike="noStrike" cap="none">
                <a:solidFill>
                  <a:srgbClr val="3B82F6"/>
                </a:solidFill>
                <a:latin typeface="Times New Roman" panose="02020603050405020304" pitchFamily="18" charset="0"/>
                <a:ea typeface="Times New Roman"/>
                <a:cs typeface="Times New Roman" panose="02020603050405020304" pitchFamily="18" charset="0"/>
                <a:sym typeface="Times New Roman"/>
              </a:rPr>
              <a:t>Kỹ thuật</a:t>
            </a:r>
            <a:endParaRPr sz="1800">
              <a:solidFill>
                <a:srgbClr val="3B82F6"/>
              </a:solidFill>
              <a:latin typeface="Times New Roman" panose="02020603050405020304" pitchFamily="18" charset="0"/>
              <a:cs typeface="Times New Roman" panose="02020603050405020304" pitchFamily="18" charset="0"/>
            </a:endParaRPr>
          </a:p>
        </p:txBody>
      </p:sp>
      <p:sp>
        <p:nvSpPr>
          <p:cNvPr id="39" name="Google Shape;105;p13">
            <a:extLst>
              <a:ext uri="{FF2B5EF4-FFF2-40B4-BE49-F238E27FC236}">
                <a16:creationId xmlns:a16="http://schemas.microsoft.com/office/drawing/2014/main" id="{AC2467D0-4255-9667-0DFF-65E17D83AD5D}"/>
              </a:ext>
            </a:extLst>
          </p:cNvPr>
          <p:cNvSpPr txBox="1"/>
          <p:nvPr/>
        </p:nvSpPr>
        <p:spPr>
          <a:xfrm>
            <a:off x="7252153" y="3979077"/>
            <a:ext cx="445966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Times New Roman" panose="02020603050405020304" pitchFamily="18" charset="0"/>
                <a:ea typeface="Times New Roman"/>
                <a:cs typeface="Times New Roman" panose="02020603050405020304" pitchFamily="18" charset="0"/>
                <a:sym typeface="Times New Roman"/>
              </a:rPr>
              <a:t>Báo động tình trạng "Cào bằng“</a:t>
            </a:r>
            <a:r>
              <a:rPr lang="vi-VN" sz="1800" b="1" i="0" u="none" strike="noStrike" cap="none">
                <a:solidFill>
                  <a:srgbClr val="0F172A"/>
                </a:solidFill>
                <a:latin typeface="Times New Roman" panose="02020603050405020304" pitchFamily="18" charset="0"/>
                <a:ea typeface="Times New Roman"/>
                <a:cs typeface="Times New Roman" panose="02020603050405020304" pitchFamily="18" charset="0"/>
                <a:sym typeface="Times New Roman"/>
              </a:rPr>
              <a:t> ở </a:t>
            </a:r>
            <a:r>
              <a:rPr lang="vi-VN" sz="1800" b="1" i="0" u="none" strike="noStrike" cap="none">
                <a:solidFill>
                  <a:srgbClr val="F05353"/>
                </a:solidFill>
                <a:latin typeface="Times New Roman" panose="02020603050405020304" pitchFamily="18" charset="0"/>
                <a:ea typeface="Times New Roman"/>
                <a:cs typeface="Times New Roman" panose="02020603050405020304" pitchFamily="18" charset="0"/>
                <a:sym typeface="Times New Roman"/>
              </a:rPr>
              <a:t>Kinh tế</a:t>
            </a:r>
            <a:endParaRPr sz="1800">
              <a:solidFill>
                <a:srgbClr val="F05353"/>
              </a:solidFill>
              <a:latin typeface="Times New Roman" panose="02020603050405020304" pitchFamily="18" charset="0"/>
              <a:cs typeface="Times New Roman" panose="02020603050405020304" pitchFamily="18" charset="0"/>
            </a:endParaRPr>
          </a:p>
        </p:txBody>
      </p:sp>
      <p:cxnSp>
        <p:nvCxnSpPr>
          <p:cNvPr id="41" name="Straight Connector 40">
            <a:extLst>
              <a:ext uri="{FF2B5EF4-FFF2-40B4-BE49-F238E27FC236}">
                <a16:creationId xmlns:a16="http://schemas.microsoft.com/office/drawing/2014/main" id="{5D6D6027-5E6C-D2A3-2CE0-9C01860D9603}"/>
              </a:ext>
            </a:extLst>
          </p:cNvPr>
          <p:cNvCxnSpPr/>
          <p:nvPr/>
        </p:nvCxnSpPr>
        <p:spPr>
          <a:xfrm>
            <a:off x="462071" y="2759174"/>
            <a:ext cx="6385053"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2" name="Rectangle: Rounded Corners 41">
            <a:extLst>
              <a:ext uri="{FF2B5EF4-FFF2-40B4-BE49-F238E27FC236}">
                <a16:creationId xmlns:a16="http://schemas.microsoft.com/office/drawing/2014/main" id="{28BF33D0-464C-9731-45EF-274B50687BEF}"/>
              </a:ext>
            </a:extLst>
          </p:cNvPr>
          <p:cNvSpPr/>
          <p:nvPr/>
        </p:nvSpPr>
        <p:spPr>
          <a:xfrm>
            <a:off x="7020742" y="1275603"/>
            <a:ext cx="58712" cy="2446082"/>
          </a:xfrm>
          <a:prstGeom prst="roundRect">
            <a:avLst>
              <a:gd name="adj" fmla="val 6262"/>
            </a:avLst>
          </a:prstGeom>
          <a:solidFill>
            <a:srgbClr val="3B82F6"/>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solidFill>
                  <a:srgbClr val="3B82F6"/>
                </a:solidFill>
              </a:rPr>
              <a:t>v</a:t>
            </a:r>
            <a:endParaRPr lang="en-US">
              <a:solidFill>
                <a:srgbClr val="3B82F6"/>
              </a:solidFill>
            </a:endParaRPr>
          </a:p>
        </p:txBody>
      </p:sp>
      <p:sp>
        <p:nvSpPr>
          <p:cNvPr id="43" name="Rectangle: Rounded Corners 42">
            <a:extLst>
              <a:ext uri="{FF2B5EF4-FFF2-40B4-BE49-F238E27FC236}">
                <a16:creationId xmlns:a16="http://schemas.microsoft.com/office/drawing/2014/main" id="{8999C8EE-8B7D-1327-4DE9-EBD50D04C2C0}"/>
              </a:ext>
            </a:extLst>
          </p:cNvPr>
          <p:cNvSpPr/>
          <p:nvPr/>
        </p:nvSpPr>
        <p:spPr>
          <a:xfrm>
            <a:off x="7019487" y="3824026"/>
            <a:ext cx="58712" cy="2446082"/>
          </a:xfrm>
          <a:prstGeom prst="roundRect">
            <a:avLst>
              <a:gd name="adj" fmla="val 6262"/>
            </a:avLst>
          </a:prstGeom>
          <a:solidFill>
            <a:srgbClr val="F05353"/>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B82F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D7C68A9-0EE6-5954-21A1-F3DC666676AB}"/>
            </a:ext>
          </a:extLst>
        </p:cNvPr>
        <p:cNvGrpSpPr/>
        <p:nvPr/>
      </p:nvGrpSpPr>
      <p:grpSpPr>
        <a:xfrm>
          <a:off x="0" y="0"/>
          <a:ext cx="0" cy="0"/>
          <a:chOff x="0" y="0"/>
          <a:chExt cx="0" cy="0"/>
        </a:xfrm>
      </p:grpSpPr>
      <p:pic>
        <p:nvPicPr>
          <p:cNvPr id="25" name="Google Shape;87;p13" descr="image.png">
            <a:extLst>
              <a:ext uri="{FF2B5EF4-FFF2-40B4-BE49-F238E27FC236}">
                <a16:creationId xmlns:a16="http://schemas.microsoft.com/office/drawing/2014/main" id="{00E79CA4-7872-2D0C-5039-4F6A07A67867}"/>
              </a:ext>
            </a:extLst>
          </p:cNvPr>
          <p:cNvPicPr preferRelativeResize="0"/>
          <p:nvPr/>
        </p:nvPicPr>
        <p:blipFill rotWithShape="1">
          <a:blip r:embed="rId3">
            <a:alphaModFix/>
          </a:blip>
          <a:srcRect/>
          <a:stretch/>
        </p:blipFill>
        <p:spPr>
          <a:xfrm>
            <a:off x="7020203" y="4335017"/>
            <a:ext cx="4529732" cy="1851003"/>
          </a:xfrm>
          <a:prstGeom prst="rect">
            <a:avLst/>
          </a:prstGeom>
          <a:noFill/>
          <a:ln>
            <a:noFill/>
          </a:ln>
        </p:spPr>
      </p:pic>
      <p:graphicFrame>
        <p:nvGraphicFramePr>
          <p:cNvPr id="2" name="Table 1">
            <a:extLst>
              <a:ext uri="{FF2B5EF4-FFF2-40B4-BE49-F238E27FC236}">
                <a16:creationId xmlns:a16="http://schemas.microsoft.com/office/drawing/2014/main" id="{0EC95DBB-979A-B419-996B-2CB3CB78F00A}"/>
              </a:ext>
            </a:extLst>
          </p:cNvPr>
          <p:cNvGraphicFramePr>
            <a:graphicFrameLocks noGrp="1"/>
          </p:cNvGraphicFramePr>
          <p:nvPr>
            <p:extLst>
              <p:ext uri="{D42A27DB-BD31-4B8C-83A1-F6EECF244321}">
                <p14:modId xmlns:p14="http://schemas.microsoft.com/office/powerpoint/2010/main" val="2467217509"/>
              </p:ext>
            </p:extLst>
          </p:nvPr>
        </p:nvGraphicFramePr>
        <p:xfrm>
          <a:off x="678961" y="2421408"/>
          <a:ext cx="5868998" cy="3683878"/>
        </p:xfrm>
        <a:graphic>
          <a:graphicData uri="http://schemas.openxmlformats.org/drawingml/2006/table">
            <a:tbl>
              <a:tblPr firstRow="1" bandRow="1">
                <a:tableStyleId>{2D5ABB26-0587-4C30-8999-92F81FD0307C}</a:tableStyleId>
              </a:tblPr>
              <a:tblGrid>
                <a:gridCol w="1823515">
                  <a:extLst>
                    <a:ext uri="{9D8B030D-6E8A-4147-A177-3AD203B41FA5}">
                      <a16:colId xmlns:a16="http://schemas.microsoft.com/office/drawing/2014/main" val="910288527"/>
                    </a:ext>
                  </a:extLst>
                </a:gridCol>
                <a:gridCol w="711530">
                  <a:extLst>
                    <a:ext uri="{9D8B030D-6E8A-4147-A177-3AD203B41FA5}">
                      <a16:colId xmlns:a16="http://schemas.microsoft.com/office/drawing/2014/main" val="1747043847"/>
                    </a:ext>
                  </a:extLst>
                </a:gridCol>
                <a:gridCol w="918921">
                  <a:extLst>
                    <a:ext uri="{9D8B030D-6E8A-4147-A177-3AD203B41FA5}">
                      <a16:colId xmlns:a16="http://schemas.microsoft.com/office/drawing/2014/main" val="3543786077"/>
                    </a:ext>
                  </a:extLst>
                </a:gridCol>
                <a:gridCol w="1017578">
                  <a:extLst>
                    <a:ext uri="{9D8B030D-6E8A-4147-A177-3AD203B41FA5}">
                      <a16:colId xmlns:a16="http://schemas.microsoft.com/office/drawing/2014/main" val="794569399"/>
                    </a:ext>
                  </a:extLst>
                </a:gridCol>
                <a:gridCol w="1397454">
                  <a:extLst>
                    <a:ext uri="{9D8B030D-6E8A-4147-A177-3AD203B41FA5}">
                      <a16:colId xmlns:a16="http://schemas.microsoft.com/office/drawing/2014/main" val="1084590778"/>
                    </a:ext>
                  </a:extLst>
                </a:gridCol>
              </a:tblGrid>
              <a:tr h="539438">
                <a:tc>
                  <a:txBody>
                    <a:bodyPr/>
                    <a:lstStyle/>
                    <a:p>
                      <a:pPr marL="0" marR="0" lvl="0" indent="0" algn="l" rtl="0">
                        <a:spcBef>
                          <a:spcPts val="0"/>
                        </a:spcBef>
                        <a:spcAft>
                          <a:spcPts val="0"/>
                        </a:spcAft>
                        <a:buNone/>
                      </a:pPr>
                      <a:r>
                        <a:rPr lang="en-US" sz="1400"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Tên học phần</a:t>
                      </a:r>
                      <a:endParaRPr sz="2000">
                        <a:latin typeface="Times New Roman" panose="02020603050405020304" pitchFamily="18" charset="0"/>
                        <a:cs typeface="Times New Roman" panose="02020603050405020304" pitchFamily="18" charset="0"/>
                      </a:endParaRPr>
                    </a:p>
                  </a:txBody>
                  <a:tcPr marL="63500" marR="63500" marT="25400" marB="2540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C"/>
                    </a:solidFill>
                  </a:tcPr>
                </a:tc>
                <a:tc>
                  <a:txBody>
                    <a:bodyPr/>
                    <a:lstStyle/>
                    <a:p>
                      <a:pPr marL="0" marR="0" lvl="0" indent="0" algn="l" rtl="0">
                        <a:spcBef>
                          <a:spcPts val="0"/>
                        </a:spcBef>
                        <a:spcAft>
                          <a:spcPts val="0"/>
                        </a:spcAft>
                        <a:buNone/>
                      </a:pPr>
                      <a:r>
                        <a:rPr lang="en-US" sz="1400"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Mean</a:t>
                      </a:r>
                      <a:endParaRPr sz="2000">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C"/>
                    </a:solidFill>
                  </a:tcPr>
                </a:tc>
                <a:tc>
                  <a:txBody>
                    <a:bodyPr/>
                    <a:lstStyle/>
                    <a:p>
                      <a:pPr marL="0" marR="0" lvl="0" indent="0" algn="l" rtl="0">
                        <a:spcBef>
                          <a:spcPts val="0"/>
                        </a:spcBef>
                        <a:spcAft>
                          <a:spcPts val="0"/>
                        </a:spcAft>
                        <a:buNone/>
                      </a:pPr>
                      <a:r>
                        <a:rPr lang="en-US" sz="1400"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SD</a:t>
                      </a:r>
                      <a:endParaRPr sz="2000">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C"/>
                    </a:solidFill>
                  </a:tcPr>
                </a:tc>
                <a:tc>
                  <a:txBody>
                    <a:bodyPr/>
                    <a:lstStyle/>
                    <a:p>
                      <a:pPr marL="0" marR="0" lvl="0" indent="0" algn="l" rtl="0">
                        <a:spcBef>
                          <a:spcPts val="0"/>
                        </a:spcBef>
                        <a:spcAft>
                          <a:spcPts val="0"/>
                        </a:spcAft>
                        <a:buNone/>
                      </a:pPr>
                      <a:r>
                        <a:rPr lang="en-US" sz="1400"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Phân loại</a:t>
                      </a:r>
                      <a:endParaRPr sz="2000">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C"/>
                    </a:solidFill>
                  </a:tcPr>
                </a:tc>
                <a:tc>
                  <a:txBody>
                    <a:bodyPr/>
                    <a:lstStyle/>
                    <a:p>
                      <a:pPr marL="0" marR="0" lvl="0" indent="0" algn="l" rtl="0">
                        <a:spcBef>
                          <a:spcPts val="0"/>
                        </a:spcBef>
                        <a:spcAft>
                          <a:spcPts val="0"/>
                        </a:spcAft>
                        <a:buNone/>
                      </a:pPr>
                      <a:r>
                        <a:rPr lang="en-US" sz="1400"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Loại HP</a:t>
                      </a:r>
                      <a:endParaRPr sz="2000">
                        <a:latin typeface="Times New Roman" panose="02020603050405020304" pitchFamily="18" charset="0"/>
                        <a:cs typeface="Times New Roman" panose="02020603050405020304" pitchFamily="18" charset="0"/>
                      </a:endParaRPr>
                    </a:p>
                  </a:txBody>
                  <a:tcPr marL="63500" marR="63500" marT="25400" marB="2540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C"/>
                    </a:solidFill>
                  </a:tcPr>
                </a:tc>
                <a:extLst>
                  <a:ext uri="{0D108BD9-81ED-4DB2-BD59-A6C34878D82A}">
                    <a16:rowId xmlns:a16="http://schemas.microsoft.com/office/drawing/2014/main" val="3564041208"/>
                  </a:ext>
                </a:extLst>
              </a:tr>
              <a:tr h="628888">
                <a:tc>
                  <a:txBody>
                    <a:bodyPr/>
                    <a:lstStyle/>
                    <a:p>
                      <a:pPr marL="0" marR="0" lvl="0" indent="0" algn="l" rtl="0">
                        <a:spcBef>
                          <a:spcPts val="0"/>
                        </a:spcBef>
                        <a:spcAft>
                          <a:spcPts val="0"/>
                        </a:spcAft>
                        <a:buNone/>
                      </a:pPr>
                      <a:r>
                        <a:rPr lang="en-US" sz="1400" b="1" u="none" strike="noStrike" cap="none">
                          <a:solidFill>
                            <a:schemeClr val="tx1"/>
                          </a:solidFill>
                          <a:latin typeface="Times New Roman" panose="02020603050405020304" pitchFamily="18" charset="0"/>
                          <a:cs typeface="Times New Roman" panose="02020603050405020304" pitchFamily="18" charset="0"/>
                          <a:sym typeface="Roboto"/>
                        </a:rPr>
                        <a:t>Chuỗi khối</a:t>
                      </a:r>
                      <a:endParaRPr sz="1400" b="1">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200" b="1" i="0" u="none" strike="noStrike" cap="none">
                          <a:solidFill>
                            <a:srgbClr val="1D4ED8"/>
                          </a:solidFill>
                          <a:latin typeface="Roboto"/>
                          <a:ea typeface="Roboto"/>
                          <a:cs typeface="Roboto"/>
                          <a:sym typeface="Roboto"/>
                        </a:rPr>
                        <a:t>8.17</a:t>
                      </a:r>
                      <a:endParaRPr sz="1400"/>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200" b="1" i="0" u="none" strike="noStrike" cap="none">
                          <a:solidFill>
                            <a:srgbClr val="1D4ED8"/>
                          </a:solidFill>
                          <a:latin typeface="Roboto"/>
                          <a:ea typeface="Roboto"/>
                          <a:cs typeface="Roboto"/>
                          <a:sym typeface="Roboto"/>
                        </a:rPr>
                        <a:t>0.60</a:t>
                      </a:r>
                      <a:endParaRPr sz="1400"/>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400" b="0" i="0" u="none" strike="noStrike" cap="none">
                          <a:solidFill>
                            <a:srgbClr val="3981F6"/>
                          </a:solidFill>
                          <a:latin typeface="Times New Roman" panose="02020603050405020304" pitchFamily="18" charset="0"/>
                          <a:cs typeface="Times New Roman" panose="02020603050405020304" pitchFamily="18" charset="0"/>
                          <a:sym typeface="Roboto"/>
                        </a:rPr>
                        <a:t>Kỹ thuật</a:t>
                      </a:r>
                      <a:endParaRPr sz="1400" b="0" i="0" u="none" strike="noStrike" cap="none">
                        <a:solidFill>
                          <a:srgbClr val="3981F6"/>
                        </a:solidFill>
                        <a:latin typeface="Times New Roman" panose="02020603050405020304" pitchFamily="18" charset="0"/>
                        <a:cs typeface="Times New Roman" panose="02020603050405020304" pitchFamily="18" charset="0"/>
                        <a:sym typeface="Arial"/>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400" b="0" u="none" strike="noStrike" cap="none">
                          <a:solidFill>
                            <a:srgbClr val="334155"/>
                          </a:solidFill>
                          <a:latin typeface="Times New Roman" panose="02020603050405020304" pitchFamily="18" charset="0"/>
                          <a:cs typeface="Times New Roman" panose="02020603050405020304" pitchFamily="18" charset="0"/>
                          <a:sym typeface="Roboto"/>
                        </a:rPr>
                        <a:t>Bắt buộc</a:t>
                      </a:r>
                      <a:endParaRPr sz="1400">
                        <a:latin typeface="Times New Roman" panose="02020603050405020304" pitchFamily="18" charset="0"/>
                        <a:cs typeface="Times New Roman" panose="02020603050405020304" pitchFamily="18" charset="0"/>
                      </a:endParaRPr>
                    </a:p>
                  </a:txBody>
                  <a:tcPr marL="63500" marR="63500" marT="25400" marB="2540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extLst>
                  <a:ext uri="{0D108BD9-81ED-4DB2-BD59-A6C34878D82A}">
                    <a16:rowId xmlns:a16="http://schemas.microsoft.com/office/drawing/2014/main" val="960595300"/>
                  </a:ext>
                </a:extLst>
              </a:tr>
              <a:tr h="628888">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Nguyên lý Marketing</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7.22</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0.60</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Font typeface="Arial"/>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Kinh tế</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Bắt buộc</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3970786244"/>
                  </a:ext>
                </a:extLst>
              </a:tr>
              <a:tr h="628888">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Quản trị học</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7.04</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0.62</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Font typeface="Arial"/>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Kinh tế</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Bắt buộc</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95337414"/>
                  </a:ext>
                </a:extLst>
              </a:tr>
              <a:tr h="628888">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Thương mại điện tử</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7.62</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0.67</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Font typeface="Arial"/>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Kinh tế</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Tự chọn</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9396188"/>
                  </a:ext>
                </a:extLst>
              </a:tr>
              <a:tr h="628888">
                <a:tc>
                  <a:txBody>
                    <a:bodyPr/>
                    <a:lstStyle/>
                    <a:p>
                      <a:pPr marL="0" marR="0" lvl="0" indent="0" algn="l" rtl="0">
                        <a:spcBef>
                          <a:spcPts val="0"/>
                        </a:spcBef>
                        <a:spcAft>
                          <a:spcPts val="0"/>
                        </a:spcAft>
                        <a:buNone/>
                      </a:pPr>
                      <a:r>
                        <a:rPr lang="en-US" sz="1400" b="1" u="none" strike="noStrike" cap="none">
                          <a:solidFill>
                            <a:schemeClr val="tx1"/>
                          </a:solidFill>
                          <a:latin typeface="Times New Roman" panose="02020603050405020304" pitchFamily="18" charset="0"/>
                          <a:cs typeface="Times New Roman" panose="02020603050405020304" pitchFamily="18" charset="0"/>
                          <a:sym typeface="Roboto"/>
                        </a:rPr>
                        <a:t>Tư tưởng Hồ Chí Minh</a:t>
                      </a:r>
                      <a:endParaRPr sz="1400" b="1">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200" b="1" i="0" u="none" strike="noStrike" cap="none">
                          <a:solidFill>
                            <a:srgbClr val="1D4ED8"/>
                          </a:solidFill>
                          <a:latin typeface="Roboto"/>
                          <a:ea typeface="Roboto"/>
                          <a:cs typeface="Roboto"/>
                          <a:sym typeface="Roboto"/>
                        </a:rPr>
                        <a:t>8.17</a:t>
                      </a:r>
                      <a:endParaRPr sz="1400"/>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200" b="1" i="0" u="none" strike="noStrike" cap="none">
                          <a:solidFill>
                            <a:srgbClr val="1D4ED8"/>
                          </a:solidFill>
                          <a:latin typeface="Roboto"/>
                          <a:ea typeface="Roboto"/>
                          <a:cs typeface="Roboto"/>
                          <a:sym typeface="Roboto"/>
                        </a:rPr>
                        <a:t>0.60</a:t>
                      </a:r>
                      <a:endParaRPr sz="1400"/>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400" b="0" i="0" u="none" strike="noStrike" cap="none">
                          <a:solidFill>
                            <a:srgbClr val="8894A6"/>
                          </a:solidFill>
                          <a:latin typeface="Times New Roman" panose="02020603050405020304" pitchFamily="18" charset="0"/>
                          <a:ea typeface="+mn-ea"/>
                          <a:cs typeface="Times New Roman" panose="02020603050405020304" pitchFamily="18" charset="0"/>
                          <a:sym typeface="Roboto"/>
                        </a:rPr>
                        <a:t>Bổ</a:t>
                      </a:r>
                      <a:r>
                        <a:rPr lang="en-US" sz="1400" b="0" i="0" u="none" strike="noStrike" cap="none">
                          <a:solidFill>
                            <a:srgbClr val="176635"/>
                          </a:solidFill>
                          <a:latin typeface="Times New Roman" panose="02020603050405020304" pitchFamily="18" charset="0"/>
                          <a:cs typeface="Times New Roman" panose="02020603050405020304" pitchFamily="18" charset="0"/>
                          <a:sym typeface="Roboto"/>
                        </a:rPr>
                        <a:t> </a:t>
                      </a:r>
                      <a:r>
                        <a:rPr lang="en-US" sz="1400" b="0" i="0" u="none" strike="noStrike" cap="none">
                          <a:solidFill>
                            <a:srgbClr val="8894A6"/>
                          </a:solidFill>
                          <a:latin typeface="Times New Roman" panose="02020603050405020304" pitchFamily="18" charset="0"/>
                          <a:ea typeface="+mn-ea"/>
                          <a:cs typeface="Times New Roman" panose="02020603050405020304" pitchFamily="18" charset="0"/>
                          <a:sym typeface="Roboto"/>
                        </a:rPr>
                        <a:t>trợ</a:t>
                      </a:r>
                      <a:endParaRPr sz="1400" b="0" i="0" u="none" strike="noStrike" cap="none">
                        <a:solidFill>
                          <a:srgbClr val="8894A6"/>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400" b="0" u="none" strike="noStrike" cap="none">
                          <a:solidFill>
                            <a:srgbClr val="334155"/>
                          </a:solidFill>
                          <a:latin typeface="Times New Roman" panose="02020603050405020304" pitchFamily="18" charset="0"/>
                          <a:cs typeface="Times New Roman" panose="02020603050405020304" pitchFamily="18" charset="0"/>
                          <a:sym typeface="Roboto"/>
                        </a:rPr>
                        <a:t>Bắt buộc</a:t>
                      </a:r>
                      <a:endParaRPr sz="1400">
                        <a:latin typeface="Times New Roman" panose="02020603050405020304" pitchFamily="18" charset="0"/>
                        <a:cs typeface="Times New Roman" panose="02020603050405020304" pitchFamily="18" charset="0"/>
                      </a:endParaRPr>
                    </a:p>
                  </a:txBody>
                  <a:tcPr marL="63500" marR="63500" marT="25400" marB="2540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extLst>
                  <a:ext uri="{0D108BD9-81ED-4DB2-BD59-A6C34878D82A}">
                    <a16:rowId xmlns:a16="http://schemas.microsoft.com/office/drawing/2014/main" val="979739246"/>
                  </a:ext>
                </a:extLst>
              </a:tr>
            </a:tbl>
          </a:graphicData>
        </a:graphic>
      </p:graphicFrame>
      <p:sp>
        <p:nvSpPr>
          <p:cNvPr id="10" name="Google Shape;91;p13">
            <a:extLst>
              <a:ext uri="{FF2B5EF4-FFF2-40B4-BE49-F238E27FC236}">
                <a16:creationId xmlns:a16="http://schemas.microsoft.com/office/drawing/2014/main" id="{7471C452-EB30-E58C-52F4-9A44A066A210}"/>
              </a:ext>
            </a:extLst>
          </p:cNvPr>
          <p:cNvSpPr txBox="1"/>
          <p:nvPr/>
        </p:nvSpPr>
        <p:spPr>
          <a:xfrm>
            <a:off x="709442" y="436265"/>
            <a:ext cx="11001375"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vi-VN" sz="3000" b="1" i="0" u="none" strike="noStrike" cap="none">
                <a:solidFill>
                  <a:schemeClr val="tx1"/>
                </a:solidFill>
                <a:latin typeface="Times New Roman" panose="02020603050405020304" pitchFamily="18" charset="0"/>
                <a:ea typeface="Montserrat ExtraBold"/>
                <a:cs typeface="Times New Roman" panose="02020603050405020304" pitchFamily="18" charset="0"/>
                <a:sym typeface="Montserrat ExtraBold"/>
              </a:rPr>
              <a:t>Lạm phát điểm ở </a:t>
            </a:r>
          </a:p>
          <a:p>
            <a:pPr marL="0" marR="0" lvl="0" indent="0" algn="l" rtl="0">
              <a:lnSpc>
                <a:spcPct val="120000"/>
              </a:lnSpc>
              <a:spcBef>
                <a:spcPts val="0"/>
              </a:spcBef>
              <a:spcAft>
                <a:spcPts val="0"/>
              </a:spcAft>
              <a:buNone/>
            </a:pPr>
            <a:r>
              <a:rPr lang="vi-VN" sz="3000" b="1">
                <a:solidFill>
                  <a:srgbClr val="1E3A8A"/>
                </a:solidFill>
                <a:latin typeface="Times New Roman" panose="02020603050405020304" pitchFamily="18" charset="0"/>
                <a:cs typeface="Times New Roman" panose="02020603050405020304" pitchFamily="18" charset="0"/>
                <a:sym typeface="Montserrat ExtraBold"/>
              </a:rPr>
              <a:t>Chuỗi khối và Tư tưởng Hồ Chí Minh</a:t>
            </a:r>
          </a:p>
        </p:txBody>
      </p:sp>
      <p:sp>
        <p:nvSpPr>
          <p:cNvPr id="6" name="Rectangle 5">
            <a:extLst>
              <a:ext uri="{FF2B5EF4-FFF2-40B4-BE49-F238E27FC236}">
                <a16:creationId xmlns:a16="http://schemas.microsoft.com/office/drawing/2014/main" id="{28E71968-D4A1-4B96-1C08-3CF7F2699A58}"/>
              </a:ext>
            </a:extLst>
          </p:cNvPr>
          <p:cNvSpPr/>
          <p:nvPr/>
        </p:nvSpPr>
        <p:spPr>
          <a:xfrm>
            <a:off x="652327" y="2955858"/>
            <a:ext cx="67336" cy="694389"/>
          </a:xfrm>
          <a:prstGeom prst="rect">
            <a:avLst/>
          </a:prstGeom>
          <a:solidFill>
            <a:srgbClr val="00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18" name="Google Shape;87;p13" descr="image.png">
            <a:extLst>
              <a:ext uri="{FF2B5EF4-FFF2-40B4-BE49-F238E27FC236}">
                <a16:creationId xmlns:a16="http://schemas.microsoft.com/office/drawing/2014/main" id="{3646E922-0AB6-C587-51F3-FFC6389BC1A6}"/>
              </a:ext>
            </a:extLst>
          </p:cNvPr>
          <p:cNvPicPr preferRelativeResize="0"/>
          <p:nvPr/>
        </p:nvPicPr>
        <p:blipFill rotWithShape="1">
          <a:blip r:embed="rId3"/>
          <a:srcRect/>
          <a:stretch/>
        </p:blipFill>
        <p:spPr>
          <a:xfrm>
            <a:off x="6985609" y="2320948"/>
            <a:ext cx="4529732" cy="1851002"/>
          </a:xfrm>
          <a:prstGeom prst="rect">
            <a:avLst/>
          </a:prstGeom>
          <a:noFill/>
          <a:ln>
            <a:noFill/>
          </a:ln>
        </p:spPr>
      </p:pic>
      <p:sp>
        <p:nvSpPr>
          <p:cNvPr id="21" name="Google Shape;100;p13">
            <a:extLst>
              <a:ext uri="{FF2B5EF4-FFF2-40B4-BE49-F238E27FC236}">
                <a16:creationId xmlns:a16="http://schemas.microsoft.com/office/drawing/2014/main" id="{BB07EFF3-2D6A-40E5-9EED-742B69EE13F9}"/>
              </a:ext>
            </a:extLst>
          </p:cNvPr>
          <p:cNvSpPr txBox="1"/>
          <p:nvPr/>
        </p:nvSpPr>
        <p:spPr>
          <a:xfrm>
            <a:off x="7166992" y="2484015"/>
            <a:ext cx="4236154"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Hiện </a:t>
            </a:r>
            <a:r>
              <a:rPr lang="vi-VN" sz="16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tượng lạm phát “Giỏi”</a:t>
            </a:r>
            <a:endParaRPr sz="1800">
              <a:latin typeface="Times New Roman" panose="02020603050405020304" pitchFamily="18" charset="0"/>
              <a:cs typeface="Times New Roman" panose="02020603050405020304" pitchFamily="18" charset="0"/>
            </a:endParaRPr>
          </a:p>
        </p:txBody>
      </p:sp>
      <p:sp>
        <p:nvSpPr>
          <p:cNvPr id="22" name="Google Shape;101;p13">
            <a:extLst>
              <a:ext uri="{FF2B5EF4-FFF2-40B4-BE49-F238E27FC236}">
                <a16:creationId xmlns:a16="http://schemas.microsoft.com/office/drawing/2014/main" id="{A62F396F-34F6-9B8B-11B5-6A347F2D491F}"/>
              </a:ext>
            </a:extLst>
          </p:cNvPr>
          <p:cNvSpPr txBox="1"/>
          <p:nvPr/>
        </p:nvSpPr>
        <p:spPr>
          <a:xfrm>
            <a:off x="7166992" y="2792886"/>
            <a:ext cx="4313772" cy="103412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lnSpc>
                <a:spcPct val="160000"/>
              </a:lnSpc>
              <a:buNone/>
              <a:defRPr>
                <a:solidFill>
                  <a:srgbClr val="475569"/>
                </a:solidFill>
                <a:latin typeface="Times New Roman" panose="02020603050405020304" pitchFamily="18" charset="0"/>
                <a:ea typeface="Times New Roman"/>
                <a:cs typeface="Times New Roman" panose="02020603050405020304" pitchFamily="18" charset="0"/>
              </a:defRPr>
            </a:lvl1pPr>
          </a:lstStyle>
          <a:p>
            <a:r>
              <a:rPr lang="en-US">
                <a:sym typeface="Roboto"/>
              </a:rPr>
              <a:t>Sự kết hợp</a:t>
            </a:r>
            <a:r>
              <a:rPr lang="vi-VN">
                <a:sym typeface="Roboto"/>
              </a:rPr>
              <a:t> </a:t>
            </a:r>
            <a:r>
              <a:rPr lang="en-US">
                <a:sym typeface="Roboto"/>
              </a:rPr>
              <a:t>giữa Điểm trung bình cao và Độ lệch chuẩn cực thấp </a:t>
            </a:r>
            <a:r>
              <a:rPr lang="vi-VN">
                <a:sym typeface="Roboto"/>
              </a:rPr>
              <a:t>cho thấy rằng </a:t>
            </a:r>
            <a:r>
              <a:rPr lang="en-US">
                <a:sym typeface="Roboto"/>
              </a:rPr>
              <a:t>phần lớn sinh viên đều đạt điểm </a:t>
            </a:r>
            <a:r>
              <a:rPr lang="vi-VN">
                <a:sym typeface="Roboto"/>
              </a:rPr>
              <a:t>Giỏi</a:t>
            </a:r>
            <a:r>
              <a:rPr lang="en-US">
                <a:sym typeface="Roboto"/>
              </a:rPr>
              <a:t>. </a:t>
            </a:r>
            <a:r>
              <a:rPr lang="vi-VN">
                <a:sym typeface="Roboto"/>
              </a:rPr>
              <a:t>Sự</a:t>
            </a:r>
            <a:r>
              <a:rPr lang="en-US">
                <a:sym typeface="Roboto"/>
              </a:rPr>
              <a:t> </a:t>
            </a:r>
            <a:r>
              <a:rPr lang="en-US" b="1">
                <a:solidFill>
                  <a:srgbClr val="1E3A8A"/>
                </a:solidFill>
                <a:sym typeface="Roboto"/>
              </a:rPr>
              <a:t>phân </a:t>
            </a:r>
            <a:r>
              <a:rPr lang="vi-VN" b="1">
                <a:solidFill>
                  <a:srgbClr val="1E3A8A"/>
                </a:solidFill>
                <a:sym typeface="Roboto"/>
              </a:rPr>
              <a:t>hóa</a:t>
            </a:r>
            <a:r>
              <a:rPr lang="en-US" b="1">
                <a:solidFill>
                  <a:srgbClr val="1E3A8A"/>
                </a:solidFill>
                <a:sym typeface="Roboto"/>
              </a:rPr>
              <a:t> năng lực </a:t>
            </a:r>
            <a:r>
              <a:rPr lang="vi-VN" b="1">
                <a:solidFill>
                  <a:srgbClr val="1E3A8A"/>
                </a:solidFill>
                <a:sym typeface="Roboto"/>
              </a:rPr>
              <a:t>tại đây</a:t>
            </a:r>
            <a:r>
              <a:rPr lang="en-US" b="1">
                <a:solidFill>
                  <a:srgbClr val="1E3A8A"/>
                </a:solidFill>
                <a:sym typeface="Roboto"/>
              </a:rPr>
              <a:t> hoàn toàn </a:t>
            </a:r>
            <a:r>
              <a:rPr lang="vi-VN" b="1">
                <a:solidFill>
                  <a:srgbClr val="1E3A8A"/>
                </a:solidFill>
                <a:sym typeface="Roboto"/>
              </a:rPr>
              <a:t>không còn.</a:t>
            </a:r>
            <a:endParaRPr b="1">
              <a:solidFill>
                <a:srgbClr val="1E3A8A"/>
              </a:solidFill>
            </a:endParaRPr>
          </a:p>
        </p:txBody>
      </p:sp>
      <p:sp>
        <p:nvSpPr>
          <p:cNvPr id="24" name="Google Shape;103;p13">
            <a:extLst>
              <a:ext uri="{FF2B5EF4-FFF2-40B4-BE49-F238E27FC236}">
                <a16:creationId xmlns:a16="http://schemas.microsoft.com/office/drawing/2014/main" id="{4054F779-9DDF-CF24-3031-A123EFBFEF23}"/>
              </a:ext>
            </a:extLst>
          </p:cNvPr>
          <p:cNvSpPr txBox="1"/>
          <p:nvPr/>
        </p:nvSpPr>
        <p:spPr>
          <a:xfrm>
            <a:off x="7233259" y="4930065"/>
            <a:ext cx="4282082" cy="103412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L="0" indent="0">
              <a:lnSpc>
                <a:spcPct val="160000"/>
              </a:lnSpc>
              <a:buNone/>
              <a:defRPr>
                <a:solidFill>
                  <a:srgbClr val="475569"/>
                </a:solidFill>
                <a:latin typeface="Times New Roman" panose="02020603050405020304" pitchFamily="18" charset="0"/>
                <a:ea typeface="Times New Roman"/>
                <a:cs typeface="Times New Roman" panose="02020603050405020304" pitchFamily="18" charset="0"/>
              </a:defRPr>
            </a:lvl1pPr>
          </a:lstStyle>
          <a:p>
            <a:r>
              <a:rPr lang="vi-VN">
                <a:sym typeface="Roboto"/>
              </a:rPr>
              <a:t>Khi điểm cao gần như được đảm bảo, sinh viên dễ xem đây là "</a:t>
            </a:r>
            <a:r>
              <a:rPr lang="vi-VN" b="1">
                <a:solidFill>
                  <a:srgbClr val="1E3A8A"/>
                </a:solidFill>
                <a:sym typeface="Roboto"/>
              </a:rPr>
              <a:t>môn kéo GPA</a:t>
            </a:r>
            <a:r>
              <a:rPr lang="vi-VN">
                <a:sym typeface="Roboto"/>
              </a:rPr>
              <a:t>" hơn là môn cần đầu tư, làm nhiễu bức tranh đánh giá học lực tổng thể. </a:t>
            </a:r>
            <a:endParaRPr/>
          </a:p>
        </p:txBody>
      </p:sp>
      <p:sp>
        <p:nvSpPr>
          <p:cNvPr id="26" name="Rectangle 25">
            <a:extLst>
              <a:ext uri="{FF2B5EF4-FFF2-40B4-BE49-F238E27FC236}">
                <a16:creationId xmlns:a16="http://schemas.microsoft.com/office/drawing/2014/main" id="{92056825-4217-25BE-CB40-83BC7F2A4A0C}"/>
              </a:ext>
            </a:extLst>
          </p:cNvPr>
          <p:cNvSpPr/>
          <p:nvPr/>
        </p:nvSpPr>
        <p:spPr>
          <a:xfrm>
            <a:off x="642065" y="5410898"/>
            <a:ext cx="67336" cy="694389"/>
          </a:xfrm>
          <a:prstGeom prst="rect">
            <a:avLst/>
          </a:prstGeom>
          <a:solidFill>
            <a:srgbClr val="00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 name="Google Shape;100;p13">
            <a:extLst>
              <a:ext uri="{FF2B5EF4-FFF2-40B4-BE49-F238E27FC236}">
                <a16:creationId xmlns:a16="http://schemas.microsoft.com/office/drawing/2014/main" id="{84FA5063-D224-048F-2E3E-BFDE71139710}"/>
              </a:ext>
            </a:extLst>
          </p:cNvPr>
          <p:cNvSpPr txBox="1"/>
          <p:nvPr/>
        </p:nvSpPr>
        <p:spPr>
          <a:xfrm>
            <a:off x="7233259" y="4520777"/>
            <a:ext cx="4236154" cy="2462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600" b="1">
                <a:solidFill>
                  <a:srgbClr val="1E3A8A"/>
                </a:solidFill>
                <a:latin typeface="Times New Roman" panose="02020603050405020304" pitchFamily="18" charset="0"/>
                <a:ea typeface="Montserrat"/>
                <a:cs typeface="Times New Roman" panose="02020603050405020304" pitchFamily="18" charset="0"/>
              </a:defRPr>
            </a:lvl1pPr>
          </a:lstStyle>
          <a:p>
            <a:r>
              <a:rPr lang="vi-VN"/>
              <a:t>Ảnh hưởng tiêu cực</a:t>
            </a:r>
            <a:endParaRPr/>
          </a:p>
        </p:txBody>
      </p:sp>
      <p:sp>
        <p:nvSpPr>
          <p:cNvPr id="7" name="Rectangle: Rounded Corners 6">
            <a:extLst>
              <a:ext uri="{FF2B5EF4-FFF2-40B4-BE49-F238E27FC236}">
                <a16:creationId xmlns:a16="http://schemas.microsoft.com/office/drawing/2014/main" id="{3FF5C580-5E21-AC65-2F48-8243ECC1991C}"/>
              </a:ext>
            </a:extLst>
          </p:cNvPr>
          <p:cNvSpPr/>
          <p:nvPr/>
        </p:nvSpPr>
        <p:spPr>
          <a:xfrm>
            <a:off x="658833" y="2421407"/>
            <a:ext cx="5868998" cy="3683879"/>
          </a:xfrm>
          <a:prstGeom prst="roundRect">
            <a:avLst>
              <a:gd name="adj" fmla="val 1310"/>
            </a:avLst>
          </a:prstGeom>
          <a:no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a:latin typeface="Times New Roman" panose="02020603050405020304" pitchFamily="18" charset="0"/>
                <a:cs typeface="Times New Roman" panose="02020603050405020304" pitchFamily="18" charset="0"/>
              </a:rPr>
              <a:t>f</a:t>
            </a:r>
            <a:endParaRPr lang="en-US">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7F4711D-4AF3-9443-8E3A-11244B9CD3D1}"/>
              </a:ext>
            </a:extLst>
          </p:cNvPr>
          <p:cNvSpPr txBox="1"/>
          <p:nvPr/>
        </p:nvSpPr>
        <p:spPr>
          <a:xfrm>
            <a:off x="658833" y="1907960"/>
            <a:ext cx="5674391" cy="27699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600" b="1">
                <a:solidFill>
                  <a:srgbClr val="1E3A8A"/>
                </a:solidFill>
                <a:latin typeface="Times New Roman" panose="02020603050405020304" pitchFamily="18" charset="0"/>
                <a:ea typeface="Montserrat"/>
                <a:cs typeface="Times New Roman" panose="02020603050405020304" pitchFamily="18" charset="0"/>
              </a:defRPr>
            </a:lvl1pPr>
          </a:lstStyle>
          <a:p>
            <a:r>
              <a:rPr lang="vi-VN" sz="1800"/>
              <a:t>Các học phần có độ phân hóa (SD) thấp nhất</a:t>
            </a:r>
            <a:endParaRPr lang="en-US" sz="1800"/>
          </a:p>
        </p:txBody>
      </p:sp>
    </p:spTree>
    <p:extLst>
      <p:ext uri="{BB962C8B-B14F-4D97-AF65-F5344CB8AC3E}">
        <p14:creationId xmlns:p14="http://schemas.microsoft.com/office/powerpoint/2010/main" val="3360302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2C11E019-C316-90E6-E242-44E6051397E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DB7D9B5-6B56-14F2-A656-977A8CC14288}"/>
              </a:ext>
            </a:extLst>
          </p:cNvPr>
          <p:cNvSpPr/>
          <p:nvPr/>
        </p:nvSpPr>
        <p:spPr>
          <a:xfrm>
            <a:off x="4196489" y="3188228"/>
            <a:ext cx="767942" cy="240772"/>
          </a:xfrm>
          <a:prstGeom prst="roundRect">
            <a:avLst/>
          </a:prstGeom>
          <a:solidFill>
            <a:srgbClr val="EFF6FF"/>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7E913979-A8FA-ACA3-8D23-86B21A2D49DC}"/>
              </a:ext>
            </a:extLst>
          </p:cNvPr>
          <p:cNvGraphicFramePr>
            <a:graphicFrameLocks noGrp="1"/>
          </p:cNvGraphicFramePr>
          <p:nvPr>
            <p:extLst>
              <p:ext uri="{D42A27DB-BD31-4B8C-83A1-F6EECF244321}">
                <p14:modId xmlns:p14="http://schemas.microsoft.com/office/powerpoint/2010/main" val="3383717359"/>
              </p:ext>
            </p:extLst>
          </p:nvPr>
        </p:nvGraphicFramePr>
        <p:xfrm>
          <a:off x="658833" y="2486025"/>
          <a:ext cx="5868998" cy="3344333"/>
        </p:xfrm>
        <a:graphic>
          <a:graphicData uri="http://schemas.openxmlformats.org/drawingml/2006/table">
            <a:tbl>
              <a:tblPr firstRow="1" bandRow="1">
                <a:tableStyleId>{2D5ABB26-0587-4C30-8999-92F81FD0307C}</a:tableStyleId>
              </a:tblPr>
              <a:tblGrid>
                <a:gridCol w="1823515">
                  <a:extLst>
                    <a:ext uri="{9D8B030D-6E8A-4147-A177-3AD203B41FA5}">
                      <a16:colId xmlns:a16="http://schemas.microsoft.com/office/drawing/2014/main" val="910288527"/>
                    </a:ext>
                  </a:extLst>
                </a:gridCol>
                <a:gridCol w="711530">
                  <a:extLst>
                    <a:ext uri="{9D8B030D-6E8A-4147-A177-3AD203B41FA5}">
                      <a16:colId xmlns:a16="http://schemas.microsoft.com/office/drawing/2014/main" val="1747043847"/>
                    </a:ext>
                  </a:extLst>
                </a:gridCol>
                <a:gridCol w="918921">
                  <a:extLst>
                    <a:ext uri="{9D8B030D-6E8A-4147-A177-3AD203B41FA5}">
                      <a16:colId xmlns:a16="http://schemas.microsoft.com/office/drawing/2014/main" val="3543786077"/>
                    </a:ext>
                  </a:extLst>
                </a:gridCol>
                <a:gridCol w="1017578">
                  <a:extLst>
                    <a:ext uri="{9D8B030D-6E8A-4147-A177-3AD203B41FA5}">
                      <a16:colId xmlns:a16="http://schemas.microsoft.com/office/drawing/2014/main" val="794569399"/>
                    </a:ext>
                  </a:extLst>
                </a:gridCol>
                <a:gridCol w="1397454">
                  <a:extLst>
                    <a:ext uri="{9D8B030D-6E8A-4147-A177-3AD203B41FA5}">
                      <a16:colId xmlns:a16="http://schemas.microsoft.com/office/drawing/2014/main" val="1084590778"/>
                    </a:ext>
                  </a:extLst>
                </a:gridCol>
              </a:tblGrid>
              <a:tr h="489718">
                <a:tc>
                  <a:txBody>
                    <a:bodyPr/>
                    <a:lstStyle/>
                    <a:p>
                      <a:pPr marL="0" marR="0" lvl="0" indent="0" algn="l" rtl="0">
                        <a:spcBef>
                          <a:spcPts val="0"/>
                        </a:spcBef>
                        <a:spcAft>
                          <a:spcPts val="0"/>
                        </a:spcAft>
                        <a:buNone/>
                      </a:pPr>
                      <a:r>
                        <a:rPr lang="en-US" sz="1400"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Tên học phần</a:t>
                      </a:r>
                      <a:endParaRPr sz="2000">
                        <a:latin typeface="Times New Roman" panose="02020603050405020304" pitchFamily="18" charset="0"/>
                        <a:cs typeface="Times New Roman" panose="02020603050405020304" pitchFamily="18" charset="0"/>
                      </a:endParaRPr>
                    </a:p>
                  </a:txBody>
                  <a:tcPr marL="63500" marR="63500" marT="25400" marB="2540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C"/>
                    </a:solidFill>
                  </a:tcPr>
                </a:tc>
                <a:tc>
                  <a:txBody>
                    <a:bodyPr/>
                    <a:lstStyle/>
                    <a:p>
                      <a:pPr marL="0" marR="0" lvl="0" indent="0" algn="l" rtl="0">
                        <a:spcBef>
                          <a:spcPts val="0"/>
                        </a:spcBef>
                        <a:spcAft>
                          <a:spcPts val="0"/>
                        </a:spcAft>
                        <a:buNone/>
                      </a:pPr>
                      <a:r>
                        <a:rPr lang="en-US" sz="1400"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Mean</a:t>
                      </a:r>
                      <a:endParaRPr sz="2000">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C"/>
                    </a:solidFill>
                  </a:tcPr>
                </a:tc>
                <a:tc>
                  <a:txBody>
                    <a:bodyPr/>
                    <a:lstStyle/>
                    <a:p>
                      <a:pPr marL="0" marR="0" lvl="0" indent="0" algn="l" rtl="0">
                        <a:spcBef>
                          <a:spcPts val="0"/>
                        </a:spcBef>
                        <a:spcAft>
                          <a:spcPts val="0"/>
                        </a:spcAft>
                        <a:buNone/>
                      </a:pPr>
                      <a:r>
                        <a:rPr lang="en-US" sz="1400"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SD</a:t>
                      </a:r>
                      <a:endParaRPr sz="2000">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C"/>
                    </a:solidFill>
                  </a:tcPr>
                </a:tc>
                <a:tc>
                  <a:txBody>
                    <a:bodyPr/>
                    <a:lstStyle/>
                    <a:p>
                      <a:pPr marL="0" marR="0" lvl="0" indent="0" algn="l" rtl="0">
                        <a:spcBef>
                          <a:spcPts val="0"/>
                        </a:spcBef>
                        <a:spcAft>
                          <a:spcPts val="0"/>
                        </a:spcAft>
                        <a:buNone/>
                      </a:pPr>
                      <a:r>
                        <a:rPr lang="en-US" sz="1400"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Phân loại</a:t>
                      </a:r>
                      <a:endParaRPr sz="2000">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C"/>
                    </a:solidFill>
                  </a:tcPr>
                </a:tc>
                <a:tc>
                  <a:txBody>
                    <a:bodyPr/>
                    <a:lstStyle/>
                    <a:p>
                      <a:pPr marL="0" marR="0" lvl="0" indent="0" algn="l" rtl="0">
                        <a:spcBef>
                          <a:spcPts val="0"/>
                        </a:spcBef>
                        <a:spcAft>
                          <a:spcPts val="0"/>
                        </a:spcAft>
                        <a:buNone/>
                      </a:pPr>
                      <a:r>
                        <a:rPr lang="en-US" sz="1400" b="1" i="0" u="none" strike="noStrike" cap="none">
                          <a:solidFill>
                            <a:srgbClr val="64748B"/>
                          </a:solidFill>
                          <a:latin typeface="Times New Roman" panose="02020603050405020304" pitchFamily="18" charset="0"/>
                          <a:ea typeface="Montserrat"/>
                          <a:cs typeface="Times New Roman" panose="02020603050405020304" pitchFamily="18" charset="0"/>
                          <a:sym typeface="Montserrat"/>
                        </a:rPr>
                        <a:t>Loại HP</a:t>
                      </a:r>
                      <a:endParaRPr sz="2000">
                        <a:latin typeface="Times New Roman" panose="02020603050405020304" pitchFamily="18" charset="0"/>
                        <a:cs typeface="Times New Roman" panose="02020603050405020304" pitchFamily="18" charset="0"/>
                      </a:endParaRPr>
                    </a:p>
                  </a:txBody>
                  <a:tcPr marL="63500" marR="63500" marT="25400" marB="2540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C"/>
                    </a:solidFill>
                  </a:tcPr>
                </a:tc>
                <a:extLst>
                  <a:ext uri="{0D108BD9-81ED-4DB2-BD59-A6C34878D82A}">
                    <a16:rowId xmlns:a16="http://schemas.microsoft.com/office/drawing/2014/main" val="3564041208"/>
                  </a:ext>
                </a:extLst>
              </a:tr>
              <a:tr h="570923">
                <a:tc>
                  <a:txBody>
                    <a:bodyPr/>
                    <a:lstStyle/>
                    <a:p>
                      <a:pPr marL="0" marR="0" lvl="0" indent="0" algn="l" rtl="0">
                        <a:spcBef>
                          <a:spcPts val="0"/>
                        </a:spcBef>
                        <a:spcAft>
                          <a:spcPts val="0"/>
                        </a:spcAft>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Chuỗi khối</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spcBef>
                          <a:spcPts val="0"/>
                        </a:spcBef>
                        <a:spcAft>
                          <a:spcPts val="0"/>
                        </a:spcAft>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8.17</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spcBef>
                          <a:spcPts val="0"/>
                        </a:spcBef>
                        <a:spcAft>
                          <a:spcPts val="0"/>
                        </a:spcAft>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0.60</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spcBef>
                          <a:spcPts val="0"/>
                        </a:spcBef>
                        <a:spcAft>
                          <a:spcPts val="0"/>
                        </a:spcAft>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Kỹ thuật</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spcBef>
                          <a:spcPts val="0"/>
                        </a:spcBef>
                        <a:spcAft>
                          <a:spcPts val="0"/>
                        </a:spcAft>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Bắt buộc</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0595300"/>
                  </a:ext>
                </a:extLst>
              </a:tr>
              <a:tr h="570923">
                <a:tc>
                  <a:txBody>
                    <a:bodyPr/>
                    <a:lstStyle/>
                    <a:p>
                      <a:pPr marL="0" marR="0" lvl="0" indent="0" algn="l" rtl="0">
                        <a:spcBef>
                          <a:spcPts val="0"/>
                        </a:spcBef>
                        <a:spcAft>
                          <a:spcPts val="0"/>
                        </a:spcAft>
                        <a:buNone/>
                      </a:pPr>
                      <a:r>
                        <a:rPr lang="en-US" sz="1400" b="1" u="none" strike="noStrike" cap="none">
                          <a:solidFill>
                            <a:schemeClr val="tx1"/>
                          </a:solidFill>
                          <a:latin typeface="Times New Roman" panose="02020603050405020304" pitchFamily="18" charset="0"/>
                          <a:cs typeface="Times New Roman" panose="02020603050405020304" pitchFamily="18" charset="0"/>
                          <a:sym typeface="Roboto"/>
                        </a:rPr>
                        <a:t>Nguyên lý Marketing</a:t>
                      </a:r>
                      <a:endParaRPr sz="1400" b="1">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200" b="1" i="0" u="none" strike="noStrike" cap="none">
                          <a:solidFill>
                            <a:srgbClr val="1D4ED8"/>
                          </a:solidFill>
                          <a:latin typeface="Roboto"/>
                          <a:ea typeface="Roboto"/>
                          <a:cs typeface="Roboto"/>
                          <a:sym typeface="Roboto"/>
                        </a:rPr>
                        <a:t>7.22</a:t>
                      </a:r>
                      <a:endParaRPr sz="1200" b="1" i="0" u="none" strike="noStrike" cap="none">
                        <a:solidFill>
                          <a:srgbClr val="1D4ED8"/>
                        </a:solidFill>
                        <a:latin typeface="Roboto"/>
                        <a:ea typeface="Roboto"/>
                        <a:cs typeface="Roboto"/>
                        <a:sym typeface="Arial"/>
                      </a:endParaRPr>
                    </a:p>
                  </a:txBody>
                  <a:tcPr marL="63500" marR="63500" marT="25400" marB="2540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200" b="1" i="0" u="none" strike="noStrike" cap="none">
                          <a:solidFill>
                            <a:srgbClr val="1D4ED8"/>
                          </a:solidFill>
                          <a:latin typeface="Roboto"/>
                          <a:ea typeface="Roboto"/>
                          <a:cs typeface="Roboto"/>
                          <a:sym typeface="Roboto"/>
                        </a:rPr>
                        <a:t>0.60</a:t>
                      </a:r>
                      <a:endParaRPr sz="1200" b="1" i="0" u="none" strike="noStrike" cap="none">
                        <a:solidFill>
                          <a:srgbClr val="1D4ED8"/>
                        </a:solidFill>
                        <a:latin typeface="Roboto"/>
                        <a:ea typeface="Roboto"/>
                        <a:cs typeface="Roboto"/>
                        <a:sym typeface="Arial"/>
                      </a:endParaRPr>
                    </a:p>
                  </a:txBody>
                  <a:tcPr marL="63500" marR="63500" marT="25400" marB="2540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EFF6FF"/>
                    </a:solidFill>
                  </a:tcPr>
                </a:tc>
                <a:tc>
                  <a:txBody>
                    <a:bodyPr/>
                    <a:lstStyle/>
                    <a:p>
                      <a:pPr marL="0" marR="0" lvl="0" indent="0" algn="l" rtl="0">
                        <a:lnSpc>
                          <a:spcPct val="100000"/>
                        </a:lnSpc>
                        <a:spcBef>
                          <a:spcPts val="0"/>
                        </a:spcBef>
                        <a:spcAft>
                          <a:spcPts val="0"/>
                        </a:spcAft>
                        <a:buClr>
                          <a:srgbClr val="000000"/>
                        </a:buClr>
                        <a:buFont typeface="Arial"/>
                        <a:buNone/>
                      </a:pPr>
                      <a:r>
                        <a:rPr lang="en-US" sz="1400" b="0" i="0" u="none" strike="noStrike" cap="none">
                          <a:solidFill>
                            <a:srgbClr val="176635"/>
                          </a:solidFill>
                          <a:latin typeface="Times New Roman" panose="02020603050405020304" pitchFamily="18" charset="0"/>
                          <a:ea typeface="+mn-ea"/>
                          <a:cs typeface="Times New Roman" panose="02020603050405020304" pitchFamily="18" charset="0"/>
                          <a:sym typeface="Roboto"/>
                        </a:rPr>
                        <a:t>Kinh tế</a:t>
                      </a:r>
                      <a:endParaRPr sz="1400" b="0" i="0" u="none" strike="noStrike" cap="none">
                        <a:solidFill>
                          <a:srgbClr val="176635"/>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Bắt buộc</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EFF6FF"/>
                    </a:solidFill>
                  </a:tcPr>
                </a:tc>
                <a:extLst>
                  <a:ext uri="{0D108BD9-81ED-4DB2-BD59-A6C34878D82A}">
                    <a16:rowId xmlns:a16="http://schemas.microsoft.com/office/drawing/2014/main" val="3970786244"/>
                  </a:ext>
                </a:extLst>
              </a:tr>
              <a:tr h="570923">
                <a:tc>
                  <a:txBody>
                    <a:bodyPr/>
                    <a:lstStyle/>
                    <a:p>
                      <a:pPr marL="0" marR="0" lvl="0" indent="0" algn="l" rtl="0">
                        <a:spcBef>
                          <a:spcPts val="0"/>
                        </a:spcBef>
                        <a:spcAft>
                          <a:spcPts val="0"/>
                        </a:spcAft>
                        <a:buNone/>
                      </a:pPr>
                      <a:r>
                        <a:rPr lang="en-US" sz="1400" b="1" u="none" strike="noStrike" cap="none">
                          <a:solidFill>
                            <a:schemeClr val="tx1"/>
                          </a:solidFill>
                          <a:latin typeface="Times New Roman" panose="02020603050405020304" pitchFamily="18" charset="0"/>
                          <a:cs typeface="Times New Roman" panose="02020603050405020304" pitchFamily="18" charset="0"/>
                          <a:sym typeface="Roboto"/>
                        </a:rPr>
                        <a:t>Quản trị học</a:t>
                      </a:r>
                      <a:endParaRPr sz="1400" b="1">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200" b="1" i="0" u="none" strike="noStrike" cap="none">
                          <a:solidFill>
                            <a:srgbClr val="1D4ED8"/>
                          </a:solidFill>
                          <a:latin typeface="Roboto"/>
                          <a:ea typeface="Roboto"/>
                          <a:cs typeface="Roboto"/>
                          <a:sym typeface="Roboto"/>
                        </a:rPr>
                        <a:t>7.04</a:t>
                      </a:r>
                      <a:endParaRPr sz="1200" b="1" i="0" u="none" strike="noStrike" cap="none">
                        <a:solidFill>
                          <a:srgbClr val="1D4ED8"/>
                        </a:solidFill>
                        <a:latin typeface="Roboto"/>
                        <a:ea typeface="Roboto"/>
                        <a:cs typeface="Roboto"/>
                        <a:sym typeface="Arial"/>
                      </a:endParaRPr>
                    </a:p>
                  </a:txBody>
                  <a:tcPr marL="63500" marR="63500" marT="25400" marB="25400" anchor="ctr">
                    <a:lnL>
                      <a:noFill/>
                    </a:lnL>
                    <a:lnR>
                      <a:noFill/>
                    </a:lnR>
                    <a:lnT>
                      <a:noFill/>
                    </a:lnT>
                    <a:lnB>
                      <a:noFill/>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200" b="1" i="0" u="none" strike="noStrike" cap="none">
                          <a:solidFill>
                            <a:srgbClr val="1D4ED8"/>
                          </a:solidFill>
                          <a:latin typeface="Roboto"/>
                          <a:ea typeface="Roboto"/>
                          <a:cs typeface="Roboto"/>
                          <a:sym typeface="Roboto"/>
                        </a:rPr>
                        <a:t>0.62</a:t>
                      </a:r>
                      <a:endParaRPr sz="1200" b="1" i="0" u="none" strike="noStrike" cap="none">
                        <a:solidFill>
                          <a:srgbClr val="1D4ED8"/>
                        </a:solidFill>
                        <a:latin typeface="Roboto"/>
                        <a:ea typeface="Roboto"/>
                        <a:cs typeface="Roboto"/>
                        <a:sym typeface="Arial"/>
                      </a:endParaRPr>
                    </a:p>
                  </a:txBody>
                  <a:tcPr marL="63500" marR="63500" marT="25400" marB="25400" anchor="ctr">
                    <a:lnL>
                      <a:noFill/>
                    </a:lnL>
                    <a:lnR>
                      <a:noFill/>
                    </a:lnR>
                    <a:lnT>
                      <a:noFill/>
                    </a:lnT>
                    <a:lnB>
                      <a:noFill/>
                    </a:lnB>
                    <a:lnTlToBr w="12700" cmpd="sng">
                      <a:noFill/>
                      <a:prstDash val="solid"/>
                    </a:lnTlToBr>
                    <a:lnBlToTr w="12700" cmpd="sng">
                      <a:noFill/>
                      <a:prstDash val="solid"/>
                    </a:lnBlToTr>
                    <a:solidFill>
                      <a:srgbClr val="EFF6FF"/>
                    </a:solidFill>
                  </a:tcPr>
                </a:tc>
                <a:tc>
                  <a:txBody>
                    <a:bodyPr/>
                    <a:lstStyle/>
                    <a:p>
                      <a:pPr marL="0" marR="0" lvl="0" indent="0" algn="l" rtl="0">
                        <a:lnSpc>
                          <a:spcPct val="100000"/>
                        </a:lnSpc>
                        <a:spcBef>
                          <a:spcPts val="0"/>
                        </a:spcBef>
                        <a:spcAft>
                          <a:spcPts val="0"/>
                        </a:spcAft>
                        <a:buClr>
                          <a:srgbClr val="000000"/>
                        </a:buClr>
                        <a:buFont typeface="Arial"/>
                        <a:buNone/>
                      </a:pPr>
                      <a:r>
                        <a:rPr lang="en-US" sz="1400" b="0" i="0" u="none" strike="noStrike" cap="none">
                          <a:solidFill>
                            <a:srgbClr val="176635"/>
                          </a:solidFill>
                          <a:latin typeface="Times New Roman" panose="02020603050405020304" pitchFamily="18" charset="0"/>
                          <a:ea typeface="+mn-ea"/>
                          <a:cs typeface="Times New Roman" panose="02020603050405020304" pitchFamily="18" charset="0"/>
                          <a:sym typeface="Roboto"/>
                        </a:rPr>
                        <a:t>Kinh tế</a:t>
                      </a:r>
                      <a:endParaRPr sz="1400" b="0" i="0" u="none" strike="noStrike" cap="none">
                        <a:solidFill>
                          <a:srgbClr val="176635"/>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a:noFill/>
                    </a:lnT>
                    <a:lnB>
                      <a:noFill/>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Bắt buộc</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FF6FF"/>
                    </a:solidFill>
                  </a:tcPr>
                </a:tc>
                <a:extLst>
                  <a:ext uri="{0D108BD9-81ED-4DB2-BD59-A6C34878D82A}">
                    <a16:rowId xmlns:a16="http://schemas.microsoft.com/office/drawing/2014/main" val="2695337414"/>
                  </a:ext>
                </a:extLst>
              </a:tr>
              <a:tr h="570923">
                <a:tc>
                  <a:txBody>
                    <a:bodyPr/>
                    <a:lstStyle/>
                    <a:p>
                      <a:pPr marL="0" marR="0" lvl="0" indent="0" algn="l" rtl="0">
                        <a:spcBef>
                          <a:spcPts val="0"/>
                        </a:spcBef>
                        <a:spcAft>
                          <a:spcPts val="0"/>
                        </a:spcAft>
                        <a:buNone/>
                      </a:pPr>
                      <a:r>
                        <a:rPr lang="en-US" sz="1400" b="1" u="none" strike="noStrike" cap="none">
                          <a:solidFill>
                            <a:schemeClr val="tx1"/>
                          </a:solidFill>
                          <a:latin typeface="Times New Roman" panose="02020603050405020304" pitchFamily="18" charset="0"/>
                          <a:cs typeface="Times New Roman" panose="02020603050405020304" pitchFamily="18" charset="0"/>
                          <a:sym typeface="Roboto"/>
                        </a:rPr>
                        <a:t>Thương mại điện tử</a:t>
                      </a:r>
                      <a:endParaRPr sz="1400" b="1">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200" b="1" i="0" u="none" strike="noStrike" cap="none">
                          <a:solidFill>
                            <a:srgbClr val="1D4ED8"/>
                          </a:solidFill>
                          <a:latin typeface="Roboto"/>
                          <a:ea typeface="Roboto"/>
                          <a:cs typeface="Roboto"/>
                          <a:sym typeface="Roboto"/>
                        </a:rPr>
                        <a:t>7.62</a:t>
                      </a:r>
                      <a:endParaRPr sz="1200" b="1" i="0" u="none" strike="noStrike" cap="none">
                        <a:solidFill>
                          <a:srgbClr val="1D4ED8"/>
                        </a:solidFill>
                        <a:latin typeface="Roboto"/>
                        <a:ea typeface="Roboto"/>
                        <a:cs typeface="Roboto"/>
                        <a:sym typeface="Arial"/>
                      </a:endParaRPr>
                    </a:p>
                  </a:txBody>
                  <a:tcPr marL="63500" marR="63500" marT="25400" marB="2540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200" b="1" i="0" u="none" strike="noStrike" cap="none">
                          <a:solidFill>
                            <a:srgbClr val="1D4ED8"/>
                          </a:solidFill>
                          <a:latin typeface="Roboto"/>
                          <a:ea typeface="Roboto"/>
                          <a:cs typeface="Roboto"/>
                          <a:sym typeface="Roboto"/>
                        </a:rPr>
                        <a:t>0.67</a:t>
                      </a:r>
                      <a:endParaRPr sz="1200" b="1" i="0" u="none" strike="noStrike" cap="none">
                        <a:solidFill>
                          <a:srgbClr val="1D4ED8"/>
                        </a:solidFill>
                        <a:latin typeface="Roboto"/>
                        <a:ea typeface="Roboto"/>
                        <a:cs typeface="Roboto"/>
                        <a:sym typeface="Arial"/>
                      </a:endParaRPr>
                    </a:p>
                  </a:txBody>
                  <a:tcPr marL="63500" marR="63500" marT="25400" marB="2540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lnSpc>
                          <a:spcPct val="100000"/>
                        </a:lnSpc>
                        <a:spcBef>
                          <a:spcPts val="0"/>
                        </a:spcBef>
                        <a:spcAft>
                          <a:spcPts val="0"/>
                        </a:spcAft>
                        <a:buClr>
                          <a:srgbClr val="000000"/>
                        </a:buClr>
                        <a:buFont typeface="Arial"/>
                        <a:buNone/>
                      </a:pPr>
                      <a:r>
                        <a:rPr lang="en-US" sz="1400" b="0" i="0" u="none" strike="noStrike" cap="none">
                          <a:solidFill>
                            <a:srgbClr val="176635"/>
                          </a:solidFill>
                          <a:latin typeface="Times New Roman" panose="02020603050405020304" pitchFamily="18" charset="0"/>
                          <a:ea typeface="+mn-ea"/>
                          <a:cs typeface="Times New Roman" panose="02020603050405020304" pitchFamily="18" charset="0"/>
                          <a:sym typeface="Roboto"/>
                        </a:rPr>
                        <a:t>Kinh tế</a:t>
                      </a:r>
                      <a:endParaRPr sz="1400" b="0" i="0" u="none" strike="noStrike" cap="none">
                        <a:solidFill>
                          <a:srgbClr val="176635"/>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tc>
                  <a:txBody>
                    <a:bodyPr/>
                    <a:lstStyle/>
                    <a:p>
                      <a:pPr marL="0" marR="0" lvl="0" indent="0" algn="l" rtl="0">
                        <a:spcBef>
                          <a:spcPts val="0"/>
                        </a:spcBef>
                        <a:spcAft>
                          <a:spcPts val="0"/>
                        </a:spcAft>
                        <a:buNone/>
                      </a:pPr>
                      <a:r>
                        <a:rPr lang="en-US" sz="1400" b="0" u="none" strike="noStrike" cap="none">
                          <a:solidFill>
                            <a:schemeClr val="bg1">
                              <a:lumMod val="75000"/>
                            </a:schemeClr>
                          </a:solidFill>
                          <a:latin typeface="Times New Roman" panose="02020603050405020304" pitchFamily="18" charset="0"/>
                          <a:cs typeface="Times New Roman" panose="02020603050405020304" pitchFamily="18" charset="0"/>
                          <a:sym typeface="Roboto"/>
                        </a:rPr>
                        <a:t>Tự chọn</a:t>
                      </a:r>
                      <a:endParaRPr sz="1400" b="0">
                        <a:solidFill>
                          <a:schemeClr val="bg1">
                            <a:lumMod val="75000"/>
                          </a:schemeClr>
                        </a:solidFill>
                        <a:latin typeface="Times New Roman" panose="02020603050405020304" pitchFamily="18" charset="0"/>
                        <a:cs typeface="Times New Roman" panose="02020603050405020304" pitchFamily="18" charset="0"/>
                      </a:endParaRPr>
                    </a:p>
                  </a:txBody>
                  <a:tcPr marL="63500" marR="63500" marT="25400" marB="2540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FF6FF"/>
                    </a:solidFill>
                  </a:tcPr>
                </a:tc>
                <a:extLst>
                  <a:ext uri="{0D108BD9-81ED-4DB2-BD59-A6C34878D82A}">
                    <a16:rowId xmlns:a16="http://schemas.microsoft.com/office/drawing/2014/main" val="2779396188"/>
                  </a:ext>
                </a:extLst>
              </a:tr>
              <a:tr h="570923">
                <a:tc>
                  <a:txBody>
                    <a:bodyPr/>
                    <a:lstStyle/>
                    <a:p>
                      <a:pPr marL="0" marR="0" lvl="0" indent="0" algn="l" rtl="0">
                        <a:spcBef>
                          <a:spcPts val="0"/>
                        </a:spcBef>
                        <a:spcAft>
                          <a:spcPts val="0"/>
                        </a:spcAft>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Tư tưởng Hồ Chí Minh</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spcBef>
                          <a:spcPts val="0"/>
                        </a:spcBef>
                        <a:spcAft>
                          <a:spcPts val="0"/>
                        </a:spcAft>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8.17</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spcBef>
                          <a:spcPts val="0"/>
                        </a:spcBef>
                        <a:spcAft>
                          <a:spcPts val="0"/>
                        </a:spcAft>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0.60</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spcBef>
                          <a:spcPts val="0"/>
                        </a:spcBef>
                        <a:spcAft>
                          <a:spcPts val="0"/>
                        </a:spcAft>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Bổ trợ</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spcBef>
                          <a:spcPts val="0"/>
                        </a:spcBef>
                        <a:spcAft>
                          <a:spcPts val="0"/>
                        </a:spcAft>
                        <a:buNone/>
                      </a:pPr>
                      <a:r>
                        <a:rPr lang="en-US"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Roboto"/>
                        </a:rPr>
                        <a:t>Bắt buộc</a:t>
                      </a:r>
                      <a:endParaRPr sz="1400" b="0" i="0" u="none" strike="noStrike" cap="none">
                        <a:solidFill>
                          <a:schemeClr val="bg1">
                            <a:lumMod val="75000"/>
                          </a:schemeClr>
                        </a:solidFill>
                        <a:latin typeface="Times New Roman" panose="02020603050405020304" pitchFamily="18" charset="0"/>
                        <a:ea typeface="+mn-ea"/>
                        <a:cs typeface="Times New Roman" panose="02020603050405020304" pitchFamily="18" charset="0"/>
                        <a:sym typeface="Arial"/>
                      </a:endParaRPr>
                    </a:p>
                  </a:txBody>
                  <a:tcPr marL="63500" marR="63500" marT="25400" marB="2540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739246"/>
                  </a:ext>
                </a:extLst>
              </a:tr>
            </a:tbl>
          </a:graphicData>
        </a:graphic>
      </p:graphicFrame>
      <p:sp>
        <p:nvSpPr>
          <p:cNvPr id="8" name="Rectangle: Rounded Corners 7">
            <a:extLst>
              <a:ext uri="{FF2B5EF4-FFF2-40B4-BE49-F238E27FC236}">
                <a16:creationId xmlns:a16="http://schemas.microsoft.com/office/drawing/2014/main" id="{EE2276FC-EEF6-5A79-0C74-8E6A4E81AC10}"/>
              </a:ext>
            </a:extLst>
          </p:cNvPr>
          <p:cNvSpPr/>
          <p:nvPr/>
        </p:nvSpPr>
        <p:spPr>
          <a:xfrm>
            <a:off x="6972708" y="6454972"/>
            <a:ext cx="497682" cy="200025"/>
          </a:xfrm>
          <a:prstGeom prst="roundRect">
            <a:avLst/>
          </a:prstGeom>
          <a:solidFill>
            <a:srgbClr val="F0FD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BCA9DE2-EA43-2AEA-8FEB-FD1B25F63F1F}"/>
              </a:ext>
            </a:extLst>
          </p:cNvPr>
          <p:cNvSpPr/>
          <p:nvPr/>
        </p:nvSpPr>
        <p:spPr>
          <a:xfrm>
            <a:off x="7476740" y="6354959"/>
            <a:ext cx="497682" cy="200025"/>
          </a:xfrm>
          <a:prstGeom prst="roundRect">
            <a:avLst/>
          </a:prstGeom>
          <a:solidFill>
            <a:srgbClr val="F8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91;p13">
            <a:extLst>
              <a:ext uri="{FF2B5EF4-FFF2-40B4-BE49-F238E27FC236}">
                <a16:creationId xmlns:a16="http://schemas.microsoft.com/office/drawing/2014/main" id="{7EF963F7-4E8A-D38B-9FA0-1A8FF2AB1808}"/>
              </a:ext>
            </a:extLst>
          </p:cNvPr>
          <p:cNvSpPr txBox="1"/>
          <p:nvPr/>
        </p:nvSpPr>
        <p:spPr>
          <a:xfrm>
            <a:off x="743361" y="396954"/>
            <a:ext cx="11001375"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vi-VN" sz="3000" b="1">
                <a:solidFill>
                  <a:schemeClr val="tx1"/>
                </a:solidFill>
                <a:latin typeface="Times New Roman" panose="02020603050405020304" pitchFamily="18" charset="0"/>
                <a:ea typeface="Montserrat ExtraBold"/>
                <a:cs typeface="Times New Roman" panose="02020603050405020304" pitchFamily="18" charset="0"/>
                <a:sym typeface="Montserrat ExtraBold"/>
              </a:rPr>
              <a:t>Cần cải thiện mức phân hóa ở </a:t>
            </a:r>
            <a:endParaRPr lang="vi-VN" sz="3000" b="1" i="0" u="none" strike="noStrike" cap="none">
              <a:solidFill>
                <a:schemeClr val="tx1"/>
              </a:solidFill>
              <a:latin typeface="Times New Roman" panose="02020603050405020304" pitchFamily="18" charset="0"/>
              <a:ea typeface="Montserrat ExtraBold"/>
              <a:cs typeface="Times New Roman" panose="02020603050405020304" pitchFamily="18" charset="0"/>
              <a:sym typeface="Montserrat ExtraBold"/>
            </a:endParaRPr>
          </a:p>
          <a:p>
            <a:pPr marL="0" marR="0" lvl="0" indent="0" algn="l" rtl="0">
              <a:lnSpc>
                <a:spcPct val="120000"/>
              </a:lnSpc>
              <a:spcBef>
                <a:spcPts val="0"/>
              </a:spcBef>
              <a:spcAft>
                <a:spcPts val="0"/>
              </a:spcAft>
              <a:buNone/>
            </a:pPr>
            <a:r>
              <a:rPr lang="vi-VN" sz="3000" b="1">
                <a:solidFill>
                  <a:srgbClr val="1E3A8A"/>
                </a:solidFill>
                <a:latin typeface="Times New Roman" panose="02020603050405020304" pitchFamily="18" charset="0"/>
                <a:cs typeface="Times New Roman" panose="02020603050405020304" pitchFamily="18" charset="0"/>
                <a:sym typeface="Montserrat ExtraBold"/>
              </a:rPr>
              <a:t>Các môn Kinh Tế</a:t>
            </a:r>
          </a:p>
        </p:txBody>
      </p:sp>
      <p:sp>
        <p:nvSpPr>
          <p:cNvPr id="6" name="Rectangle 5">
            <a:extLst>
              <a:ext uri="{FF2B5EF4-FFF2-40B4-BE49-F238E27FC236}">
                <a16:creationId xmlns:a16="http://schemas.microsoft.com/office/drawing/2014/main" id="{56A32998-8DC2-09F8-DF2F-0F19B02456F7}"/>
              </a:ext>
            </a:extLst>
          </p:cNvPr>
          <p:cNvSpPr/>
          <p:nvPr/>
        </p:nvSpPr>
        <p:spPr>
          <a:xfrm>
            <a:off x="650365" y="3570815"/>
            <a:ext cx="45719" cy="1696510"/>
          </a:xfrm>
          <a:prstGeom prst="rect">
            <a:avLst/>
          </a:prstGeom>
          <a:solidFill>
            <a:srgbClr val="00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9B017FF-ACFB-A66E-81ED-75963D1D57B8}"/>
              </a:ext>
            </a:extLst>
          </p:cNvPr>
          <p:cNvSpPr txBox="1"/>
          <p:nvPr/>
        </p:nvSpPr>
        <p:spPr>
          <a:xfrm>
            <a:off x="658833" y="1907960"/>
            <a:ext cx="5674391" cy="27699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600" b="1">
                <a:solidFill>
                  <a:srgbClr val="1E3A8A"/>
                </a:solidFill>
                <a:latin typeface="Times New Roman" panose="02020603050405020304" pitchFamily="18" charset="0"/>
                <a:ea typeface="Montserrat"/>
                <a:cs typeface="Times New Roman" panose="02020603050405020304" pitchFamily="18" charset="0"/>
              </a:defRPr>
            </a:lvl1pPr>
          </a:lstStyle>
          <a:p>
            <a:r>
              <a:rPr lang="vi-VN" sz="1800"/>
              <a:t>Các học phần có độ phân hóa (SD) thấp nhất</a:t>
            </a:r>
            <a:endParaRPr lang="en-US" sz="1800"/>
          </a:p>
        </p:txBody>
      </p:sp>
      <p:pic>
        <p:nvPicPr>
          <p:cNvPr id="21" name="Google Shape;87;p13" descr="image.png">
            <a:extLst>
              <a:ext uri="{FF2B5EF4-FFF2-40B4-BE49-F238E27FC236}">
                <a16:creationId xmlns:a16="http://schemas.microsoft.com/office/drawing/2014/main" id="{60BBF8BC-0458-447D-5D46-08C3B4209B2D}"/>
              </a:ext>
            </a:extLst>
          </p:cNvPr>
          <p:cNvPicPr preferRelativeResize="0"/>
          <p:nvPr/>
        </p:nvPicPr>
        <p:blipFill rotWithShape="1">
          <a:blip r:embed="rId3">
            <a:alphaModFix/>
          </a:blip>
          <a:srcRect/>
          <a:stretch/>
        </p:blipFill>
        <p:spPr>
          <a:xfrm>
            <a:off x="7054927" y="3963542"/>
            <a:ext cx="4529732" cy="2141745"/>
          </a:xfrm>
          <a:prstGeom prst="rect">
            <a:avLst/>
          </a:prstGeom>
          <a:noFill/>
          <a:ln>
            <a:noFill/>
          </a:ln>
        </p:spPr>
      </p:pic>
      <p:pic>
        <p:nvPicPr>
          <p:cNvPr id="22" name="Google Shape;87;p13" descr="image.png">
            <a:extLst>
              <a:ext uri="{FF2B5EF4-FFF2-40B4-BE49-F238E27FC236}">
                <a16:creationId xmlns:a16="http://schemas.microsoft.com/office/drawing/2014/main" id="{8102D1F6-AB1B-E248-66A1-224E10BD500D}"/>
              </a:ext>
            </a:extLst>
          </p:cNvPr>
          <p:cNvPicPr preferRelativeResize="0"/>
          <p:nvPr/>
        </p:nvPicPr>
        <p:blipFill rotWithShape="1">
          <a:blip r:embed="rId3"/>
          <a:srcRect/>
          <a:stretch/>
        </p:blipFill>
        <p:spPr>
          <a:xfrm>
            <a:off x="7020333" y="1949473"/>
            <a:ext cx="4529732" cy="1851002"/>
          </a:xfrm>
          <a:prstGeom prst="rect">
            <a:avLst/>
          </a:prstGeom>
          <a:noFill/>
          <a:ln>
            <a:noFill/>
          </a:ln>
        </p:spPr>
      </p:pic>
      <p:sp>
        <p:nvSpPr>
          <p:cNvPr id="23" name="Google Shape;100;p13">
            <a:extLst>
              <a:ext uri="{FF2B5EF4-FFF2-40B4-BE49-F238E27FC236}">
                <a16:creationId xmlns:a16="http://schemas.microsoft.com/office/drawing/2014/main" id="{DE6744C8-B054-0FD9-3B0A-CE4659EE4F67}"/>
              </a:ext>
            </a:extLst>
          </p:cNvPr>
          <p:cNvSpPr txBox="1"/>
          <p:nvPr/>
        </p:nvSpPr>
        <p:spPr>
          <a:xfrm>
            <a:off x="7161455" y="2124173"/>
            <a:ext cx="4236154"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600" b="1" i="0" u="none" strike="noStrike" cap="none">
                <a:solidFill>
                  <a:srgbClr val="1E3A8A"/>
                </a:solidFill>
                <a:latin typeface="Times New Roman" panose="02020603050405020304" pitchFamily="18" charset="0"/>
                <a:ea typeface="Montserrat"/>
                <a:cs typeface="Times New Roman" panose="02020603050405020304" pitchFamily="18" charset="0"/>
                <a:sym typeface="Montserrat"/>
              </a:rPr>
              <a:t>Sinh viên giỏi khó bứt phá</a:t>
            </a:r>
            <a:endParaRPr lang="vi-VN" sz="1800">
              <a:latin typeface="Times New Roman" panose="02020603050405020304" pitchFamily="18" charset="0"/>
              <a:cs typeface="Times New Roman" panose="02020603050405020304" pitchFamily="18" charset="0"/>
            </a:endParaRPr>
          </a:p>
        </p:txBody>
      </p:sp>
      <p:sp>
        <p:nvSpPr>
          <p:cNvPr id="24" name="Google Shape;101;p13">
            <a:extLst>
              <a:ext uri="{FF2B5EF4-FFF2-40B4-BE49-F238E27FC236}">
                <a16:creationId xmlns:a16="http://schemas.microsoft.com/office/drawing/2014/main" id="{F59652D6-FF24-BA93-004E-918D72DAA9DF}"/>
              </a:ext>
            </a:extLst>
          </p:cNvPr>
          <p:cNvSpPr txBox="1"/>
          <p:nvPr/>
        </p:nvSpPr>
        <p:spPr>
          <a:xfrm>
            <a:off x="7161455" y="2433044"/>
            <a:ext cx="4313772" cy="137883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lnSpc>
                <a:spcPct val="160000"/>
              </a:lnSpc>
              <a:buNone/>
              <a:defRPr>
                <a:solidFill>
                  <a:srgbClr val="475569"/>
                </a:solidFill>
                <a:latin typeface="Times New Roman" panose="02020603050405020304" pitchFamily="18" charset="0"/>
                <a:ea typeface="Times New Roman"/>
                <a:cs typeface="Times New Roman" panose="02020603050405020304" pitchFamily="18" charset="0"/>
              </a:defRPr>
            </a:lvl1pPr>
          </a:lstStyle>
          <a:p>
            <a:pPr algn="just"/>
            <a:r>
              <a:rPr lang="en-US"/>
              <a:t>Với </a:t>
            </a:r>
            <a:r>
              <a:rPr lang="vi-VN"/>
              <a:t>độ </a:t>
            </a:r>
            <a:r>
              <a:rPr lang="vi-VN" b="1">
                <a:solidFill>
                  <a:srgbClr val="1E3A8A"/>
                </a:solidFill>
              </a:rPr>
              <a:t>phân hóa cực thấp </a:t>
            </a:r>
            <a:r>
              <a:rPr lang="vi-VN"/>
              <a:t>và </a:t>
            </a:r>
            <a:r>
              <a:rPr lang="vi-VN" b="1">
                <a:solidFill>
                  <a:srgbClr val="1E3A8A"/>
                </a:solidFill>
              </a:rPr>
              <a:t>điểm trung bình không cao</a:t>
            </a:r>
            <a:r>
              <a:rPr lang="vi-VN"/>
              <a:t>, </a:t>
            </a:r>
            <a:r>
              <a:rPr lang="vi-VN" b="1">
                <a:solidFill>
                  <a:srgbClr val="1E3A8A"/>
                </a:solidFill>
              </a:rPr>
              <a:t>điểm số </a:t>
            </a:r>
            <a:r>
              <a:rPr lang="vi-VN"/>
              <a:t>bị nén trong </a:t>
            </a:r>
            <a:r>
              <a:rPr lang="vi-VN" b="1">
                <a:solidFill>
                  <a:srgbClr val="1E3A8A"/>
                </a:solidFill>
              </a:rPr>
              <a:t>phạm vi hẹp</a:t>
            </a:r>
            <a:r>
              <a:rPr lang="vi-VN"/>
              <a:t>, khiến sinh viên giỏi dù nỗ lực hơn cũng khó đạt điểm vượt trội so với nhóm trung bình. </a:t>
            </a:r>
            <a:endParaRPr b="1">
              <a:solidFill>
                <a:srgbClr val="1E3A8A"/>
              </a:solidFill>
            </a:endParaRPr>
          </a:p>
        </p:txBody>
      </p:sp>
      <p:sp>
        <p:nvSpPr>
          <p:cNvPr id="25" name="Google Shape;103;p13">
            <a:extLst>
              <a:ext uri="{FF2B5EF4-FFF2-40B4-BE49-F238E27FC236}">
                <a16:creationId xmlns:a16="http://schemas.microsoft.com/office/drawing/2014/main" id="{32CA532E-DF76-DDA1-6C56-CA6B84084F4F}"/>
              </a:ext>
            </a:extLst>
          </p:cNvPr>
          <p:cNvSpPr txBox="1"/>
          <p:nvPr/>
        </p:nvSpPr>
        <p:spPr>
          <a:xfrm>
            <a:off x="7161455" y="4512286"/>
            <a:ext cx="4316676" cy="142808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L="0" indent="0">
              <a:lnSpc>
                <a:spcPct val="160000"/>
              </a:lnSpc>
              <a:buNone/>
              <a:defRPr>
                <a:solidFill>
                  <a:srgbClr val="475569"/>
                </a:solidFill>
                <a:latin typeface="Times New Roman" panose="02020603050405020304" pitchFamily="18" charset="0"/>
                <a:ea typeface="Times New Roman"/>
                <a:cs typeface="Times New Roman" panose="02020603050405020304" pitchFamily="18" charset="0"/>
              </a:defRPr>
            </a:lvl1pPr>
          </a:lstStyle>
          <a:p>
            <a:pPr algn="just"/>
            <a:r>
              <a:rPr lang="vi-VN"/>
              <a:t>Khi phần lớn sinh viên rơi vào cùng một vùng điểm, </a:t>
            </a:r>
            <a:r>
              <a:rPr lang="vi-VN" b="1">
                <a:solidFill>
                  <a:srgbClr val="1E3A8A"/>
                </a:solidFill>
              </a:rPr>
              <a:t>sự khác biệt</a:t>
            </a:r>
            <a:r>
              <a:rPr lang="vi-VN"/>
              <a:t> giữa người học tốt và người học vừa đủ </a:t>
            </a:r>
            <a:r>
              <a:rPr lang="vi-VN" b="1">
                <a:solidFill>
                  <a:srgbClr val="1E3A8A"/>
                </a:solidFill>
              </a:rPr>
              <a:t>gần như biến mất</a:t>
            </a:r>
            <a:r>
              <a:rPr lang="vi-VN"/>
              <a:t>. Đây là dấu hiệu cho thấy công cụ đánh giá chưa tạo đủ độ phân hóa.</a:t>
            </a:r>
          </a:p>
        </p:txBody>
      </p:sp>
      <p:sp>
        <p:nvSpPr>
          <p:cNvPr id="26" name="Google Shape;100;p13">
            <a:extLst>
              <a:ext uri="{FF2B5EF4-FFF2-40B4-BE49-F238E27FC236}">
                <a16:creationId xmlns:a16="http://schemas.microsoft.com/office/drawing/2014/main" id="{99A5A609-6DFA-BED5-007C-422264268CC8}"/>
              </a:ext>
            </a:extLst>
          </p:cNvPr>
          <p:cNvSpPr txBox="1"/>
          <p:nvPr/>
        </p:nvSpPr>
        <p:spPr>
          <a:xfrm>
            <a:off x="7167122" y="4149077"/>
            <a:ext cx="4236154" cy="2462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600" b="1">
                <a:solidFill>
                  <a:srgbClr val="1E3A8A"/>
                </a:solidFill>
                <a:latin typeface="Times New Roman" panose="02020603050405020304" pitchFamily="18" charset="0"/>
                <a:ea typeface="Montserrat"/>
                <a:cs typeface="Times New Roman" panose="02020603050405020304" pitchFamily="18" charset="0"/>
              </a:defRPr>
            </a:lvl1pPr>
          </a:lstStyle>
          <a:p>
            <a:r>
              <a:rPr lang="en-US"/>
              <a:t>Ranh giới năng lực bị xóa mờ</a:t>
            </a:r>
            <a:endParaRPr/>
          </a:p>
        </p:txBody>
      </p:sp>
      <p:sp>
        <p:nvSpPr>
          <p:cNvPr id="27" name="Rectangle: Rounded Corners 26">
            <a:extLst>
              <a:ext uri="{FF2B5EF4-FFF2-40B4-BE49-F238E27FC236}">
                <a16:creationId xmlns:a16="http://schemas.microsoft.com/office/drawing/2014/main" id="{67D97E2D-DFFC-AB51-748C-1776C7BD0B00}"/>
              </a:ext>
            </a:extLst>
          </p:cNvPr>
          <p:cNvSpPr/>
          <p:nvPr/>
        </p:nvSpPr>
        <p:spPr>
          <a:xfrm>
            <a:off x="658833" y="2421407"/>
            <a:ext cx="5868998" cy="3683879"/>
          </a:xfrm>
          <a:prstGeom prst="roundRect">
            <a:avLst>
              <a:gd name="adj" fmla="val 1310"/>
            </a:avLst>
          </a:prstGeom>
          <a:no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a:latin typeface="Times New Roman" panose="02020603050405020304" pitchFamily="18" charset="0"/>
                <a:cs typeface="Times New Roman" panose="02020603050405020304" pitchFamily="18" charset="0"/>
              </a:rPr>
              <a:t>f</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8288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971ADA6E-F139-854A-D968-B2934EF78645}"/>
              </a:ext>
            </a:extLst>
          </p:cNvPr>
          <p:cNvSpPr/>
          <p:nvPr/>
        </p:nvSpPr>
        <p:spPr>
          <a:xfrm>
            <a:off x="7973345" y="1669239"/>
            <a:ext cx="3127275" cy="3792580"/>
          </a:xfrm>
          <a:prstGeom prst="roundRect">
            <a:avLst>
              <a:gd name="adj" fmla="val 1310"/>
            </a:avLst>
          </a:prstGeom>
          <a:solidFill>
            <a:schemeClr val="bg2"/>
          </a:solidFill>
          <a:ln w="3175">
            <a:no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600">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E987D54B-9F32-97F3-3014-448B4197959C}"/>
              </a:ext>
            </a:extLst>
          </p:cNvPr>
          <p:cNvSpPr/>
          <p:nvPr/>
        </p:nvSpPr>
        <p:spPr>
          <a:xfrm>
            <a:off x="4441412" y="1669239"/>
            <a:ext cx="3127275" cy="3792580"/>
          </a:xfrm>
          <a:prstGeom prst="roundRect">
            <a:avLst>
              <a:gd name="adj" fmla="val 1310"/>
            </a:avLst>
          </a:prstGeom>
          <a:solidFill>
            <a:schemeClr val="bg2"/>
          </a:solidFill>
          <a:ln w="3175">
            <a:no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600">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33E8AC0D-CFCE-00D7-1CAA-588DC23AB2DE}"/>
              </a:ext>
            </a:extLst>
          </p:cNvPr>
          <p:cNvSpPr/>
          <p:nvPr/>
        </p:nvSpPr>
        <p:spPr>
          <a:xfrm>
            <a:off x="766299" y="1669239"/>
            <a:ext cx="3127275" cy="3792580"/>
          </a:xfrm>
          <a:prstGeom prst="roundRect">
            <a:avLst>
              <a:gd name="adj" fmla="val 1310"/>
            </a:avLst>
          </a:prstGeom>
          <a:solidFill>
            <a:schemeClr val="bg2"/>
          </a:solidFill>
          <a:ln w="3175">
            <a:no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sz="1600">
                <a:latin typeface="Times New Roman" panose="02020603050405020304" pitchFamily="18" charset="0"/>
                <a:cs typeface="Times New Roman" panose="02020603050405020304" pitchFamily="18" charset="0"/>
              </a:rPr>
              <a:t>f</a:t>
            </a:r>
            <a:endParaRPr lang="en-US" sz="1600">
              <a:latin typeface="Times New Roman" panose="02020603050405020304" pitchFamily="18" charset="0"/>
              <a:cs typeface="Times New Roman" panose="02020603050405020304" pitchFamily="18" charset="0"/>
            </a:endParaRPr>
          </a:p>
        </p:txBody>
      </p:sp>
      <p:sp>
        <p:nvSpPr>
          <p:cNvPr id="4" name="Google Shape;89;p13">
            <a:extLst>
              <a:ext uri="{FF2B5EF4-FFF2-40B4-BE49-F238E27FC236}">
                <a16:creationId xmlns:a16="http://schemas.microsoft.com/office/drawing/2014/main" id="{D4F1367A-CC65-1E69-4D96-AD21DA1A8A24}"/>
              </a:ext>
            </a:extLst>
          </p:cNvPr>
          <p:cNvSpPr txBox="1"/>
          <p:nvPr/>
        </p:nvSpPr>
        <p:spPr>
          <a:xfrm>
            <a:off x="766300" y="473825"/>
            <a:ext cx="10477500" cy="215444"/>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b="1" i="0" u="none" strike="noStrike" cap="none">
                <a:solidFill>
                  <a:srgbClr val="64748B"/>
                </a:solidFill>
                <a:latin typeface="Times New Roman" panose="02020603050405020304" pitchFamily="18" charset="0"/>
                <a:ea typeface="Roboto"/>
                <a:cs typeface="Times New Roman" panose="02020603050405020304" pitchFamily="18" charset="0"/>
                <a:sym typeface="Roboto"/>
              </a:rPr>
              <a:t>Insight Vấn đề </a:t>
            </a:r>
            <a:r>
              <a:rPr lang="vi-VN" b="1" i="0" u="none" strike="noStrike" cap="none">
                <a:solidFill>
                  <a:srgbClr val="64748B"/>
                </a:solidFill>
                <a:latin typeface="Times New Roman" panose="02020603050405020304" pitchFamily="18" charset="0"/>
                <a:ea typeface="Roboto"/>
                <a:cs typeface="Times New Roman" panose="02020603050405020304" pitchFamily="18" charset="0"/>
                <a:sym typeface="Roboto"/>
              </a:rPr>
              <a:t>2</a:t>
            </a:r>
            <a:endParaRPr sz="1600">
              <a:latin typeface="Times New Roman" panose="02020603050405020304" pitchFamily="18" charset="0"/>
              <a:cs typeface="Times New Roman" panose="02020603050405020304" pitchFamily="18" charset="0"/>
            </a:endParaRPr>
          </a:p>
        </p:txBody>
      </p:sp>
      <p:sp>
        <p:nvSpPr>
          <p:cNvPr id="5" name="Google Shape;90;p13">
            <a:extLst>
              <a:ext uri="{FF2B5EF4-FFF2-40B4-BE49-F238E27FC236}">
                <a16:creationId xmlns:a16="http://schemas.microsoft.com/office/drawing/2014/main" id="{44AD3EA5-FB11-E14F-E45F-7258A83FFAD7}"/>
              </a:ext>
            </a:extLst>
          </p:cNvPr>
          <p:cNvSpPr txBox="1"/>
          <p:nvPr/>
        </p:nvSpPr>
        <p:spPr>
          <a:xfrm>
            <a:off x="766300" y="658491"/>
            <a:ext cx="11001375" cy="5909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vi-VN" sz="3200" b="1" i="0" u="none" strike="noStrike" cap="none">
                <a:solidFill>
                  <a:srgbClr val="0F172A"/>
                </a:solidFill>
                <a:latin typeface="Times New Roman" panose="02020603050405020304" pitchFamily="18" charset="0"/>
                <a:ea typeface="Montserrat ExtraBold"/>
                <a:cs typeface="Times New Roman" panose="02020603050405020304" pitchFamily="18" charset="0"/>
                <a:sym typeface="Montserrat ExtraBold"/>
              </a:rPr>
              <a:t>Chương trình </a:t>
            </a:r>
            <a:r>
              <a:rPr lang="vi-VN" sz="3000" b="1">
                <a:solidFill>
                  <a:srgbClr val="1E3A8A"/>
                </a:solidFill>
                <a:latin typeface="Times New Roman" panose="02020603050405020304" pitchFamily="18" charset="0"/>
                <a:cs typeface="Times New Roman" panose="02020603050405020304" pitchFamily="18" charset="0"/>
                <a:sym typeface="Montserrat ExtraBold"/>
              </a:rPr>
              <a:t>phân hóa ổn định</a:t>
            </a:r>
            <a:endParaRPr sz="3000" b="1">
              <a:solidFill>
                <a:srgbClr val="1E3A8A"/>
              </a:solidFill>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9629A069-6573-1E66-CBE6-E8F4216E1DAF}"/>
              </a:ext>
            </a:extLst>
          </p:cNvPr>
          <p:cNvSpPr/>
          <p:nvPr/>
        </p:nvSpPr>
        <p:spPr>
          <a:xfrm>
            <a:off x="766300" y="1733149"/>
            <a:ext cx="3127275" cy="4080912"/>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sz="1600">
                <a:latin typeface="Times New Roman" panose="02020603050405020304" pitchFamily="18" charset="0"/>
                <a:cs typeface="Times New Roman" panose="02020603050405020304" pitchFamily="18" charset="0"/>
              </a:rPr>
              <a:t>f</a:t>
            </a:r>
            <a:endParaRPr lang="en-US" sz="1600">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4CFD74AA-EEA4-9F79-1819-77DCDD6F703E}"/>
              </a:ext>
            </a:extLst>
          </p:cNvPr>
          <p:cNvSpPr/>
          <p:nvPr/>
        </p:nvSpPr>
        <p:spPr>
          <a:xfrm>
            <a:off x="4441412" y="1733149"/>
            <a:ext cx="3127275" cy="4080912"/>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sz="1600">
                <a:latin typeface="Times New Roman" panose="02020603050405020304" pitchFamily="18" charset="0"/>
                <a:cs typeface="Times New Roman" panose="02020603050405020304" pitchFamily="18" charset="0"/>
              </a:rPr>
              <a:t>f</a:t>
            </a:r>
            <a:endParaRPr lang="en-US" sz="1600">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830749CF-21C3-58F9-292E-C46EC5657015}"/>
              </a:ext>
            </a:extLst>
          </p:cNvPr>
          <p:cNvSpPr/>
          <p:nvPr/>
        </p:nvSpPr>
        <p:spPr>
          <a:xfrm>
            <a:off x="7973345" y="1733149"/>
            <a:ext cx="3127275" cy="4080912"/>
          </a:xfrm>
          <a:prstGeom prst="roundRect">
            <a:avLst>
              <a:gd name="adj" fmla="val 1310"/>
            </a:avLst>
          </a:prstGeom>
          <a:solidFill>
            <a:schemeClr val="bg1"/>
          </a:solidFill>
          <a:ln w="3175">
            <a:solidFill>
              <a:schemeClr val="bg1">
                <a:lumMod val="75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sz="1600">
                <a:latin typeface="Times New Roman" panose="02020603050405020304" pitchFamily="18" charset="0"/>
                <a:cs typeface="Times New Roman" panose="02020603050405020304" pitchFamily="18" charset="0"/>
              </a:rPr>
              <a:t>f</a:t>
            </a:r>
            <a:endParaRPr lang="en-US" sz="16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FA8C37E6-0809-3F24-5ECA-A3A855638FA9}"/>
              </a:ext>
            </a:extLst>
          </p:cNvPr>
          <p:cNvSpPr txBox="1"/>
          <p:nvPr/>
        </p:nvSpPr>
        <p:spPr>
          <a:xfrm>
            <a:off x="919930" y="2359175"/>
            <a:ext cx="2939845" cy="707886"/>
          </a:xfrm>
          <a:prstGeom prst="rect">
            <a:avLst/>
          </a:prstGeom>
          <a:noFill/>
        </p:spPr>
        <p:txBody>
          <a:bodyPr wrap="square" rtlCol="0">
            <a:spAutoFit/>
          </a:bodyPr>
          <a:lstStyle/>
          <a:p>
            <a:r>
              <a:rPr lang="vi-VN" sz="2000" b="1">
                <a:latin typeface="Times New Roman" panose="02020603050405020304" pitchFamily="18" charset="0"/>
                <a:cs typeface="Times New Roman" panose="02020603050405020304" pitchFamily="18" charset="0"/>
              </a:rPr>
              <a:t>Chương trình phân hóa ổn định </a:t>
            </a:r>
            <a:r>
              <a:rPr lang="vi-VN" sz="2000" b="1">
                <a:solidFill>
                  <a:srgbClr val="1E3A8A"/>
                </a:solidFill>
                <a:latin typeface="Times New Roman" panose="02020603050405020304" pitchFamily="18" charset="0"/>
                <a:cs typeface="Times New Roman" panose="02020603050405020304" pitchFamily="18" charset="0"/>
              </a:rPr>
              <a:t>theo nhóm môn</a:t>
            </a:r>
          </a:p>
        </p:txBody>
      </p:sp>
      <p:sp>
        <p:nvSpPr>
          <p:cNvPr id="20" name="TextBox 19">
            <a:extLst>
              <a:ext uri="{FF2B5EF4-FFF2-40B4-BE49-F238E27FC236}">
                <a16:creationId xmlns:a16="http://schemas.microsoft.com/office/drawing/2014/main" id="{C701DF23-0A17-E551-CC75-7324BCBE9365}"/>
              </a:ext>
            </a:extLst>
          </p:cNvPr>
          <p:cNvSpPr txBox="1"/>
          <p:nvPr/>
        </p:nvSpPr>
        <p:spPr>
          <a:xfrm>
            <a:off x="4576913" y="2387994"/>
            <a:ext cx="2856271" cy="707886"/>
          </a:xfrm>
          <a:prstGeom prst="rect">
            <a:avLst/>
          </a:prstGeom>
          <a:noFill/>
        </p:spPr>
        <p:txBody>
          <a:bodyPr wrap="square" rtlCol="0">
            <a:spAutoFit/>
          </a:bodyPr>
          <a:lstStyle/>
          <a:p>
            <a:r>
              <a:rPr lang="vi-VN" sz="2000" b="1">
                <a:latin typeface="Times New Roman" panose="02020603050405020304" pitchFamily="18" charset="0"/>
                <a:cs typeface="Times New Roman" panose="02020603050405020304" pitchFamily="18" charset="0"/>
              </a:rPr>
              <a:t>Các môn </a:t>
            </a:r>
            <a:r>
              <a:rPr lang="vi-VN" sz="2000" b="1">
                <a:solidFill>
                  <a:srgbClr val="1E3A8A"/>
                </a:solidFill>
                <a:latin typeface="Times New Roman" panose="02020603050405020304" pitchFamily="18" charset="0"/>
                <a:cs typeface="Times New Roman" panose="02020603050405020304" pitchFamily="18" charset="0"/>
              </a:rPr>
              <a:t>Kỹ thuật </a:t>
            </a:r>
            <a:r>
              <a:rPr lang="vi-VN" sz="2000" b="1">
                <a:latin typeface="Times New Roman" panose="02020603050405020304" pitchFamily="18" charset="0"/>
                <a:cs typeface="Times New Roman" panose="02020603050405020304" pitchFamily="18" charset="0"/>
              </a:rPr>
              <a:t>phân hóa cao hơn </a:t>
            </a:r>
            <a:r>
              <a:rPr lang="vi-VN" sz="2000" b="1">
                <a:solidFill>
                  <a:schemeClr val="tx1">
                    <a:lumMod val="65000"/>
                    <a:lumOff val="35000"/>
                  </a:schemeClr>
                </a:solidFill>
                <a:latin typeface="Times New Roman" panose="02020603050405020304" pitchFamily="18" charset="0"/>
                <a:cs typeface="Times New Roman" panose="02020603050405020304" pitchFamily="18" charset="0"/>
              </a:rPr>
              <a:t>Kinh tế</a:t>
            </a:r>
          </a:p>
        </p:txBody>
      </p:sp>
      <p:sp>
        <p:nvSpPr>
          <p:cNvPr id="21" name="TextBox 20">
            <a:extLst>
              <a:ext uri="{FF2B5EF4-FFF2-40B4-BE49-F238E27FC236}">
                <a16:creationId xmlns:a16="http://schemas.microsoft.com/office/drawing/2014/main" id="{C8BA4FCD-4E4C-6F53-DD77-B1C6E22052F5}"/>
              </a:ext>
            </a:extLst>
          </p:cNvPr>
          <p:cNvSpPr txBox="1"/>
          <p:nvPr/>
        </p:nvSpPr>
        <p:spPr>
          <a:xfrm>
            <a:off x="8066805" y="2427347"/>
            <a:ext cx="2627676" cy="707886"/>
          </a:xfrm>
          <a:prstGeom prst="rect">
            <a:avLst/>
          </a:prstGeom>
          <a:noFill/>
        </p:spPr>
        <p:txBody>
          <a:bodyPr wrap="square" rtlCol="0">
            <a:spAutoFit/>
          </a:bodyPr>
          <a:lstStyle/>
          <a:p>
            <a:r>
              <a:rPr lang="vi-VN" sz="2000" b="1">
                <a:latin typeface="Times New Roman" panose="02020603050405020304" pitchFamily="18" charset="0"/>
                <a:cs typeface="Times New Roman" panose="02020603050405020304" pitchFamily="18" charset="0"/>
              </a:rPr>
              <a:t>Cần </a:t>
            </a:r>
            <a:r>
              <a:rPr lang="vi-VN" sz="2000" b="1">
                <a:solidFill>
                  <a:srgbClr val="FF0000"/>
                </a:solidFill>
                <a:latin typeface="Times New Roman" panose="02020603050405020304" pitchFamily="18" charset="0"/>
                <a:cs typeface="Times New Roman" panose="02020603050405020304" pitchFamily="18" charset="0"/>
              </a:rPr>
              <a:t>Ưu tiên Cải thiện </a:t>
            </a:r>
            <a:r>
              <a:rPr lang="vi-VN" sz="2000" b="1">
                <a:solidFill>
                  <a:schemeClr val="tx1"/>
                </a:solidFill>
                <a:latin typeface="Times New Roman" panose="02020603050405020304" pitchFamily="18" charset="0"/>
                <a:cs typeface="Times New Roman" panose="02020603050405020304" pitchFamily="18" charset="0"/>
              </a:rPr>
              <a:t>một</a:t>
            </a:r>
            <a:r>
              <a:rPr lang="vi-VN" sz="2000" b="1">
                <a:latin typeface="Times New Roman" panose="02020603050405020304" pitchFamily="18" charset="0"/>
                <a:cs typeface="Times New Roman" panose="02020603050405020304" pitchFamily="18" charset="0"/>
              </a:rPr>
              <a:t> số môn</a:t>
            </a:r>
            <a:endParaRPr lang="en-US" sz="2000" b="1">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4C14AB7C-0648-D1F4-3667-8DFBC899D844}"/>
              </a:ext>
            </a:extLst>
          </p:cNvPr>
          <p:cNvSpPr txBox="1"/>
          <p:nvPr/>
        </p:nvSpPr>
        <p:spPr>
          <a:xfrm>
            <a:off x="8087761" y="3296612"/>
            <a:ext cx="2856271" cy="307777"/>
          </a:xfrm>
          <a:prstGeom prst="rect">
            <a:avLst/>
          </a:prstGeom>
          <a:noFill/>
        </p:spPr>
        <p:txBody>
          <a:bodyPr wrap="square" rtlCol="0">
            <a:spAutoFit/>
          </a:bodyPr>
          <a:lstStyle/>
          <a:p>
            <a:r>
              <a:rPr lang="en-US" b="1">
                <a:solidFill>
                  <a:schemeClr val="tx1">
                    <a:lumMod val="65000"/>
                    <a:lumOff val="35000"/>
                  </a:schemeClr>
                </a:solidFill>
                <a:latin typeface="Times New Roman" panose="02020603050405020304" pitchFamily="18" charset="0"/>
                <a:cs typeface="Times New Roman" panose="02020603050405020304" pitchFamily="18" charset="0"/>
              </a:rPr>
              <a:t>Lạm phát điểm</a:t>
            </a:r>
          </a:p>
        </p:txBody>
      </p:sp>
      <p:sp>
        <p:nvSpPr>
          <p:cNvPr id="23" name="Rectangle: Rounded Corners 22">
            <a:extLst>
              <a:ext uri="{FF2B5EF4-FFF2-40B4-BE49-F238E27FC236}">
                <a16:creationId xmlns:a16="http://schemas.microsoft.com/office/drawing/2014/main" id="{946440D6-7186-A97E-1E4F-047F75B69E9D}"/>
              </a:ext>
            </a:extLst>
          </p:cNvPr>
          <p:cNvSpPr/>
          <p:nvPr/>
        </p:nvSpPr>
        <p:spPr>
          <a:xfrm>
            <a:off x="8186467" y="3653669"/>
            <a:ext cx="2757565" cy="478683"/>
          </a:xfrm>
          <a:prstGeom prst="roundRect">
            <a:avLst>
              <a:gd name="adj" fmla="val 1310"/>
            </a:avLst>
          </a:prstGeom>
          <a:solidFill>
            <a:srgbClr val="FEF2F2"/>
          </a:solidFill>
          <a:ln>
            <a:noFill/>
          </a:ln>
        </p:spPr>
        <p:txBody>
          <a:bodyPr spcFirstLastPara="1" wrap="square" lIns="91425" tIns="45700" rIns="91425" bIns="45700" anchor="ctr" anchorCtr="0">
            <a:noAutofit/>
          </a:bodyPr>
          <a:lstStyle/>
          <a:p>
            <a:r>
              <a:rPr lang="vi-VN" sz="1300" i="1">
                <a:solidFill>
                  <a:schemeClr val="dk1"/>
                </a:solidFill>
                <a:latin typeface="Times New Roman" panose="02020603050405020304" pitchFamily="18" charset="0"/>
                <a:ea typeface="Calibri"/>
                <a:cs typeface="Times New Roman" panose="02020603050405020304" pitchFamily="18" charset="0"/>
              </a:rPr>
              <a:t>Chuỗi khối , Tư tưởng Hồ Chí Minh</a:t>
            </a:r>
            <a:endParaRPr lang="en-US" sz="1300" i="1">
              <a:solidFill>
                <a:schemeClr val="dk1"/>
              </a:solidFill>
              <a:latin typeface="Times New Roman" panose="02020603050405020304" pitchFamily="18" charset="0"/>
              <a:ea typeface="Calibri"/>
              <a:cs typeface="Times New Roman" panose="02020603050405020304" pitchFamily="18" charset="0"/>
            </a:endParaRPr>
          </a:p>
        </p:txBody>
      </p:sp>
      <p:sp>
        <p:nvSpPr>
          <p:cNvPr id="25" name="TextBox 24">
            <a:extLst>
              <a:ext uri="{FF2B5EF4-FFF2-40B4-BE49-F238E27FC236}">
                <a16:creationId xmlns:a16="http://schemas.microsoft.com/office/drawing/2014/main" id="{C4B3B9F2-F02D-7B6D-E5F3-B7F37FBCA234}"/>
              </a:ext>
            </a:extLst>
          </p:cNvPr>
          <p:cNvSpPr txBox="1"/>
          <p:nvPr/>
        </p:nvSpPr>
        <p:spPr>
          <a:xfrm>
            <a:off x="8133480" y="4144936"/>
            <a:ext cx="2856271" cy="307777"/>
          </a:xfrm>
          <a:prstGeom prst="rect">
            <a:avLst/>
          </a:prstGeom>
          <a:noFill/>
        </p:spPr>
        <p:txBody>
          <a:bodyPr wrap="square" rtlCol="0">
            <a:spAutoFit/>
          </a:bodyPr>
          <a:lstStyle/>
          <a:p>
            <a:r>
              <a:rPr lang="en-US" b="1">
                <a:solidFill>
                  <a:schemeClr val="tx1">
                    <a:lumMod val="65000"/>
                    <a:lumOff val="35000"/>
                  </a:schemeClr>
                </a:solidFill>
                <a:latin typeface="Times New Roman" panose="02020603050405020304" pitchFamily="18" charset="0"/>
                <a:cs typeface="Times New Roman" panose="02020603050405020304" pitchFamily="18" charset="0"/>
              </a:rPr>
              <a:t>Cào bằng năng lực</a:t>
            </a:r>
          </a:p>
        </p:txBody>
      </p:sp>
      <p:sp>
        <p:nvSpPr>
          <p:cNvPr id="26" name="Rectangle: Rounded Corners 25">
            <a:extLst>
              <a:ext uri="{FF2B5EF4-FFF2-40B4-BE49-F238E27FC236}">
                <a16:creationId xmlns:a16="http://schemas.microsoft.com/office/drawing/2014/main" id="{4B317538-B4E8-594B-2DD0-6103CCEE3E1A}"/>
              </a:ext>
            </a:extLst>
          </p:cNvPr>
          <p:cNvSpPr/>
          <p:nvPr/>
        </p:nvSpPr>
        <p:spPr>
          <a:xfrm>
            <a:off x="8202790" y="4467585"/>
            <a:ext cx="2757564" cy="466269"/>
          </a:xfrm>
          <a:prstGeom prst="roundRect">
            <a:avLst>
              <a:gd name="adj" fmla="val 1310"/>
            </a:avLst>
          </a:prstGeom>
          <a:solidFill>
            <a:srgbClr val="FEF2F2"/>
          </a:solidFill>
          <a:ln>
            <a:noFill/>
          </a:ln>
        </p:spPr>
        <p:txBody>
          <a:bodyPr spcFirstLastPara="1" wrap="square" lIns="91425" tIns="45700" rIns="91425" bIns="45700" anchor="ctr" anchorCtr="0">
            <a:noAutofit/>
          </a:bodyPr>
          <a:lstStyle/>
          <a:p>
            <a:r>
              <a:rPr lang="vi-VN" sz="1300" i="1">
                <a:solidFill>
                  <a:schemeClr val="dk1"/>
                </a:solidFill>
                <a:latin typeface="Times New Roman" panose="02020603050405020304" pitchFamily="18" charset="0"/>
                <a:ea typeface="Calibri"/>
                <a:cs typeface="Times New Roman" panose="02020603050405020304" pitchFamily="18" charset="0"/>
              </a:rPr>
              <a:t>Nguyên lý MKT–Quản trị học–TMĐT</a:t>
            </a:r>
          </a:p>
        </p:txBody>
      </p:sp>
      <p:sp>
        <p:nvSpPr>
          <p:cNvPr id="28" name="Rectangle: Rounded Corners 27">
            <a:extLst>
              <a:ext uri="{FF2B5EF4-FFF2-40B4-BE49-F238E27FC236}">
                <a16:creationId xmlns:a16="http://schemas.microsoft.com/office/drawing/2014/main" id="{75A91418-EFC5-C0ED-3365-F38A79A1790C}"/>
              </a:ext>
            </a:extLst>
          </p:cNvPr>
          <p:cNvSpPr/>
          <p:nvPr/>
        </p:nvSpPr>
        <p:spPr>
          <a:xfrm flipH="1">
            <a:off x="8179199" y="4459868"/>
            <a:ext cx="47203" cy="473769"/>
          </a:xfrm>
          <a:prstGeom prst="roundRect">
            <a:avLst>
              <a:gd name="adj" fmla="val 6262"/>
            </a:avLst>
          </a:prstGeom>
          <a:solidFill>
            <a:srgbClr val="FF0000"/>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rgbClr val="3B82F6"/>
              </a:solidFill>
              <a:latin typeface="Times New Roman" panose="02020603050405020304" pitchFamily="18" charset="0"/>
              <a:cs typeface="Times New Roman" panose="02020603050405020304" pitchFamily="18" charset="0"/>
            </a:endParaRPr>
          </a:p>
        </p:txBody>
      </p:sp>
      <p:pic>
        <p:nvPicPr>
          <p:cNvPr id="29" name="Google Shape;96;p13" descr="image.png">
            <a:extLst>
              <a:ext uri="{FF2B5EF4-FFF2-40B4-BE49-F238E27FC236}">
                <a16:creationId xmlns:a16="http://schemas.microsoft.com/office/drawing/2014/main" id="{0CF1132F-9D82-6E26-E369-164078A55348}"/>
              </a:ext>
            </a:extLst>
          </p:cNvPr>
          <p:cNvPicPr preferRelativeResize="0"/>
          <p:nvPr/>
        </p:nvPicPr>
        <p:blipFill rotWithShape="1">
          <a:blip r:embed="rId3">
            <a:alphaModFix/>
          </a:blip>
          <a:srcRect/>
          <a:stretch/>
        </p:blipFill>
        <p:spPr>
          <a:xfrm>
            <a:off x="919930" y="1996235"/>
            <a:ext cx="291650" cy="233157"/>
          </a:xfrm>
          <a:prstGeom prst="rect">
            <a:avLst/>
          </a:prstGeom>
          <a:noFill/>
          <a:ln>
            <a:noFill/>
          </a:ln>
        </p:spPr>
      </p:pic>
      <p:pic>
        <p:nvPicPr>
          <p:cNvPr id="30" name="Google Shape;100;p13" descr="image.png">
            <a:extLst>
              <a:ext uri="{FF2B5EF4-FFF2-40B4-BE49-F238E27FC236}">
                <a16:creationId xmlns:a16="http://schemas.microsoft.com/office/drawing/2014/main" id="{21041589-66F1-7A88-2A14-C89245016FFA}"/>
              </a:ext>
            </a:extLst>
          </p:cNvPr>
          <p:cNvPicPr preferRelativeResize="0"/>
          <p:nvPr/>
        </p:nvPicPr>
        <p:blipFill rotWithShape="1">
          <a:blip r:embed="rId4">
            <a:alphaModFix/>
          </a:blip>
          <a:srcRect/>
          <a:stretch/>
        </p:blipFill>
        <p:spPr>
          <a:xfrm>
            <a:off x="4618144" y="2083194"/>
            <a:ext cx="251036" cy="210426"/>
          </a:xfrm>
          <a:prstGeom prst="rect">
            <a:avLst/>
          </a:prstGeom>
          <a:noFill/>
          <a:ln>
            <a:noFill/>
          </a:ln>
        </p:spPr>
      </p:pic>
      <p:pic>
        <p:nvPicPr>
          <p:cNvPr id="31" name="Google Shape;103;p13" descr="image.png">
            <a:extLst>
              <a:ext uri="{FF2B5EF4-FFF2-40B4-BE49-F238E27FC236}">
                <a16:creationId xmlns:a16="http://schemas.microsoft.com/office/drawing/2014/main" id="{4BC2357F-484F-A50E-C245-906586F553B9}"/>
              </a:ext>
            </a:extLst>
          </p:cNvPr>
          <p:cNvPicPr preferRelativeResize="0"/>
          <p:nvPr/>
        </p:nvPicPr>
        <p:blipFill rotWithShape="1">
          <a:blip r:embed="rId5">
            <a:alphaModFix/>
          </a:blip>
          <a:srcRect/>
          <a:stretch/>
        </p:blipFill>
        <p:spPr>
          <a:xfrm>
            <a:off x="8112523" y="2097707"/>
            <a:ext cx="216137" cy="189799"/>
          </a:xfrm>
          <a:prstGeom prst="rect">
            <a:avLst/>
          </a:prstGeom>
          <a:noFill/>
          <a:ln>
            <a:noFill/>
          </a:ln>
        </p:spPr>
      </p:pic>
      <p:sp>
        <p:nvSpPr>
          <p:cNvPr id="35" name="TextBox 34">
            <a:extLst>
              <a:ext uri="{FF2B5EF4-FFF2-40B4-BE49-F238E27FC236}">
                <a16:creationId xmlns:a16="http://schemas.microsoft.com/office/drawing/2014/main" id="{C56E9B80-D089-4251-5C1E-A66884FC25ED}"/>
              </a:ext>
            </a:extLst>
          </p:cNvPr>
          <p:cNvSpPr txBox="1"/>
          <p:nvPr/>
        </p:nvSpPr>
        <p:spPr>
          <a:xfrm>
            <a:off x="994438" y="3296612"/>
            <a:ext cx="2670995" cy="2062103"/>
          </a:xfrm>
          <a:prstGeom prst="rect">
            <a:avLst/>
          </a:prstGeom>
          <a:noFill/>
        </p:spPr>
        <p:txBody>
          <a:bodyPr wrap="square" rtlCol="0">
            <a:spAutoFit/>
          </a:bodyPr>
          <a:lstStyle/>
          <a:p>
            <a:pPr lvl="3" algn="just"/>
            <a:r>
              <a:rPr lang="vi-VN" b="1">
                <a:solidFill>
                  <a:schemeClr val="tx1">
                    <a:lumMod val="65000"/>
                    <a:lumOff val="35000"/>
                  </a:schemeClr>
                </a:solidFill>
                <a:latin typeface="Times New Roman" panose="02020603050405020304" pitchFamily="18" charset="0"/>
                <a:cs typeface="Times New Roman" panose="02020603050405020304" pitchFamily="18" charset="0"/>
              </a:rPr>
              <a:t>Mức cao: </a:t>
            </a:r>
            <a:r>
              <a:rPr lang="vi-VN">
                <a:solidFill>
                  <a:schemeClr val="tx1">
                    <a:lumMod val="65000"/>
                    <a:lumOff val="35000"/>
                  </a:schemeClr>
                </a:solidFill>
                <a:latin typeface="Times New Roman" panose="02020603050405020304" pitchFamily="18" charset="0"/>
                <a:cs typeface="Times New Roman" panose="02020603050405020304" pitchFamily="18" charset="0"/>
              </a:rPr>
              <a:t>Nhóm Toán, Kinh tế Định lượng &amp; Kỹ thuật.</a:t>
            </a:r>
          </a:p>
          <a:p>
            <a:pPr lvl="3" algn="just"/>
            <a:endParaRPr lang="vi-VN">
              <a:solidFill>
                <a:schemeClr val="tx1">
                  <a:lumMod val="65000"/>
                  <a:lumOff val="35000"/>
                </a:schemeClr>
              </a:solidFill>
              <a:latin typeface="Times New Roman" panose="02020603050405020304" pitchFamily="18" charset="0"/>
              <a:cs typeface="Times New Roman" panose="02020603050405020304" pitchFamily="18" charset="0"/>
            </a:endParaRPr>
          </a:p>
          <a:p>
            <a:pPr lvl="3" algn="just"/>
            <a:r>
              <a:rPr lang="vi-VN" b="1">
                <a:solidFill>
                  <a:schemeClr val="tx1">
                    <a:lumMod val="65000"/>
                    <a:lumOff val="35000"/>
                  </a:schemeClr>
                </a:solidFill>
                <a:latin typeface="Times New Roman" panose="02020603050405020304" pitchFamily="18" charset="0"/>
                <a:cs typeface="Times New Roman" panose="02020603050405020304" pitchFamily="18" charset="0"/>
              </a:rPr>
              <a:t>Mức ổn định: </a:t>
            </a:r>
            <a:r>
              <a:rPr lang="vi-VN">
                <a:solidFill>
                  <a:schemeClr val="tx1">
                    <a:lumMod val="65000"/>
                    <a:lumOff val="35000"/>
                  </a:schemeClr>
                </a:solidFill>
                <a:latin typeface="Times New Roman" panose="02020603050405020304" pitchFamily="18" charset="0"/>
                <a:cs typeface="Times New Roman" panose="02020603050405020304" pitchFamily="18" charset="0"/>
              </a:rPr>
              <a:t>Nhóm Kinh tế Cốt lõi &amp; Cơ sở.</a:t>
            </a:r>
          </a:p>
          <a:p>
            <a:pPr lvl="3" algn="just"/>
            <a:endParaRPr lang="vi-VN">
              <a:solidFill>
                <a:schemeClr val="tx1">
                  <a:lumMod val="65000"/>
                  <a:lumOff val="35000"/>
                </a:schemeClr>
              </a:solidFill>
              <a:latin typeface="Times New Roman" panose="02020603050405020304" pitchFamily="18" charset="0"/>
              <a:cs typeface="Times New Roman" panose="02020603050405020304" pitchFamily="18" charset="0"/>
            </a:endParaRPr>
          </a:p>
          <a:p>
            <a:pPr lvl="3" algn="just"/>
            <a:r>
              <a:rPr lang="vi-VN" b="1">
                <a:solidFill>
                  <a:schemeClr val="tx1">
                    <a:lumMod val="65000"/>
                    <a:lumOff val="35000"/>
                  </a:schemeClr>
                </a:solidFill>
                <a:latin typeface="Times New Roman" panose="02020603050405020304" pitchFamily="18" charset="0"/>
                <a:cs typeface="Times New Roman" panose="02020603050405020304" pitchFamily="18" charset="0"/>
              </a:rPr>
              <a:t>Mức thấp: </a:t>
            </a:r>
            <a:r>
              <a:rPr lang="vi-VN">
                <a:solidFill>
                  <a:schemeClr val="tx1">
                    <a:lumMod val="65000"/>
                    <a:lumOff val="35000"/>
                  </a:schemeClr>
                </a:solidFill>
                <a:latin typeface="Times New Roman" panose="02020603050405020304" pitchFamily="18" charset="0"/>
                <a:cs typeface="Times New Roman" panose="02020603050405020304" pitchFamily="18" charset="0"/>
              </a:rPr>
              <a:t>Nhóm Kinh tế Quản trị &amp; Lý luận.</a:t>
            </a:r>
          </a:p>
          <a:p>
            <a:pPr algn="just"/>
            <a:endParaRPr lang="en-US" sz="1600">
              <a:solidFill>
                <a:schemeClr val="tx1">
                  <a:lumMod val="65000"/>
                  <a:lumOff val="35000"/>
                </a:schemeClr>
              </a:solidFill>
            </a:endParaRPr>
          </a:p>
        </p:txBody>
      </p:sp>
      <p:sp>
        <p:nvSpPr>
          <p:cNvPr id="36" name="TextBox 35">
            <a:extLst>
              <a:ext uri="{FF2B5EF4-FFF2-40B4-BE49-F238E27FC236}">
                <a16:creationId xmlns:a16="http://schemas.microsoft.com/office/drawing/2014/main" id="{BB828628-D500-2F69-0243-6BE68DDF83CF}"/>
              </a:ext>
            </a:extLst>
          </p:cNvPr>
          <p:cNvSpPr txBox="1"/>
          <p:nvPr/>
        </p:nvSpPr>
        <p:spPr>
          <a:xfrm>
            <a:off x="4642232" y="3296612"/>
            <a:ext cx="2790952" cy="1600438"/>
          </a:xfrm>
          <a:prstGeom prst="rect">
            <a:avLst/>
          </a:prstGeom>
          <a:noFill/>
        </p:spPr>
        <p:txBody>
          <a:bodyPr wrap="square" rtlCol="0">
            <a:spAutoFit/>
          </a:bodyPr>
          <a:lstStyle/>
          <a:p>
            <a:pPr algn="just"/>
            <a:r>
              <a:rPr lang="en-US" b="1">
                <a:solidFill>
                  <a:schemeClr val="tx1">
                    <a:lumMod val="65000"/>
                    <a:lumOff val="35000"/>
                  </a:schemeClr>
                </a:solidFill>
                <a:latin typeface="Times New Roman" panose="02020603050405020304" pitchFamily="18" charset="0"/>
                <a:cs typeface="Times New Roman" panose="02020603050405020304" pitchFamily="18" charset="0"/>
              </a:rPr>
              <a:t>Mũi</a:t>
            </a:r>
            <a:r>
              <a:rPr lang="vi-VN" b="1">
                <a:solidFill>
                  <a:schemeClr val="tx1">
                    <a:lumMod val="65000"/>
                    <a:lumOff val="35000"/>
                  </a:schemeClr>
                </a:solidFill>
                <a:latin typeface="Times New Roman" panose="02020603050405020304" pitchFamily="18" charset="0"/>
                <a:cs typeface="Times New Roman" panose="02020603050405020304" pitchFamily="18" charset="0"/>
              </a:rPr>
              <a:t> </a:t>
            </a:r>
            <a:r>
              <a:rPr lang="en-US" b="1">
                <a:solidFill>
                  <a:schemeClr val="tx1">
                    <a:lumMod val="65000"/>
                    <a:lumOff val="35000"/>
                  </a:schemeClr>
                </a:solidFill>
                <a:latin typeface="Times New Roman" panose="02020603050405020304" pitchFamily="18" charset="0"/>
                <a:cs typeface="Times New Roman" panose="02020603050405020304" pitchFamily="18" charset="0"/>
              </a:rPr>
              <a:t>nhọn</a:t>
            </a:r>
            <a:r>
              <a:rPr lang="vi-VN" b="1">
                <a:solidFill>
                  <a:schemeClr val="tx1">
                    <a:lumMod val="65000"/>
                    <a:lumOff val="35000"/>
                  </a:schemeClr>
                </a:solidFill>
                <a:latin typeface="Times New Roman" panose="02020603050405020304" pitchFamily="18" charset="0"/>
                <a:cs typeface="Times New Roman" panose="02020603050405020304" pitchFamily="18" charset="0"/>
              </a:rPr>
              <a:t> </a:t>
            </a:r>
            <a:r>
              <a:rPr lang="en-US" b="1">
                <a:solidFill>
                  <a:schemeClr val="tx1">
                    <a:lumMod val="65000"/>
                    <a:lumOff val="35000"/>
                  </a:schemeClr>
                </a:solidFill>
                <a:latin typeface="Times New Roman" panose="02020603050405020304" pitchFamily="18" charset="0"/>
                <a:cs typeface="Times New Roman" panose="02020603050405020304" pitchFamily="18" charset="0"/>
              </a:rPr>
              <a:t>kỹ</a:t>
            </a:r>
            <a:r>
              <a:rPr lang="vi-VN" b="1">
                <a:solidFill>
                  <a:schemeClr val="tx1">
                    <a:lumMod val="65000"/>
                    <a:lumOff val="35000"/>
                  </a:schemeClr>
                </a:solidFill>
                <a:latin typeface="Times New Roman" panose="02020603050405020304" pitchFamily="18" charset="0"/>
                <a:cs typeface="Times New Roman" panose="02020603050405020304" pitchFamily="18" charset="0"/>
              </a:rPr>
              <a:t> </a:t>
            </a:r>
            <a:r>
              <a:rPr lang="en-US" b="1">
                <a:solidFill>
                  <a:schemeClr val="tx1">
                    <a:lumMod val="65000"/>
                    <a:lumOff val="35000"/>
                  </a:schemeClr>
                </a:solidFill>
                <a:latin typeface="Times New Roman" panose="02020603050405020304" pitchFamily="18" charset="0"/>
                <a:cs typeface="Times New Roman" panose="02020603050405020304" pitchFamily="18" charset="0"/>
              </a:rPr>
              <a:t>thuật</a:t>
            </a:r>
            <a:r>
              <a:rPr lang="en-US">
                <a:solidFill>
                  <a:schemeClr val="tx1">
                    <a:lumMod val="65000"/>
                    <a:lumOff val="35000"/>
                  </a:schemeClr>
                </a:solidFill>
                <a:latin typeface="Times New Roman" panose="02020603050405020304" pitchFamily="18" charset="0"/>
                <a:cs typeface="Times New Roman" panose="02020603050405020304" pitchFamily="18" charset="0"/>
              </a:rPr>
              <a:t>:</a:t>
            </a:r>
            <a:r>
              <a:rPr lang="vi-VN">
                <a:solidFill>
                  <a:schemeClr val="tx1">
                    <a:lumMod val="65000"/>
                    <a:lumOff val="35000"/>
                  </a:schemeClr>
                </a:solidFill>
                <a:latin typeface="Times New Roman" panose="02020603050405020304" pitchFamily="18" charset="0"/>
                <a:cs typeface="Times New Roman" panose="02020603050405020304" pitchFamily="18" charset="0"/>
              </a:rPr>
              <a:t> </a:t>
            </a:r>
            <a:r>
              <a:rPr lang="en-US">
                <a:solidFill>
                  <a:schemeClr val="tx1">
                    <a:lumMod val="65000"/>
                    <a:lumOff val="35000"/>
                  </a:schemeClr>
                </a:solidFill>
                <a:latin typeface="Times New Roman" panose="02020603050405020304" pitchFamily="18" charset="0"/>
                <a:cs typeface="Times New Roman" panose="02020603050405020304" pitchFamily="18" charset="0"/>
              </a:rPr>
              <a:t>Có</a:t>
            </a:r>
            <a:r>
              <a:rPr lang="vi-VN">
                <a:solidFill>
                  <a:schemeClr val="tx1">
                    <a:lumMod val="65000"/>
                    <a:lumOff val="35000"/>
                  </a:schemeClr>
                </a:solidFill>
                <a:latin typeface="Times New Roman" panose="02020603050405020304" pitchFamily="18" charset="0"/>
                <a:cs typeface="Times New Roman" panose="02020603050405020304" pitchFamily="18" charset="0"/>
              </a:rPr>
              <a:t> </a:t>
            </a:r>
            <a:r>
              <a:rPr lang="en-US">
                <a:solidFill>
                  <a:schemeClr val="tx1">
                    <a:lumMod val="65000"/>
                    <a:lumOff val="35000"/>
                  </a:schemeClr>
                </a:solidFill>
                <a:latin typeface="Times New Roman" panose="02020603050405020304" pitchFamily="18" charset="0"/>
                <a:cs typeface="Times New Roman" panose="02020603050405020304" pitchFamily="18" charset="0"/>
              </a:rPr>
              <a:t>tới 61,54% các môn đạt mức phân hóa cao.</a:t>
            </a:r>
            <a:endParaRPr lang="vi-VN">
              <a:solidFill>
                <a:schemeClr val="tx1">
                  <a:lumMod val="65000"/>
                  <a:lumOff val="35000"/>
                </a:schemeClr>
              </a:solidFill>
              <a:latin typeface="Times New Roman" panose="02020603050405020304" pitchFamily="18" charset="0"/>
              <a:cs typeface="Times New Roman" panose="02020603050405020304" pitchFamily="18" charset="0"/>
            </a:endParaRPr>
          </a:p>
          <a:p>
            <a:pPr algn="just"/>
            <a:endParaRPr lang="vi-VN">
              <a:solidFill>
                <a:schemeClr val="tx1">
                  <a:lumMod val="65000"/>
                  <a:lumOff val="35000"/>
                </a:schemeClr>
              </a:solidFill>
              <a:latin typeface="Times New Roman" panose="02020603050405020304" pitchFamily="18" charset="0"/>
              <a:cs typeface="Times New Roman" panose="02020603050405020304" pitchFamily="18" charset="0"/>
            </a:endParaRPr>
          </a:p>
          <a:p>
            <a:pPr algn="just"/>
            <a:r>
              <a:rPr lang="en-US" b="1">
                <a:solidFill>
                  <a:schemeClr val="tx1">
                    <a:lumMod val="65000"/>
                    <a:lumOff val="35000"/>
                  </a:schemeClr>
                </a:solidFill>
                <a:latin typeface="Times New Roman" panose="02020603050405020304" pitchFamily="18" charset="0"/>
                <a:cs typeface="Times New Roman" panose="02020603050405020304" pitchFamily="18" charset="0"/>
              </a:rPr>
              <a:t>Báo động khối kinh tế</a:t>
            </a:r>
            <a:r>
              <a:rPr lang="en-US">
                <a:solidFill>
                  <a:schemeClr val="tx1">
                    <a:lumMod val="65000"/>
                    <a:lumOff val="35000"/>
                  </a:schemeClr>
                </a:solidFill>
                <a:latin typeface="Times New Roman" panose="02020603050405020304" pitchFamily="18" charset="0"/>
                <a:cs typeface="Times New Roman" panose="02020603050405020304" pitchFamily="18" charset="0"/>
              </a:rPr>
              <a:t>:</a:t>
            </a:r>
            <a:r>
              <a:rPr lang="vi-VN">
                <a:solidFill>
                  <a:schemeClr val="tx1">
                    <a:lumMod val="65000"/>
                    <a:lumOff val="35000"/>
                  </a:schemeClr>
                </a:solidFill>
                <a:latin typeface="Times New Roman" panose="02020603050405020304" pitchFamily="18" charset="0"/>
                <a:cs typeface="Times New Roman" panose="02020603050405020304" pitchFamily="18" charset="0"/>
              </a:rPr>
              <a:t> </a:t>
            </a:r>
            <a:r>
              <a:rPr lang="en-US">
                <a:solidFill>
                  <a:schemeClr val="tx1">
                    <a:lumMod val="65000"/>
                    <a:lumOff val="35000"/>
                  </a:schemeClr>
                </a:solidFill>
                <a:latin typeface="Times New Roman" panose="02020603050405020304" pitchFamily="18" charset="0"/>
                <a:cs typeface="Times New Roman" panose="02020603050405020304" pitchFamily="18" charset="0"/>
              </a:rPr>
              <a:t>Gần 1/2 các môn Kinh tế mắc kẹt ở mức phân hóa thấp.</a:t>
            </a:r>
          </a:p>
        </p:txBody>
      </p:sp>
      <p:sp>
        <p:nvSpPr>
          <p:cNvPr id="40" name="Rectangle: Rounded Corners 39">
            <a:extLst>
              <a:ext uri="{FF2B5EF4-FFF2-40B4-BE49-F238E27FC236}">
                <a16:creationId xmlns:a16="http://schemas.microsoft.com/office/drawing/2014/main" id="{A291541F-55CE-845D-3CCD-77FF35648614}"/>
              </a:ext>
            </a:extLst>
          </p:cNvPr>
          <p:cNvSpPr/>
          <p:nvPr/>
        </p:nvSpPr>
        <p:spPr>
          <a:xfrm flipH="1">
            <a:off x="8179199" y="3653670"/>
            <a:ext cx="47203" cy="473769"/>
          </a:xfrm>
          <a:prstGeom prst="roundRect">
            <a:avLst>
              <a:gd name="adj" fmla="val 6262"/>
            </a:avLst>
          </a:prstGeom>
          <a:solidFill>
            <a:srgbClr val="FF0000"/>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rgbClr val="3B82F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07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75AB53-9A5C-AAA3-E0D8-35AD66665CC0}"/>
              </a:ext>
            </a:extLst>
          </p:cNvPr>
          <p:cNvSpPr txBox="1"/>
          <p:nvPr/>
        </p:nvSpPr>
        <p:spPr>
          <a:xfrm>
            <a:off x="480142" y="1397000"/>
            <a:ext cx="1270000" cy="307777"/>
          </a:xfrm>
          <a:prstGeom prst="rect">
            <a:avLst/>
          </a:prstGeom>
          <a:noFill/>
        </p:spPr>
        <p:txBody>
          <a:bodyPr vert="horz" rtlCol="0">
            <a:spAutoFit/>
          </a:bodyPr>
          <a:lstStyle/>
          <a:p>
            <a:pPr algn="just"/>
            <a:r>
              <a:rPr lang="vi-VN" sz="1400">
                <a:solidFill>
                  <a:srgbClr val="969696"/>
                </a:solidFill>
                <a:latin typeface="Times New Roman" panose="02020603050405020304" pitchFamily="18" charset="0"/>
                <a:cs typeface="Times New Roman" panose="02020603050405020304" pitchFamily="18" charset="0"/>
              </a:rPr>
              <a:t>VẤN ĐỀ</a:t>
            </a:r>
            <a:endParaRPr lang="en-US" sz="1400">
              <a:solidFill>
                <a:srgbClr val="969696"/>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EAB6C62-057F-EB0C-666E-A83142692C97}"/>
              </a:ext>
            </a:extLst>
          </p:cNvPr>
          <p:cNvSpPr txBox="1"/>
          <p:nvPr/>
        </p:nvSpPr>
        <p:spPr>
          <a:xfrm>
            <a:off x="2151768" y="1474388"/>
            <a:ext cx="2921000" cy="800219"/>
          </a:xfrm>
          <a:prstGeom prst="rect">
            <a:avLst/>
          </a:prstGeom>
          <a:noFill/>
        </p:spPr>
        <p:txBody>
          <a:bodyPr vert="horz" rtlCol="0">
            <a:spAutoFit/>
          </a:bodyPr>
          <a:lstStyle/>
          <a:p>
            <a:pPr algn="just"/>
            <a:r>
              <a:rPr lang="en-US" sz="1600" b="1">
                <a:solidFill>
                  <a:srgbClr val="003366"/>
                </a:solidFill>
                <a:latin typeface="Times New Roman" panose="02020603050405020304" pitchFamily="18" charset="0"/>
                <a:cs typeface="Times New Roman" panose="02020603050405020304" pitchFamily="18" charset="0"/>
              </a:rPr>
              <a:t>Nhóm KT Quản trị &amp; Lý luận</a:t>
            </a:r>
          </a:p>
          <a:p>
            <a:pPr algn="just"/>
            <a:endParaRPr lang="vi-VN" sz="1600" b="1">
              <a:solidFill>
                <a:srgbClr val="003366"/>
              </a:solidFill>
              <a:latin typeface="Times New Roman" panose="02020603050405020304" pitchFamily="18" charset="0"/>
              <a:cs typeface="Times New Roman" panose="02020603050405020304" pitchFamily="18" charset="0"/>
            </a:endParaRPr>
          </a:p>
          <a:p>
            <a:pPr algn="just"/>
            <a:endParaRPr lang="en-US" sz="1400" b="1">
              <a:solidFill>
                <a:srgbClr val="003366"/>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C13D22-EED9-1C2A-A48A-3C97CD3499B9}"/>
              </a:ext>
            </a:extLst>
          </p:cNvPr>
          <p:cNvSpPr txBox="1"/>
          <p:nvPr/>
        </p:nvSpPr>
        <p:spPr>
          <a:xfrm>
            <a:off x="5316455" y="1473569"/>
            <a:ext cx="2921000" cy="338554"/>
          </a:xfrm>
          <a:prstGeom prst="rect">
            <a:avLst/>
          </a:prstGeom>
          <a:noFill/>
        </p:spPr>
        <p:txBody>
          <a:bodyPr vert="horz" rtlCol="0">
            <a:spAutoFit/>
          </a:bodyPr>
          <a:lstStyle/>
          <a:p>
            <a:pPr algn="just"/>
            <a:r>
              <a:rPr lang="vi-VN" sz="1600" b="1">
                <a:solidFill>
                  <a:srgbClr val="003366"/>
                </a:solidFill>
                <a:latin typeface="Times New Roman" panose="02020603050405020304" pitchFamily="18" charset="0"/>
                <a:cs typeface="Times New Roman" panose="02020603050405020304" pitchFamily="18" charset="0"/>
              </a:rPr>
              <a:t>K</a:t>
            </a:r>
            <a:r>
              <a:rPr lang="en-US" sz="1600" b="1">
                <a:solidFill>
                  <a:srgbClr val="003366"/>
                </a:solidFill>
                <a:latin typeface="Times New Roman" panose="02020603050405020304" pitchFamily="18" charset="0"/>
                <a:cs typeface="Times New Roman" panose="02020603050405020304" pitchFamily="18" charset="0"/>
              </a:rPr>
              <a:t>hối kinh tế</a:t>
            </a:r>
          </a:p>
        </p:txBody>
      </p:sp>
      <p:sp>
        <p:nvSpPr>
          <p:cNvPr id="7" name="TextBox 6">
            <a:extLst>
              <a:ext uri="{FF2B5EF4-FFF2-40B4-BE49-F238E27FC236}">
                <a16:creationId xmlns:a16="http://schemas.microsoft.com/office/drawing/2014/main" id="{60316AFE-455E-85D4-7565-16769A748E87}"/>
              </a:ext>
            </a:extLst>
          </p:cNvPr>
          <p:cNvSpPr txBox="1"/>
          <p:nvPr/>
        </p:nvSpPr>
        <p:spPr>
          <a:xfrm>
            <a:off x="8481142" y="1434303"/>
            <a:ext cx="2921000" cy="380489"/>
          </a:xfrm>
          <a:prstGeom prst="rect">
            <a:avLst/>
          </a:prstGeom>
          <a:noFill/>
        </p:spPr>
        <p:txBody>
          <a:bodyPr vert="horz" rtlCol="0">
            <a:spAutoFit/>
          </a:bodyPr>
          <a:lstStyle/>
          <a:p>
            <a:pPr lvl="0" algn="just">
              <a:lnSpc>
                <a:spcPct val="130000"/>
              </a:lnSpc>
            </a:pPr>
            <a:r>
              <a:rPr lang="vi-VN" sz="1600" b="1">
                <a:solidFill>
                  <a:srgbClr val="003366"/>
                </a:solidFill>
                <a:latin typeface="Times New Roman" panose="02020603050405020304" pitchFamily="18" charset="0"/>
                <a:cs typeface="Times New Roman" panose="02020603050405020304" pitchFamily="18" charset="0"/>
                <a:sym typeface="Poppins SemiBold"/>
              </a:rPr>
              <a:t>Cần ưu tiên cải thiện</a:t>
            </a:r>
            <a:endParaRPr lang="vi-VN" sz="1600" b="1">
              <a:solidFill>
                <a:srgbClr val="003366"/>
              </a:solidFill>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D5C3A95-5192-C36E-20B3-C0409AC46CA0}"/>
              </a:ext>
            </a:extLst>
          </p:cNvPr>
          <p:cNvCxnSpPr>
            <a:cxnSpLocks/>
          </p:cNvCxnSpPr>
          <p:nvPr/>
        </p:nvCxnSpPr>
        <p:spPr>
          <a:xfrm>
            <a:off x="480142" y="2159000"/>
            <a:ext cx="10922000" cy="38219"/>
          </a:xfrm>
          <a:prstGeom prst="line">
            <a:avLst/>
          </a:prstGeom>
          <a:ln>
            <a:solidFill>
              <a:srgbClr val="C8C8C8"/>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88C419C-840C-5966-B62A-8F88CB80365F}"/>
              </a:ext>
            </a:extLst>
          </p:cNvPr>
          <p:cNvSpPr txBox="1"/>
          <p:nvPr/>
        </p:nvSpPr>
        <p:spPr>
          <a:xfrm>
            <a:off x="480142" y="2413000"/>
            <a:ext cx="1270000" cy="523220"/>
          </a:xfrm>
          <a:prstGeom prst="rect">
            <a:avLst/>
          </a:prstGeom>
          <a:noFill/>
        </p:spPr>
        <p:txBody>
          <a:bodyPr vert="horz" rtlCol="0">
            <a:spAutoFit/>
          </a:bodyPr>
          <a:lstStyle/>
          <a:p>
            <a:pPr algn="just"/>
            <a:r>
              <a:rPr lang="vi-VN" sz="1400">
                <a:solidFill>
                  <a:srgbClr val="969696"/>
                </a:solidFill>
                <a:latin typeface="Times New Roman" panose="02020603050405020304" pitchFamily="18" charset="0"/>
                <a:cs typeface="Times New Roman" panose="02020603050405020304" pitchFamily="18" charset="0"/>
              </a:rPr>
              <a:t>THỰC TRẠNG</a:t>
            </a:r>
            <a:endParaRPr lang="en-US" sz="1400">
              <a:solidFill>
                <a:srgbClr val="969696"/>
              </a:solidFill>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9295F963-AB34-2CBA-E5B6-A78E50B21711}"/>
              </a:ext>
            </a:extLst>
          </p:cNvPr>
          <p:cNvSpPr/>
          <p:nvPr/>
        </p:nvSpPr>
        <p:spPr>
          <a:xfrm>
            <a:off x="2131142" y="2413000"/>
            <a:ext cx="2921000" cy="762000"/>
          </a:xfrm>
          <a:prstGeom prst="roundRect">
            <a:avLst/>
          </a:prstGeom>
          <a:solidFill>
            <a:srgbClr val="E6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lnSpc>
                <a:spcPct val="150000"/>
              </a:lnSpc>
            </a:pPr>
            <a:r>
              <a:rPr lang="en-US">
                <a:solidFill>
                  <a:srgbClr val="475569"/>
                </a:solidFill>
                <a:latin typeface="Times New Roman" panose="02020603050405020304" pitchFamily="18" charset="0"/>
                <a:ea typeface="Lato"/>
                <a:cs typeface="Times New Roman" panose="02020603050405020304" pitchFamily="18" charset="0"/>
                <a:sym typeface="Lato"/>
              </a:rPr>
              <a:t>Đa số sinh viên đạt điểm trung bình-khá, không có sự phân hóa rõ rệt</a:t>
            </a:r>
            <a:endParaRPr lang="en-US">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C816D1A1-4325-63EB-A003-392D5336394B}"/>
              </a:ext>
            </a:extLst>
          </p:cNvPr>
          <p:cNvSpPr/>
          <p:nvPr/>
        </p:nvSpPr>
        <p:spPr>
          <a:xfrm>
            <a:off x="5306142" y="2413000"/>
            <a:ext cx="2921000" cy="762000"/>
          </a:xfrm>
          <a:prstGeom prst="roundRect">
            <a:avLst/>
          </a:prstGeom>
          <a:solidFill>
            <a:srgbClr val="E6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endParaRPr lang="vi-VN">
              <a:solidFill>
                <a:schemeClr val="tx1"/>
              </a:solidFill>
              <a:latin typeface="Times New Roman" panose="02020603050405020304" pitchFamily="18" charset="0"/>
              <a:ea typeface="Lato"/>
              <a:cs typeface="Times New Roman" panose="02020603050405020304" pitchFamily="18" charset="0"/>
              <a:sym typeface="Lato"/>
            </a:endParaRPr>
          </a:p>
          <a:p>
            <a:pPr algn="just">
              <a:lnSpc>
                <a:spcPct val="150000"/>
              </a:lnSpc>
            </a:pPr>
            <a:r>
              <a:rPr lang="vi-VN">
                <a:solidFill>
                  <a:schemeClr val="tx1"/>
                </a:solidFill>
                <a:latin typeface="Times New Roman" panose="02020603050405020304" pitchFamily="18" charset="0"/>
                <a:ea typeface="Lato"/>
                <a:cs typeface="Times New Roman" panose="02020603050405020304" pitchFamily="18" charset="0"/>
                <a:sym typeface="Lato"/>
              </a:rPr>
              <a:t>Một nửa số môn thuộc về Kinh tế đang ở mức phân hóa Thấp. </a:t>
            </a:r>
            <a:endParaRPr lang="vi-VN">
              <a:solidFill>
                <a:schemeClr val="tx1"/>
              </a:solidFill>
              <a:latin typeface="Times New Roman" panose="02020603050405020304" pitchFamily="18" charset="0"/>
              <a:ea typeface="Lato"/>
              <a:cs typeface="Times New Roman" panose="02020603050405020304" pitchFamily="18" charset="0"/>
            </a:endParaRPr>
          </a:p>
          <a:p>
            <a:pPr algn="just">
              <a:lnSpc>
                <a:spcPct val="150000"/>
              </a:lnSpc>
            </a:pPr>
            <a:endParaRPr lang="en-US">
              <a:solidFill>
                <a:schemeClr val="tx1"/>
              </a:solidFill>
              <a:latin typeface="Times New Roman" panose="02020603050405020304" pitchFamily="18" charset="0"/>
              <a:ea typeface="Lato"/>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153B8D99-CC8C-42F7-BF9E-65A8BB5D39B0}"/>
              </a:ext>
            </a:extLst>
          </p:cNvPr>
          <p:cNvSpPr/>
          <p:nvPr/>
        </p:nvSpPr>
        <p:spPr>
          <a:xfrm>
            <a:off x="8481142" y="2413000"/>
            <a:ext cx="2921000" cy="762000"/>
          </a:xfrm>
          <a:prstGeom prst="roundRect">
            <a:avLst/>
          </a:prstGeom>
          <a:solidFill>
            <a:srgbClr val="E6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endParaRPr lang="vi-VN">
              <a:solidFill>
                <a:srgbClr val="475569"/>
              </a:solidFill>
              <a:latin typeface="Times New Roman" panose="02020603050405020304" pitchFamily="18" charset="0"/>
              <a:ea typeface="Lato"/>
              <a:cs typeface="Times New Roman" panose="02020603050405020304" pitchFamily="18" charset="0"/>
              <a:sym typeface="Lato"/>
            </a:endParaRPr>
          </a:p>
          <a:p>
            <a:pPr algn="just">
              <a:lnSpc>
                <a:spcPct val="150000"/>
              </a:lnSpc>
            </a:pPr>
            <a:r>
              <a:rPr lang="en-US">
                <a:solidFill>
                  <a:srgbClr val="475569"/>
                </a:solidFill>
                <a:latin typeface="Times New Roman" panose="02020603050405020304" pitchFamily="18" charset="0"/>
                <a:ea typeface="Lato"/>
                <a:cs typeface="Times New Roman" panose="02020603050405020304" pitchFamily="18" charset="0"/>
                <a:sym typeface="Lato"/>
              </a:rPr>
              <a:t>Lạm phát: Chuỗi khối, TT HCM</a:t>
            </a:r>
            <a:br>
              <a:rPr lang="en-US">
                <a:solidFill>
                  <a:srgbClr val="475569"/>
                </a:solidFill>
                <a:latin typeface="Times New Roman" panose="02020603050405020304" pitchFamily="18" charset="0"/>
                <a:ea typeface="Lato"/>
                <a:cs typeface="Times New Roman" panose="02020603050405020304" pitchFamily="18" charset="0"/>
                <a:sym typeface="Calibri"/>
              </a:rPr>
            </a:br>
            <a:r>
              <a:rPr lang="en-US">
                <a:solidFill>
                  <a:srgbClr val="475569"/>
                </a:solidFill>
                <a:latin typeface="Times New Roman" panose="02020603050405020304" pitchFamily="18" charset="0"/>
                <a:ea typeface="Lato"/>
                <a:cs typeface="Times New Roman" panose="02020603050405020304" pitchFamily="18" charset="0"/>
                <a:sym typeface="Lato"/>
              </a:rPr>
              <a:t>Cào bằng: NL Marketing, Quản trị học, TMĐT</a:t>
            </a:r>
            <a:endParaRPr lang="en-US">
              <a:solidFill>
                <a:srgbClr val="475569"/>
              </a:solidFill>
              <a:latin typeface="Times New Roman" panose="02020603050405020304" pitchFamily="18" charset="0"/>
              <a:ea typeface="Lato"/>
              <a:cs typeface="Times New Roman" panose="02020603050405020304" pitchFamily="18" charset="0"/>
            </a:endParaRPr>
          </a:p>
          <a:p>
            <a:pPr algn="just">
              <a:lnSpc>
                <a:spcPct val="150000"/>
              </a:lnSpc>
            </a:pPr>
            <a:endParaRPr lang="en-US">
              <a:solidFill>
                <a:srgbClr val="475569"/>
              </a:solidFill>
              <a:latin typeface="Times New Roman" panose="02020603050405020304" pitchFamily="18" charset="0"/>
              <a:ea typeface="Lato"/>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3526AAA2-2CD9-9381-1543-AA7DF083D518}"/>
              </a:ext>
            </a:extLst>
          </p:cNvPr>
          <p:cNvCxnSpPr>
            <a:cxnSpLocks/>
          </p:cNvCxnSpPr>
          <p:nvPr/>
        </p:nvCxnSpPr>
        <p:spPr>
          <a:xfrm>
            <a:off x="480142" y="3429000"/>
            <a:ext cx="10922000" cy="0"/>
          </a:xfrm>
          <a:prstGeom prst="line">
            <a:avLst/>
          </a:prstGeom>
          <a:ln>
            <a:solidFill>
              <a:srgbClr val="C8C8C8"/>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5218AC1-82DC-F32A-3603-126763D36A24}"/>
              </a:ext>
            </a:extLst>
          </p:cNvPr>
          <p:cNvSpPr txBox="1"/>
          <p:nvPr/>
        </p:nvSpPr>
        <p:spPr>
          <a:xfrm>
            <a:off x="480142" y="3683000"/>
            <a:ext cx="1270000" cy="307777"/>
          </a:xfrm>
          <a:prstGeom prst="rect">
            <a:avLst/>
          </a:prstGeom>
          <a:noFill/>
        </p:spPr>
        <p:txBody>
          <a:bodyPr vert="horz" rtlCol="0">
            <a:spAutoFit/>
          </a:bodyPr>
          <a:lstStyle/>
          <a:p>
            <a:pPr algn="just"/>
            <a:r>
              <a:rPr lang="vi-VN" sz="1400">
                <a:solidFill>
                  <a:srgbClr val="969696"/>
                </a:solidFill>
                <a:latin typeface="Times New Roman" panose="02020603050405020304" pitchFamily="18" charset="0"/>
                <a:cs typeface="Times New Roman" panose="02020603050405020304" pitchFamily="18" charset="0"/>
              </a:rPr>
              <a:t>HỆ QUẢ</a:t>
            </a:r>
            <a:endParaRPr lang="en-US" sz="1400">
              <a:solidFill>
                <a:srgbClr val="969696"/>
              </a:solidFill>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ADDACD61-0E2F-9AC4-0E9A-44B7D4804776}"/>
              </a:ext>
            </a:extLst>
          </p:cNvPr>
          <p:cNvSpPr/>
          <p:nvPr/>
        </p:nvSpPr>
        <p:spPr>
          <a:xfrm>
            <a:off x="2131142" y="3619500"/>
            <a:ext cx="9271000" cy="444500"/>
          </a:xfrm>
          <a:prstGeom prst="roundRect">
            <a:avLst/>
          </a:prstGeom>
          <a:solidFill>
            <a:srgbClr val="002B5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sz="1600" b="1">
                <a:latin typeface="Times New Roman" panose="02020603050405020304" pitchFamily="18" charset="0"/>
                <a:cs typeface="Times New Roman" panose="02020603050405020304" pitchFamily="18" charset="0"/>
              </a:rPr>
              <a:t>Khó phân hóa chọn lọc được giữa sinh viên giỏi/xuất sắc so với sinh viên khá/trung bình</a:t>
            </a:r>
            <a:endParaRPr lang="en-US" sz="1600" b="1">
              <a:latin typeface="Times New Roman" panose="02020603050405020304" pitchFamily="18" charset="0"/>
              <a:cs typeface="Times New Roman" panose="02020603050405020304" pitchFamily="18" charset="0"/>
            </a:endParaRPr>
          </a:p>
        </p:txBody>
      </p:sp>
      <p:cxnSp>
        <p:nvCxnSpPr>
          <p:cNvPr id="16" name="Straight Connector 15">
            <a:extLst>
              <a:ext uri="{FF2B5EF4-FFF2-40B4-BE49-F238E27FC236}">
                <a16:creationId xmlns:a16="http://schemas.microsoft.com/office/drawing/2014/main" id="{1A61C460-A2DA-52EF-B3D3-3EAF4BCAEC84}"/>
              </a:ext>
            </a:extLst>
          </p:cNvPr>
          <p:cNvCxnSpPr>
            <a:cxnSpLocks/>
          </p:cNvCxnSpPr>
          <p:nvPr/>
        </p:nvCxnSpPr>
        <p:spPr>
          <a:xfrm>
            <a:off x="480142" y="4318000"/>
            <a:ext cx="10960100" cy="0"/>
          </a:xfrm>
          <a:prstGeom prst="line">
            <a:avLst/>
          </a:prstGeom>
          <a:ln>
            <a:solidFill>
              <a:srgbClr val="C8C8C8"/>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6D282EE-6DF2-50DC-9651-A11CEC6A7EA8}"/>
              </a:ext>
            </a:extLst>
          </p:cNvPr>
          <p:cNvSpPr txBox="1"/>
          <p:nvPr/>
        </p:nvSpPr>
        <p:spPr>
          <a:xfrm>
            <a:off x="480142" y="4572000"/>
            <a:ext cx="1483360" cy="523220"/>
          </a:xfrm>
          <a:prstGeom prst="rect">
            <a:avLst/>
          </a:prstGeom>
          <a:noFill/>
        </p:spPr>
        <p:txBody>
          <a:bodyPr vert="horz" wrap="square" rtlCol="0">
            <a:spAutoFit/>
          </a:bodyPr>
          <a:lstStyle/>
          <a:p>
            <a:pPr algn="just"/>
            <a:r>
              <a:rPr lang="vi-VN" sz="1400">
                <a:solidFill>
                  <a:srgbClr val="969696"/>
                </a:solidFill>
                <a:latin typeface="Times New Roman" panose="02020603050405020304" pitchFamily="18" charset="0"/>
                <a:cs typeface="Times New Roman" panose="02020603050405020304" pitchFamily="18" charset="0"/>
              </a:rPr>
              <a:t>NGUYÊN NHÂN</a:t>
            </a:r>
            <a:endParaRPr lang="en-US" sz="1400">
              <a:solidFill>
                <a:srgbClr val="969696"/>
              </a:solidFill>
              <a:latin typeface="Times New Roman" panose="02020603050405020304" pitchFamily="18" charset="0"/>
              <a:cs typeface="Times New Roman" panose="02020603050405020304" pitchFamily="18" charset="0"/>
            </a:endParaRPr>
          </a:p>
        </p:txBody>
      </p:sp>
      <p:sp>
        <p:nvSpPr>
          <p:cNvPr id="18" name="Rectangle: Rounded Corners 17">
            <a:extLst>
              <a:ext uri="{FF2B5EF4-FFF2-40B4-BE49-F238E27FC236}">
                <a16:creationId xmlns:a16="http://schemas.microsoft.com/office/drawing/2014/main" id="{1BF4D6C0-90F1-4569-EFB1-85DD5E0D9C07}"/>
              </a:ext>
            </a:extLst>
          </p:cNvPr>
          <p:cNvSpPr/>
          <p:nvPr/>
        </p:nvSpPr>
        <p:spPr>
          <a:xfrm>
            <a:off x="2131141" y="4571999"/>
            <a:ext cx="3017675" cy="1799735"/>
          </a:xfrm>
          <a:prstGeom prst="roundRect">
            <a:avLst/>
          </a:prstGeom>
          <a:solidFill>
            <a:srgbClr val="E6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endParaRPr lang="en-US">
              <a:solidFill>
                <a:srgbClr val="475569"/>
              </a:solidFill>
              <a:latin typeface="Times New Roman" panose="02020603050405020304" pitchFamily="18" charset="0"/>
              <a:ea typeface="Lato"/>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629117EA-C496-88D7-8318-FAB0E707522A}"/>
              </a:ext>
            </a:extLst>
          </p:cNvPr>
          <p:cNvSpPr/>
          <p:nvPr/>
        </p:nvSpPr>
        <p:spPr>
          <a:xfrm>
            <a:off x="5316455" y="4458580"/>
            <a:ext cx="2990374" cy="1904285"/>
          </a:xfrm>
          <a:prstGeom prst="roundRect">
            <a:avLst/>
          </a:prstGeom>
          <a:solidFill>
            <a:srgbClr val="E6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endParaRPr lang="en-US">
              <a:solidFill>
                <a:srgbClr val="475569"/>
              </a:solidFill>
              <a:latin typeface="Times New Roman" panose="02020603050405020304" pitchFamily="18" charset="0"/>
              <a:ea typeface="Lato"/>
              <a:cs typeface="Times New Roman" panose="02020603050405020304" pitchFamily="18" charset="0"/>
            </a:endParaRPr>
          </a:p>
        </p:txBody>
      </p:sp>
      <p:sp>
        <p:nvSpPr>
          <p:cNvPr id="20" name="Rectangle: Rounded Corners 19">
            <a:extLst>
              <a:ext uri="{FF2B5EF4-FFF2-40B4-BE49-F238E27FC236}">
                <a16:creationId xmlns:a16="http://schemas.microsoft.com/office/drawing/2014/main" id="{9D9EEF30-8CCC-00E8-46BA-C52033591F89}"/>
              </a:ext>
            </a:extLst>
          </p:cNvPr>
          <p:cNvSpPr/>
          <p:nvPr/>
        </p:nvSpPr>
        <p:spPr>
          <a:xfrm>
            <a:off x="8481142" y="4436130"/>
            <a:ext cx="2980100" cy="1926737"/>
          </a:xfrm>
          <a:prstGeom prst="roundRect">
            <a:avLst/>
          </a:prstGeom>
          <a:solidFill>
            <a:srgbClr val="E6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endParaRPr lang="en-US">
              <a:solidFill>
                <a:srgbClr val="475569"/>
              </a:solidFill>
              <a:latin typeface="Times New Roman" panose="02020603050405020304" pitchFamily="18" charset="0"/>
              <a:ea typeface="Lato"/>
              <a:cs typeface="Times New Roman" panose="02020603050405020304" pitchFamily="18" charset="0"/>
            </a:endParaRPr>
          </a:p>
        </p:txBody>
      </p:sp>
      <p:sp>
        <p:nvSpPr>
          <p:cNvPr id="21" name="Google Shape;93;p13">
            <a:extLst>
              <a:ext uri="{FF2B5EF4-FFF2-40B4-BE49-F238E27FC236}">
                <a16:creationId xmlns:a16="http://schemas.microsoft.com/office/drawing/2014/main" id="{8FD6A983-B64C-8389-DCD1-688ADA5173DE}"/>
              </a:ext>
            </a:extLst>
          </p:cNvPr>
          <p:cNvSpPr txBox="1"/>
          <p:nvPr/>
        </p:nvSpPr>
        <p:spPr>
          <a:xfrm>
            <a:off x="2218394" y="1799498"/>
            <a:ext cx="2901999" cy="1905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vi-VN" sz="1200" b="0" i="1" u="none" strike="noStrike" cap="none">
                <a:solidFill>
                  <a:srgbClr val="64748B"/>
                </a:solidFill>
                <a:latin typeface="Times New Roman" panose="02020603050405020304" pitchFamily="18" charset="0"/>
                <a:ea typeface="Lato"/>
                <a:cs typeface="Times New Roman" panose="02020603050405020304" pitchFamily="18" charset="0"/>
                <a:sym typeface="Lato"/>
              </a:rPr>
              <a:t>Nhóm phân hóa thấp</a:t>
            </a:r>
            <a:endParaRPr lang="en-US">
              <a:latin typeface="Times New Roman" panose="02020603050405020304" pitchFamily="18" charset="0"/>
              <a:cs typeface="Times New Roman" panose="02020603050405020304" pitchFamily="18" charset="0"/>
            </a:endParaRPr>
          </a:p>
        </p:txBody>
      </p:sp>
      <p:sp>
        <p:nvSpPr>
          <p:cNvPr id="22" name="Google Shape;99;p13">
            <a:extLst>
              <a:ext uri="{FF2B5EF4-FFF2-40B4-BE49-F238E27FC236}">
                <a16:creationId xmlns:a16="http://schemas.microsoft.com/office/drawing/2014/main" id="{1FD0C738-739E-A275-8089-5F7D3077874A}"/>
              </a:ext>
            </a:extLst>
          </p:cNvPr>
          <p:cNvSpPr txBox="1"/>
          <p:nvPr/>
        </p:nvSpPr>
        <p:spPr>
          <a:xfrm>
            <a:off x="5365006" y="1811602"/>
            <a:ext cx="2901999" cy="1905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vi-VN" sz="1200" b="0" i="1" u="none" strike="noStrike" cap="none">
                <a:solidFill>
                  <a:srgbClr val="64748B"/>
                </a:solidFill>
                <a:latin typeface="Times New Roman" panose="02020603050405020304" pitchFamily="18" charset="0"/>
                <a:ea typeface="Lato"/>
                <a:cs typeface="Times New Roman" panose="02020603050405020304" pitchFamily="18" charset="0"/>
                <a:sym typeface="Lato"/>
              </a:rPr>
              <a:t>~</a:t>
            </a:r>
            <a:r>
              <a:rPr lang="en-US" sz="1200" b="0" i="1" u="none" strike="noStrike" cap="none">
                <a:solidFill>
                  <a:srgbClr val="64748B"/>
                </a:solidFill>
                <a:latin typeface="Times New Roman" panose="02020603050405020304" pitchFamily="18" charset="0"/>
                <a:ea typeface="Lato"/>
                <a:cs typeface="Times New Roman" panose="02020603050405020304" pitchFamily="18" charset="0"/>
                <a:sym typeface="Lato"/>
              </a:rPr>
              <a:t>50% môn ở mức thấp</a:t>
            </a:r>
            <a:endParaRPr>
              <a:latin typeface="Times New Roman" panose="02020603050405020304" pitchFamily="18" charset="0"/>
              <a:cs typeface="Times New Roman" panose="02020603050405020304" pitchFamily="18" charset="0"/>
            </a:endParaRPr>
          </a:p>
        </p:txBody>
      </p:sp>
      <p:sp>
        <p:nvSpPr>
          <p:cNvPr id="23" name="Google Shape;105;p13">
            <a:extLst>
              <a:ext uri="{FF2B5EF4-FFF2-40B4-BE49-F238E27FC236}">
                <a16:creationId xmlns:a16="http://schemas.microsoft.com/office/drawing/2014/main" id="{511BA9AE-663B-11F8-77F4-BAD5831C01B8}"/>
              </a:ext>
            </a:extLst>
          </p:cNvPr>
          <p:cNvSpPr txBox="1"/>
          <p:nvPr/>
        </p:nvSpPr>
        <p:spPr>
          <a:xfrm>
            <a:off x="8559243" y="1793820"/>
            <a:ext cx="2901999" cy="1905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200" b="0" i="1" u="none" strike="noStrike" cap="none">
                <a:solidFill>
                  <a:srgbClr val="64748B"/>
                </a:solidFill>
                <a:latin typeface="Times New Roman" panose="02020603050405020304" pitchFamily="18" charset="0"/>
                <a:ea typeface="Lato"/>
                <a:cs typeface="Times New Roman" panose="02020603050405020304" pitchFamily="18" charset="0"/>
                <a:sym typeface="Lato"/>
              </a:rPr>
              <a:t>Lạm phát điểm &amp; Cào bằng</a:t>
            </a:r>
            <a:endParaRPr>
              <a:latin typeface="Times New Roman" panose="02020603050405020304" pitchFamily="18" charset="0"/>
              <a:cs typeface="Times New Roman" panose="02020603050405020304" pitchFamily="18" charset="0"/>
            </a:endParaRPr>
          </a:p>
        </p:txBody>
      </p:sp>
      <p:sp>
        <p:nvSpPr>
          <p:cNvPr id="30" name="Google Shape;111;p13">
            <a:extLst>
              <a:ext uri="{FF2B5EF4-FFF2-40B4-BE49-F238E27FC236}">
                <a16:creationId xmlns:a16="http://schemas.microsoft.com/office/drawing/2014/main" id="{D49A04E5-2D68-02A3-1C41-FABB2AD79C25}"/>
              </a:ext>
            </a:extLst>
          </p:cNvPr>
          <p:cNvSpPr txBox="1"/>
          <p:nvPr/>
        </p:nvSpPr>
        <p:spPr>
          <a:xfrm>
            <a:off x="2237629" y="4624537"/>
            <a:ext cx="2825327" cy="646331"/>
          </a:xfrm>
          <a:prstGeom prst="rect">
            <a:avLst/>
          </a:prstGeom>
          <a:noFill/>
          <a:ln>
            <a:noFill/>
          </a:ln>
        </p:spPr>
        <p:txBody>
          <a:bodyPr spcFirstLastPara="1" wrap="square" lIns="0" tIns="0" rIns="0" bIns="0" anchor="t" anchorCtr="0">
            <a:spAutoFit/>
          </a:bodyPr>
          <a:lstStyle/>
          <a:p>
            <a:pPr lvl="0" algn="just">
              <a:lnSpc>
                <a:spcPct val="150000"/>
              </a:lnSpc>
            </a:pPr>
            <a:r>
              <a:rPr lang="en-US" b="1" i="0" u="none" strike="noStrike" cap="none">
                <a:solidFill>
                  <a:srgbClr val="0F172A"/>
                </a:solidFill>
                <a:latin typeface="Times New Roman" panose="02020603050405020304" pitchFamily="18" charset="0"/>
                <a:ea typeface="Lato"/>
                <a:cs typeface="Times New Roman" panose="02020603050405020304" pitchFamily="18" charset="0"/>
                <a:sym typeface="Lato"/>
              </a:rPr>
              <a:t>Cấu trúc đề thi:</a:t>
            </a:r>
            <a:r>
              <a:rPr lang="en-US" b="0" i="0" u="none" strike="noStrike" cap="none">
                <a:solidFill>
                  <a:srgbClr val="334155"/>
                </a:solidFill>
                <a:latin typeface="Times New Roman" panose="02020603050405020304" pitchFamily="18" charset="0"/>
                <a:ea typeface="Lato"/>
                <a:cs typeface="Times New Roman" panose="02020603050405020304" pitchFamily="18" charset="0"/>
                <a:sym typeface="Lato"/>
              </a:rPr>
              <a:t> </a:t>
            </a:r>
            <a:r>
              <a:rPr lang="en-US">
                <a:solidFill>
                  <a:srgbClr val="334155"/>
                </a:solidFill>
                <a:latin typeface="Times New Roman" panose="02020603050405020304" pitchFamily="18" charset="0"/>
                <a:ea typeface="Lato"/>
                <a:cs typeface="Times New Roman" panose="02020603050405020304" pitchFamily="18" charset="0"/>
                <a:sym typeface="Lato"/>
              </a:rPr>
              <a:t>ghi nhớ lý thuyết, ít câu hỏi vận dụng</a:t>
            </a:r>
            <a:endParaRPr>
              <a:latin typeface="Times New Roman" panose="02020603050405020304" pitchFamily="18" charset="0"/>
              <a:cs typeface="Times New Roman" panose="02020603050405020304" pitchFamily="18" charset="0"/>
            </a:endParaRPr>
          </a:p>
        </p:txBody>
      </p:sp>
      <p:sp>
        <p:nvSpPr>
          <p:cNvPr id="31" name="Google Shape;112;p13">
            <a:extLst>
              <a:ext uri="{FF2B5EF4-FFF2-40B4-BE49-F238E27FC236}">
                <a16:creationId xmlns:a16="http://schemas.microsoft.com/office/drawing/2014/main" id="{4006E34E-67BD-4DD6-100F-997159C16003}"/>
              </a:ext>
            </a:extLst>
          </p:cNvPr>
          <p:cNvSpPr txBox="1"/>
          <p:nvPr/>
        </p:nvSpPr>
        <p:spPr>
          <a:xfrm>
            <a:off x="2230831" y="5350692"/>
            <a:ext cx="2911311" cy="646331"/>
          </a:xfrm>
          <a:prstGeom prst="rect">
            <a:avLst/>
          </a:prstGeom>
          <a:noFill/>
          <a:ln>
            <a:noFill/>
          </a:ln>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spcFirstLastPara="1" wrap="square" lIns="0" tIns="0" rIns="0" bIns="0" anchor="t" anchorCtr="0">
            <a:spAutoFit/>
          </a:bodyPr>
          <a:lstStyle/>
          <a:p>
            <a:pPr lvl="0" algn="just">
              <a:lnSpc>
                <a:spcPct val="150000"/>
              </a:lnSpc>
            </a:pPr>
            <a:r>
              <a:rPr lang="en-US" b="1" i="0" u="none" strike="noStrike" cap="none">
                <a:solidFill>
                  <a:srgbClr val="0F172A"/>
                </a:solidFill>
                <a:latin typeface="Times New Roman" panose="02020603050405020304" pitchFamily="18" charset="0"/>
                <a:ea typeface="Lato"/>
                <a:cs typeface="Times New Roman" panose="02020603050405020304" pitchFamily="18" charset="0"/>
                <a:sym typeface="Lato"/>
              </a:rPr>
              <a:t>Tính chất môn học:</a:t>
            </a:r>
            <a:r>
              <a:rPr lang="vi-VN" b="1" i="0" u="none" strike="noStrike" cap="none">
                <a:solidFill>
                  <a:srgbClr val="0F172A"/>
                </a:solidFill>
                <a:latin typeface="Times New Roman" panose="02020603050405020304" pitchFamily="18" charset="0"/>
                <a:ea typeface="Lato"/>
                <a:cs typeface="Times New Roman" panose="02020603050405020304" pitchFamily="18" charset="0"/>
                <a:sym typeface="Lato"/>
              </a:rPr>
              <a:t> </a:t>
            </a:r>
            <a:r>
              <a:rPr lang="vi-VN" i="0" u="none" strike="noStrike" cap="none">
                <a:solidFill>
                  <a:srgbClr val="0F172A"/>
                </a:solidFill>
                <a:latin typeface="Times New Roman" panose="02020603050405020304" pitchFamily="18" charset="0"/>
                <a:ea typeface="Lato"/>
                <a:cs typeface="Times New Roman" panose="02020603050405020304" pitchFamily="18" charset="0"/>
                <a:sym typeface="Lato"/>
              </a:rPr>
              <a:t>D</a:t>
            </a:r>
            <a:r>
              <a:rPr lang="vi-VN">
                <a:solidFill>
                  <a:srgbClr val="0F172A"/>
                </a:solidFill>
                <a:latin typeface="Times New Roman" panose="02020603050405020304" pitchFamily="18" charset="0"/>
                <a:ea typeface="Lato"/>
                <a:cs typeface="Times New Roman" panose="02020603050405020304" pitchFamily="18" charset="0"/>
                <a:sym typeface="Lato"/>
              </a:rPr>
              <a:t>ễ đạt mức điểm cơ bản thông qua học thuộc </a:t>
            </a:r>
            <a:r>
              <a:rPr lang="en-US" b="0" i="0" u="none" strike="noStrike" cap="none">
                <a:solidFill>
                  <a:srgbClr val="334155"/>
                </a:solidFill>
                <a:latin typeface="Times New Roman" panose="02020603050405020304" pitchFamily="18" charset="0"/>
                <a:ea typeface="Lato"/>
                <a:cs typeface="Times New Roman" panose="02020603050405020304" pitchFamily="18" charset="0"/>
                <a:sym typeface="Lato"/>
              </a:rPr>
              <a:t>.</a:t>
            </a:r>
            <a:endParaRPr>
              <a:latin typeface="Times New Roman" panose="02020603050405020304" pitchFamily="18" charset="0"/>
              <a:cs typeface="Times New Roman" panose="02020603050405020304" pitchFamily="18" charset="0"/>
            </a:endParaRPr>
          </a:p>
        </p:txBody>
      </p:sp>
      <p:sp>
        <p:nvSpPr>
          <p:cNvPr id="32" name="Google Shape;114;p13">
            <a:extLst>
              <a:ext uri="{FF2B5EF4-FFF2-40B4-BE49-F238E27FC236}">
                <a16:creationId xmlns:a16="http://schemas.microsoft.com/office/drawing/2014/main" id="{9F6076F0-6B4E-5401-9B95-520991442196}"/>
              </a:ext>
            </a:extLst>
          </p:cNvPr>
          <p:cNvSpPr txBox="1"/>
          <p:nvPr/>
        </p:nvSpPr>
        <p:spPr>
          <a:xfrm>
            <a:off x="5422767" y="4568823"/>
            <a:ext cx="2805750" cy="646331"/>
          </a:xfrm>
          <a:prstGeom prst="rect">
            <a:avLst/>
          </a:prstGeom>
          <a:noFill/>
          <a:ln>
            <a:noFill/>
          </a:ln>
        </p:spPr>
        <p:txBody>
          <a:bodyPr spcFirstLastPara="1" wrap="square" lIns="0" tIns="0" rIns="0" bIns="0" anchor="t" anchorCtr="0">
            <a:spAutoFit/>
          </a:bodyPr>
          <a:lstStyle/>
          <a:p>
            <a:pPr lvl="0" algn="just">
              <a:lnSpc>
                <a:spcPct val="150000"/>
              </a:lnSpc>
            </a:pPr>
            <a:r>
              <a:rPr lang="en-US" b="1" i="0" u="none" strike="noStrike" cap="none">
                <a:solidFill>
                  <a:srgbClr val="0F172A"/>
                </a:solidFill>
                <a:latin typeface="Times New Roman" panose="02020603050405020304" pitchFamily="18" charset="0"/>
                <a:ea typeface="Lato"/>
                <a:cs typeface="Times New Roman" panose="02020603050405020304" pitchFamily="18" charset="0"/>
                <a:sym typeface="Lato"/>
              </a:rPr>
              <a:t>Phương pháp đánh giá:</a:t>
            </a:r>
            <a:r>
              <a:rPr lang="en-US">
                <a:solidFill>
                  <a:srgbClr val="334155"/>
                </a:solidFill>
                <a:latin typeface="Times New Roman" panose="02020603050405020304" pitchFamily="18" charset="0"/>
                <a:ea typeface="Lato"/>
                <a:cs typeface="Times New Roman" panose="02020603050405020304" pitchFamily="18" charset="0"/>
                <a:sym typeface="Lato"/>
              </a:rPr>
              <a:t> Điểm quá trình dễ đạt</a:t>
            </a:r>
            <a:r>
              <a:rPr lang="vi-VN">
                <a:solidFill>
                  <a:srgbClr val="334155"/>
                </a:solidFill>
                <a:latin typeface="Times New Roman" panose="02020603050405020304" pitchFamily="18" charset="0"/>
                <a:ea typeface="Lato"/>
                <a:cs typeface="Times New Roman" panose="02020603050405020304" pitchFamily="18" charset="0"/>
                <a:sym typeface="Lato"/>
              </a:rPr>
              <a:t> mức khá, khó đạt mức giỏi</a:t>
            </a:r>
            <a:endParaRPr>
              <a:latin typeface="Times New Roman" panose="02020603050405020304" pitchFamily="18" charset="0"/>
              <a:cs typeface="Times New Roman" panose="02020603050405020304" pitchFamily="18" charset="0"/>
            </a:endParaRPr>
          </a:p>
        </p:txBody>
      </p:sp>
      <p:sp>
        <p:nvSpPr>
          <p:cNvPr id="33" name="Google Shape;115;p13">
            <a:extLst>
              <a:ext uri="{FF2B5EF4-FFF2-40B4-BE49-F238E27FC236}">
                <a16:creationId xmlns:a16="http://schemas.microsoft.com/office/drawing/2014/main" id="{BEE0F595-173E-819C-DDD0-C349F26A39CD}"/>
              </a:ext>
            </a:extLst>
          </p:cNvPr>
          <p:cNvSpPr txBox="1"/>
          <p:nvPr/>
        </p:nvSpPr>
        <p:spPr>
          <a:xfrm>
            <a:off x="8634492" y="5207000"/>
            <a:ext cx="2805750" cy="646331"/>
          </a:xfrm>
          <a:prstGeom prst="rect">
            <a:avLst/>
          </a:prstGeom>
          <a:noFill/>
          <a:ln>
            <a:noFill/>
          </a:ln>
        </p:spPr>
        <p:txBody>
          <a:bodyPr spcFirstLastPara="1" wrap="square" lIns="0" tIns="0" rIns="0" bIns="0" anchor="t" anchorCtr="0">
            <a:spAutoFit/>
          </a:bodyPr>
          <a:lstStyle/>
          <a:p>
            <a:pPr lvl="0" algn="just">
              <a:lnSpc>
                <a:spcPct val="150000"/>
              </a:lnSpc>
            </a:pPr>
            <a:r>
              <a:rPr lang="vi-VN" b="1">
                <a:latin typeface="Times New Roman" panose="02020603050405020304" pitchFamily="18" charset="0"/>
                <a:cs typeface="Times New Roman" panose="02020603050405020304" pitchFamily="18" charset="0"/>
              </a:rPr>
              <a:t>Các môn học năm 1</a:t>
            </a:r>
            <a:r>
              <a:rPr lang="vi-VN">
                <a:latin typeface="Times New Roman" panose="02020603050405020304" pitchFamily="18" charset="0"/>
                <a:cs typeface="Times New Roman" panose="02020603050405020304" pitchFamily="18" charset="0"/>
              </a:rPr>
              <a:t>: Sinh viên mặt bằng chung như nhau.</a:t>
            </a:r>
            <a:endParaRPr>
              <a:latin typeface="Times New Roman" panose="02020603050405020304" pitchFamily="18" charset="0"/>
              <a:cs typeface="Times New Roman" panose="02020603050405020304" pitchFamily="18" charset="0"/>
            </a:endParaRPr>
          </a:p>
        </p:txBody>
      </p:sp>
      <p:sp>
        <p:nvSpPr>
          <p:cNvPr id="34" name="Google Shape;117;p13">
            <a:extLst>
              <a:ext uri="{FF2B5EF4-FFF2-40B4-BE49-F238E27FC236}">
                <a16:creationId xmlns:a16="http://schemas.microsoft.com/office/drawing/2014/main" id="{13C62A75-3932-79F0-8E8A-1064736B59D1}"/>
              </a:ext>
            </a:extLst>
          </p:cNvPr>
          <p:cNvSpPr txBox="1"/>
          <p:nvPr/>
        </p:nvSpPr>
        <p:spPr>
          <a:xfrm>
            <a:off x="8634492" y="4514930"/>
            <a:ext cx="2673399" cy="646331"/>
          </a:xfrm>
          <a:prstGeom prst="rect">
            <a:avLst/>
          </a:prstGeom>
          <a:noFill/>
          <a:ln>
            <a:noFill/>
          </a:ln>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spcFirstLastPara="1" wrap="square" lIns="0" tIns="0" rIns="0" bIns="0" anchor="t" anchorCtr="0">
            <a:spAutoFit/>
          </a:bodyPr>
          <a:lstStyle/>
          <a:p>
            <a:pPr lvl="0" algn="just">
              <a:lnSpc>
                <a:spcPct val="150000"/>
              </a:lnSpc>
            </a:pPr>
            <a:r>
              <a:rPr lang="vi-VN" b="1">
                <a:solidFill>
                  <a:schemeClr val="tx1"/>
                </a:solidFill>
                <a:latin typeface="Times New Roman" panose="02020603050405020304" pitchFamily="18" charset="0"/>
                <a:ea typeface="Lato"/>
                <a:cs typeface="Times New Roman" panose="02020603050405020304" pitchFamily="18" charset="0"/>
                <a:sym typeface="Lato"/>
              </a:rPr>
              <a:t>Yếu tố giảng viên: </a:t>
            </a:r>
            <a:r>
              <a:rPr lang="vi-VN">
                <a:solidFill>
                  <a:schemeClr val="tx1"/>
                </a:solidFill>
                <a:latin typeface="Times New Roman" panose="02020603050405020304" pitchFamily="18" charset="0"/>
                <a:ea typeface="Lato"/>
                <a:cs typeface="Times New Roman" panose="02020603050405020304" pitchFamily="18" charset="0"/>
                <a:sym typeface="Lato"/>
              </a:rPr>
              <a:t>Giảng viên quá dễ trong quá trình đánh giá.</a:t>
            </a:r>
          </a:p>
        </p:txBody>
      </p:sp>
      <p:sp>
        <p:nvSpPr>
          <p:cNvPr id="36" name="Google Shape;90;p13">
            <a:extLst>
              <a:ext uri="{FF2B5EF4-FFF2-40B4-BE49-F238E27FC236}">
                <a16:creationId xmlns:a16="http://schemas.microsoft.com/office/drawing/2014/main" id="{8EE38110-3EF7-15A2-DA0E-5F754E2DEFD0}"/>
              </a:ext>
            </a:extLst>
          </p:cNvPr>
          <p:cNvSpPr txBox="1"/>
          <p:nvPr/>
        </p:nvSpPr>
        <p:spPr>
          <a:xfrm>
            <a:off x="449216" y="223723"/>
            <a:ext cx="11601450" cy="553998"/>
          </a:xfrm>
          <a:prstGeom prst="rect">
            <a:avLst/>
          </a:prstGeom>
          <a:noFill/>
        </p:spPr>
        <p:txBody>
          <a:bodyPr vert="horz" rtlCol="0">
            <a:spAutoFit/>
          </a:bodyPr>
          <a:lstStyle>
            <a:defPPr marR="0" lvl="0" algn="l" rtl="0">
              <a:lnSpc>
                <a:spcPct val="100000"/>
              </a:lnSpc>
              <a:spcBef>
                <a:spcPts val="0"/>
              </a:spcBef>
              <a:spcAft>
                <a:spcPts val="0"/>
              </a:spcAft>
            </a:defPPr>
            <a:lvl1pPr algn="just">
              <a:defRPr b="1">
                <a:solidFill>
                  <a:srgbClr val="003366"/>
                </a:solidFill>
              </a:defRPr>
            </a:lvl1pPr>
          </a:lstStyle>
          <a:p>
            <a:r>
              <a:rPr lang="en-US" sz="3000">
                <a:solidFill>
                  <a:srgbClr val="1E3A8A"/>
                </a:solidFill>
                <a:latin typeface="Times New Roman" panose="02020603050405020304" pitchFamily="18" charset="0"/>
                <a:cs typeface="Times New Roman" panose="02020603050405020304" pitchFamily="18" charset="0"/>
                <a:sym typeface="Poppins"/>
              </a:rPr>
              <a:t>Phân tích nguyên nhân: Các điểm nghẽn phân hóa</a:t>
            </a:r>
            <a:endParaRPr sz="3000">
              <a:solidFill>
                <a:srgbClr val="1E3A8A"/>
              </a:solidFill>
              <a:latin typeface="Times New Roman" panose="02020603050405020304" pitchFamily="18" charset="0"/>
              <a:cs typeface="Times New Roman" panose="02020603050405020304" pitchFamily="18" charset="0"/>
            </a:endParaRPr>
          </a:p>
        </p:txBody>
      </p:sp>
      <p:sp>
        <p:nvSpPr>
          <p:cNvPr id="37" name="Google Shape;91;p13">
            <a:extLst>
              <a:ext uri="{FF2B5EF4-FFF2-40B4-BE49-F238E27FC236}">
                <a16:creationId xmlns:a16="http://schemas.microsoft.com/office/drawing/2014/main" id="{D649AFE2-C061-240C-3DB2-6EDD5482435D}"/>
              </a:ext>
            </a:extLst>
          </p:cNvPr>
          <p:cNvSpPr txBox="1"/>
          <p:nvPr/>
        </p:nvSpPr>
        <p:spPr>
          <a:xfrm>
            <a:off x="562873" y="777364"/>
            <a:ext cx="11049000"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1" u="none" strike="noStrike" cap="none">
                <a:solidFill>
                  <a:srgbClr val="475569"/>
                </a:solidFill>
                <a:latin typeface="Times New Roman" panose="02020603050405020304" pitchFamily="18" charset="0"/>
                <a:ea typeface="Lato"/>
                <a:cs typeface="Times New Roman" panose="02020603050405020304" pitchFamily="18" charset="0"/>
                <a:sym typeface="Lato"/>
              </a:rPr>
              <a:t>Nhận diện cốt lõi vấn đề để đưa ra phương án cải thiện cấu trúc bài thi và chương trình học.</a:t>
            </a:r>
            <a:endParaRPr i="1">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E260703D-5E29-5F55-0F13-51BE68481C57}"/>
              </a:ext>
            </a:extLst>
          </p:cNvPr>
          <p:cNvSpPr/>
          <p:nvPr/>
        </p:nvSpPr>
        <p:spPr>
          <a:xfrm>
            <a:off x="5295593" y="1140240"/>
            <a:ext cx="2921000" cy="10569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34294BDD-886A-80B9-C557-A75D19E59681}"/>
              </a:ext>
            </a:extLst>
          </p:cNvPr>
          <p:cNvSpPr txBox="1"/>
          <p:nvPr/>
        </p:nvSpPr>
        <p:spPr>
          <a:xfrm>
            <a:off x="5306142" y="1143000"/>
            <a:ext cx="2262849" cy="276999"/>
          </a:xfrm>
          <a:prstGeom prst="rect">
            <a:avLst/>
          </a:prstGeom>
          <a:noFill/>
        </p:spPr>
        <p:txBody>
          <a:bodyPr wrap="square" rtlCol="0">
            <a:spAutoFit/>
          </a:bodyPr>
          <a:lstStyle/>
          <a:p>
            <a:r>
              <a:rPr lang="vi-VN" sz="1200" b="1" i="1">
                <a:solidFill>
                  <a:schemeClr val="tx1">
                    <a:lumMod val="65000"/>
                    <a:lumOff val="35000"/>
                  </a:schemeClr>
                </a:solidFill>
              </a:rPr>
              <a:t>Nguyên nhân chính</a:t>
            </a:r>
            <a:endParaRPr lang="en-US" sz="1200" b="1" i="1">
              <a:solidFill>
                <a:schemeClr val="tx1">
                  <a:lumMod val="65000"/>
                  <a:lumOff val="35000"/>
                </a:schemeClr>
              </a:solidFill>
            </a:endParaRPr>
          </a:p>
        </p:txBody>
      </p:sp>
      <p:sp>
        <p:nvSpPr>
          <p:cNvPr id="2" name="Google Shape;114;p13">
            <a:extLst>
              <a:ext uri="{FF2B5EF4-FFF2-40B4-BE49-F238E27FC236}">
                <a16:creationId xmlns:a16="http://schemas.microsoft.com/office/drawing/2014/main" id="{B98E56FA-34A2-1385-09AC-931D964D1814}"/>
              </a:ext>
            </a:extLst>
          </p:cNvPr>
          <p:cNvSpPr txBox="1"/>
          <p:nvPr/>
        </p:nvSpPr>
        <p:spPr>
          <a:xfrm>
            <a:off x="5450942" y="5350692"/>
            <a:ext cx="2805750" cy="969496"/>
          </a:xfrm>
          <a:prstGeom prst="rect">
            <a:avLst/>
          </a:prstGeom>
          <a:noFill/>
          <a:ln>
            <a:noFill/>
          </a:ln>
        </p:spPr>
        <p:txBody>
          <a:bodyPr spcFirstLastPara="1" wrap="square" lIns="0" tIns="0" rIns="0" bIns="0" anchor="t" anchorCtr="0">
            <a:spAutoFit/>
          </a:bodyPr>
          <a:lstStyle/>
          <a:p>
            <a:pPr lvl="0" algn="just">
              <a:lnSpc>
                <a:spcPct val="150000"/>
              </a:lnSpc>
            </a:pPr>
            <a:r>
              <a:rPr lang="vi-VN" b="1" i="0" u="none" strike="noStrike" cap="none">
                <a:solidFill>
                  <a:srgbClr val="0F172A"/>
                </a:solidFill>
                <a:latin typeface="Times New Roman" panose="02020603050405020304" pitchFamily="18" charset="0"/>
                <a:ea typeface="Lato"/>
                <a:cs typeface="Times New Roman" panose="02020603050405020304" pitchFamily="18" charset="0"/>
                <a:sym typeface="Lato"/>
              </a:rPr>
              <a:t>Bản chất ngành KHDLTKD</a:t>
            </a:r>
            <a:r>
              <a:rPr lang="en-US" b="1" i="0" u="none" strike="noStrike" cap="none">
                <a:solidFill>
                  <a:srgbClr val="0F172A"/>
                </a:solidFill>
                <a:latin typeface="Times New Roman" panose="02020603050405020304" pitchFamily="18" charset="0"/>
                <a:ea typeface="Lato"/>
                <a:cs typeface="Times New Roman" panose="02020603050405020304" pitchFamily="18" charset="0"/>
                <a:sym typeface="Lato"/>
              </a:rPr>
              <a:t>:</a:t>
            </a:r>
            <a:r>
              <a:rPr lang="en-US">
                <a:solidFill>
                  <a:srgbClr val="334155"/>
                </a:solidFill>
                <a:latin typeface="Times New Roman" panose="02020603050405020304" pitchFamily="18" charset="0"/>
                <a:ea typeface="Lato"/>
                <a:cs typeface="Times New Roman" panose="02020603050405020304" pitchFamily="18" charset="0"/>
                <a:sym typeface="Lato"/>
              </a:rPr>
              <a:t> </a:t>
            </a:r>
            <a:r>
              <a:rPr lang="vi-VN">
                <a:solidFill>
                  <a:srgbClr val="334155"/>
                </a:solidFill>
                <a:latin typeface="Times New Roman" panose="02020603050405020304" pitchFamily="18" charset="0"/>
                <a:ea typeface="Lato"/>
                <a:cs typeface="Times New Roman" panose="02020603050405020304" pitchFamily="18" charset="0"/>
                <a:sym typeface="Lato"/>
              </a:rPr>
              <a:t>Sinh viên có mức học tương đương khi học các môn không phải chuyên ngành</a:t>
            </a:r>
            <a:endParaRPr>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525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14" name="Google Shape;114;p15"/>
          <p:cNvSpPr txBox="1"/>
          <p:nvPr/>
        </p:nvSpPr>
        <p:spPr>
          <a:xfrm>
            <a:off x="952500" y="3187154"/>
            <a:ext cx="9001125" cy="118854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1" i="0" u="none" strike="noStrike" cap="none">
                <a:solidFill>
                  <a:srgbClr val="1E3A8A"/>
                </a:solidFill>
                <a:latin typeface="Montserrat"/>
                <a:ea typeface="Montserrat"/>
                <a:cs typeface="Montserrat"/>
                <a:sym typeface="Montserrat"/>
              </a:rPr>
              <a:t>Môn tự chọn nào sinh viên thực sự muốn học?</a:t>
            </a:r>
            <a:endParaRPr/>
          </a:p>
        </p:txBody>
      </p:sp>
      <p:sp>
        <p:nvSpPr>
          <p:cNvPr id="115" name="Google Shape;115;p15"/>
          <p:cNvSpPr txBox="1"/>
          <p:nvPr/>
        </p:nvSpPr>
        <p:spPr>
          <a:xfrm>
            <a:off x="952500" y="4661445"/>
            <a:ext cx="7620000"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64748B"/>
                </a:solidFill>
                <a:latin typeface="Roboto Light"/>
                <a:ea typeface="Roboto Light"/>
                <a:cs typeface="Roboto Light"/>
                <a:sym typeface="Roboto Light"/>
              </a:rPr>
              <a:t>Vạch trần các "nút thắt" trong đăng ký học phần để tối ưu hóa lộ trình cá nhân hóa năng lực.</a:t>
            </a:r>
            <a:endParaRPr/>
          </a:p>
        </p:txBody>
      </p:sp>
      <p:sp>
        <p:nvSpPr>
          <p:cNvPr id="2" name="Google Shape;88;p13">
            <a:extLst>
              <a:ext uri="{FF2B5EF4-FFF2-40B4-BE49-F238E27FC236}">
                <a16:creationId xmlns:a16="http://schemas.microsoft.com/office/drawing/2014/main" id="{74D63F68-9A12-B0ED-463D-FAE232AB9753}"/>
              </a:ext>
            </a:extLst>
          </p:cNvPr>
          <p:cNvSpPr txBox="1"/>
          <p:nvPr/>
        </p:nvSpPr>
        <p:spPr>
          <a:xfrm>
            <a:off x="952500" y="1510754"/>
            <a:ext cx="10287000" cy="138499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vi-VN" sz="9000" b="0" i="0" u="none" strike="noStrike" cap="none">
                <a:solidFill>
                  <a:srgbClr val="3B82F6"/>
                </a:solidFill>
                <a:latin typeface="Montserrat Light"/>
                <a:ea typeface="Montserrat Light"/>
                <a:cs typeface="Montserrat Light"/>
                <a:sym typeface="Montserrat Light"/>
              </a:rPr>
              <a:t>03</a:t>
            </a:r>
            <a:endParaRPr/>
          </a:p>
        </p:txBody>
      </p:sp>
      <p:sp>
        <p:nvSpPr>
          <p:cNvPr id="3" name="Google Shape;89;p13">
            <a:extLst>
              <a:ext uri="{FF2B5EF4-FFF2-40B4-BE49-F238E27FC236}">
                <a16:creationId xmlns:a16="http://schemas.microsoft.com/office/drawing/2014/main" id="{90B1A57D-DA30-095F-4FAD-855406EB20FA}"/>
              </a:ext>
            </a:extLst>
          </p:cNvPr>
          <p:cNvSpPr/>
          <p:nvPr/>
        </p:nvSpPr>
        <p:spPr>
          <a:xfrm>
            <a:off x="1047749" y="2739479"/>
            <a:ext cx="1076325" cy="57150"/>
          </a:xfrm>
          <a:prstGeom prst="roundRect">
            <a:avLst>
              <a:gd name="adj" fmla="val 50000"/>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87045CBA-0FC2-5DE3-B02C-821D77EAD655}"/>
              </a:ext>
            </a:extLst>
          </p:cNvPr>
          <p:cNvSpPr/>
          <p:nvPr/>
        </p:nvSpPr>
        <p:spPr>
          <a:xfrm>
            <a:off x="3846140" y="4762024"/>
            <a:ext cx="2519363" cy="1383520"/>
          </a:xfrm>
          <a:prstGeom prst="roundRect">
            <a:avLst>
              <a:gd name="adj" fmla="val 5881"/>
            </a:avLst>
          </a:prstGeom>
          <a:noFill/>
          <a:ln w="3175">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456116F7-9FD1-CE7B-8760-EFCBCA265E1D}"/>
              </a:ext>
            </a:extLst>
          </p:cNvPr>
          <p:cNvGrpSpPr/>
          <p:nvPr/>
        </p:nvGrpSpPr>
        <p:grpSpPr>
          <a:xfrm>
            <a:off x="476250" y="5210175"/>
            <a:ext cx="2945376" cy="935608"/>
            <a:chOff x="604349" y="3179750"/>
            <a:chExt cx="2535230" cy="935608"/>
          </a:xfrm>
        </p:grpSpPr>
        <p:sp>
          <p:nvSpPr>
            <p:cNvPr id="29" name="Rectangle: Rounded Corners 28">
              <a:extLst>
                <a:ext uri="{FF2B5EF4-FFF2-40B4-BE49-F238E27FC236}">
                  <a16:creationId xmlns:a16="http://schemas.microsoft.com/office/drawing/2014/main" id="{D55450A3-EFA0-60CE-C46D-5F2DDEF645B8}"/>
                </a:ext>
              </a:extLst>
            </p:cNvPr>
            <p:cNvSpPr/>
            <p:nvPr/>
          </p:nvSpPr>
          <p:spPr>
            <a:xfrm>
              <a:off x="604349" y="3180476"/>
              <a:ext cx="2488315" cy="934881"/>
            </a:xfrm>
            <a:prstGeom prst="roundRect">
              <a:avLst>
                <a:gd name="adj" fmla="val 6262"/>
              </a:avLst>
            </a:prstGeom>
            <a:solidFill>
              <a:schemeClr val="bg1">
                <a:lumMod val="65000"/>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B82F6"/>
                </a:solidFill>
              </a:endParaRPr>
            </a:p>
          </p:txBody>
        </p:sp>
        <p:sp>
          <p:nvSpPr>
            <p:cNvPr id="30" name="Rectangle: Rounded Corners 29">
              <a:extLst>
                <a:ext uri="{FF2B5EF4-FFF2-40B4-BE49-F238E27FC236}">
                  <a16:creationId xmlns:a16="http://schemas.microsoft.com/office/drawing/2014/main" id="{5AB98056-0717-C919-F99C-EC96C8B9C55F}"/>
                </a:ext>
              </a:extLst>
            </p:cNvPr>
            <p:cNvSpPr/>
            <p:nvPr/>
          </p:nvSpPr>
          <p:spPr>
            <a:xfrm>
              <a:off x="651264" y="3179750"/>
              <a:ext cx="2488315" cy="935608"/>
            </a:xfrm>
            <a:prstGeom prst="roundRect">
              <a:avLst>
                <a:gd name="adj" fmla="val 6262"/>
              </a:avLst>
            </a:prstGeom>
            <a:solidFill>
              <a:schemeClr val="bg1"/>
            </a:solidFill>
            <a:ln w="3175">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65D3B86C-069B-E6ED-2433-63AB95D22D50}"/>
              </a:ext>
            </a:extLst>
          </p:cNvPr>
          <p:cNvGrpSpPr/>
          <p:nvPr/>
        </p:nvGrpSpPr>
        <p:grpSpPr>
          <a:xfrm>
            <a:off x="465563" y="4046470"/>
            <a:ext cx="2945376" cy="935608"/>
            <a:chOff x="604349" y="3179750"/>
            <a:chExt cx="2535230" cy="935608"/>
          </a:xfrm>
        </p:grpSpPr>
        <p:sp>
          <p:nvSpPr>
            <p:cNvPr id="26" name="Rectangle: Rounded Corners 25">
              <a:extLst>
                <a:ext uri="{FF2B5EF4-FFF2-40B4-BE49-F238E27FC236}">
                  <a16:creationId xmlns:a16="http://schemas.microsoft.com/office/drawing/2014/main" id="{CEF9A856-F504-9392-D32B-43A7FA747A64}"/>
                </a:ext>
              </a:extLst>
            </p:cNvPr>
            <p:cNvSpPr/>
            <p:nvPr/>
          </p:nvSpPr>
          <p:spPr>
            <a:xfrm>
              <a:off x="604349" y="3180476"/>
              <a:ext cx="2488315" cy="934881"/>
            </a:xfrm>
            <a:prstGeom prst="roundRect">
              <a:avLst>
                <a:gd name="adj" fmla="val 6262"/>
              </a:avLst>
            </a:prstGeom>
            <a:solidFill>
              <a:srgbClr val="3B82F6"/>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B82F6"/>
                </a:solidFill>
              </a:endParaRPr>
            </a:p>
          </p:txBody>
        </p:sp>
        <p:sp>
          <p:nvSpPr>
            <p:cNvPr id="27" name="Rectangle: Rounded Corners 26">
              <a:extLst>
                <a:ext uri="{FF2B5EF4-FFF2-40B4-BE49-F238E27FC236}">
                  <a16:creationId xmlns:a16="http://schemas.microsoft.com/office/drawing/2014/main" id="{39672335-8E5C-3B89-9996-E85769662AB2}"/>
                </a:ext>
              </a:extLst>
            </p:cNvPr>
            <p:cNvSpPr/>
            <p:nvPr/>
          </p:nvSpPr>
          <p:spPr>
            <a:xfrm>
              <a:off x="651264" y="3179750"/>
              <a:ext cx="2488315" cy="935608"/>
            </a:xfrm>
            <a:prstGeom prst="roundRect">
              <a:avLst>
                <a:gd name="adj" fmla="val 6262"/>
              </a:avLst>
            </a:prstGeom>
            <a:solidFill>
              <a:schemeClr val="bg1"/>
            </a:solidFill>
            <a:ln w="3175">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Rounded Corners 15">
            <a:extLst>
              <a:ext uri="{FF2B5EF4-FFF2-40B4-BE49-F238E27FC236}">
                <a16:creationId xmlns:a16="http://schemas.microsoft.com/office/drawing/2014/main" id="{C510EC72-CD96-832B-49E1-8696C6841873}"/>
              </a:ext>
            </a:extLst>
          </p:cNvPr>
          <p:cNvSpPr/>
          <p:nvPr/>
        </p:nvSpPr>
        <p:spPr>
          <a:xfrm>
            <a:off x="3860932" y="255879"/>
            <a:ext cx="3808396" cy="1095038"/>
          </a:xfrm>
          <a:prstGeom prst="roundRect">
            <a:avLst>
              <a:gd name="adj" fmla="val 5359"/>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DD215CCB-1E66-C139-515A-829D05C357D6}"/>
              </a:ext>
            </a:extLst>
          </p:cNvPr>
          <p:cNvGrpSpPr/>
          <p:nvPr/>
        </p:nvGrpSpPr>
        <p:grpSpPr>
          <a:xfrm>
            <a:off x="476250" y="2882281"/>
            <a:ext cx="2945376" cy="935608"/>
            <a:chOff x="604349" y="3179750"/>
            <a:chExt cx="2535230" cy="935608"/>
          </a:xfrm>
        </p:grpSpPr>
        <p:sp>
          <p:nvSpPr>
            <p:cNvPr id="3" name="Rectangle: Rounded Corners 2">
              <a:extLst>
                <a:ext uri="{FF2B5EF4-FFF2-40B4-BE49-F238E27FC236}">
                  <a16:creationId xmlns:a16="http://schemas.microsoft.com/office/drawing/2014/main" id="{EDAEC3ED-8D14-794B-1042-CC34C803AD7D}"/>
                </a:ext>
              </a:extLst>
            </p:cNvPr>
            <p:cNvSpPr/>
            <p:nvPr/>
          </p:nvSpPr>
          <p:spPr>
            <a:xfrm>
              <a:off x="604349" y="3180476"/>
              <a:ext cx="2488315" cy="934881"/>
            </a:xfrm>
            <a:prstGeom prst="roundRect">
              <a:avLst>
                <a:gd name="adj" fmla="val 6262"/>
              </a:avLst>
            </a:prstGeom>
            <a:solidFill>
              <a:srgbClr val="3B82F6"/>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B82F6"/>
                </a:solidFill>
              </a:endParaRPr>
            </a:p>
          </p:txBody>
        </p:sp>
        <p:sp>
          <p:nvSpPr>
            <p:cNvPr id="4" name="Rectangle: Rounded Corners 3">
              <a:extLst>
                <a:ext uri="{FF2B5EF4-FFF2-40B4-BE49-F238E27FC236}">
                  <a16:creationId xmlns:a16="http://schemas.microsoft.com/office/drawing/2014/main" id="{AB19AEB3-5DD3-82DF-B146-47CCD0A27F4C}"/>
                </a:ext>
              </a:extLst>
            </p:cNvPr>
            <p:cNvSpPr/>
            <p:nvPr/>
          </p:nvSpPr>
          <p:spPr>
            <a:xfrm>
              <a:off x="651264" y="3179750"/>
              <a:ext cx="2488315" cy="935608"/>
            </a:xfrm>
            <a:prstGeom prst="roundRect">
              <a:avLst>
                <a:gd name="adj" fmla="val 6262"/>
              </a:avLst>
            </a:prstGeom>
            <a:solidFill>
              <a:schemeClr val="bg1"/>
            </a:solidFill>
            <a:ln w="3175">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5" name="Google Shape;95;p13"/>
          <p:cNvSpPr txBox="1"/>
          <p:nvPr/>
        </p:nvSpPr>
        <p:spPr>
          <a:xfrm>
            <a:off x="476250" y="256096"/>
            <a:ext cx="30289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A73E8"/>
                </a:solidFill>
                <a:latin typeface="Times New Roman"/>
                <a:ea typeface="Times New Roman"/>
                <a:cs typeface="Times New Roman"/>
                <a:sym typeface="Times New Roman"/>
              </a:rPr>
              <a:t>PHÂN TÍCH HỌC PHẦN</a:t>
            </a:r>
            <a:r>
              <a:rPr lang="vi-VN" sz="1200" b="1" i="0" u="none" strike="noStrike" cap="none">
                <a:solidFill>
                  <a:srgbClr val="1A73E8"/>
                </a:solidFill>
                <a:latin typeface="Times New Roman"/>
                <a:ea typeface="Times New Roman"/>
                <a:cs typeface="Times New Roman"/>
                <a:sym typeface="Times New Roman"/>
              </a:rPr>
              <a:t> TỰ CHỌN</a:t>
            </a:r>
            <a:endParaRPr/>
          </a:p>
        </p:txBody>
      </p:sp>
      <p:sp>
        <p:nvSpPr>
          <p:cNvPr id="96" name="Google Shape;96;p13"/>
          <p:cNvSpPr txBox="1"/>
          <p:nvPr/>
        </p:nvSpPr>
        <p:spPr>
          <a:xfrm>
            <a:off x="465563" y="484869"/>
            <a:ext cx="3180397" cy="1551194"/>
          </a:xfrm>
          <a:prstGeom prst="rect">
            <a:avLst/>
          </a:prstGeom>
          <a:noFill/>
          <a:ln>
            <a:noFill/>
          </a:ln>
        </p:spPr>
        <p:txBody>
          <a:bodyPr spcFirstLastPara="1" wrap="square" lIns="0" tIns="0" rIns="0" bIns="0" anchor="t" anchorCtr="0">
            <a:spAutoFit/>
          </a:bodyPr>
          <a:lstStyle/>
          <a:p>
            <a:pPr marL="0" marR="0" lvl="0" indent="0" algn="l" rtl="0">
              <a:lnSpc>
                <a:spcPct val="119968"/>
              </a:lnSpc>
              <a:spcBef>
                <a:spcPts val="0"/>
              </a:spcBef>
              <a:spcAft>
                <a:spcPts val="0"/>
              </a:spcAft>
              <a:buNone/>
            </a:pPr>
            <a:r>
              <a:rPr lang="en-US" sz="2800" b="1" i="0" u="none" strike="noStrike" cap="none">
                <a:solidFill>
                  <a:srgbClr val="003366"/>
                </a:solidFill>
                <a:latin typeface="Times New Roman"/>
                <a:ea typeface="Times New Roman"/>
                <a:cs typeface="Times New Roman"/>
                <a:sym typeface="Times New Roman"/>
              </a:rPr>
              <a:t>Môn tự chọn nào sinh viên thực sự muốn học?</a:t>
            </a:r>
            <a:endParaRPr sz="1200"/>
          </a:p>
        </p:txBody>
      </p:sp>
      <p:sp>
        <p:nvSpPr>
          <p:cNvPr id="97" name="Google Shape;97;p13"/>
          <p:cNvSpPr txBox="1"/>
          <p:nvPr/>
        </p:nvSpPr>
        <p:spPr>
          <a:xfrm>
            <a:off x="476250" y="2144484"/>
            <a:ext cx="302895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Times New Roman"/>
                <a:ea typeface="Times New Roman"/>
                <a:cs typeface="Times New Roman"/>
                <a:sym typeface="Times New Roman"/>
              </a:rPr>
              <a:t>Dựa trên dữ liệu đăng ký — 8 môn tự chọn</a:t>
            </a:r>
            <a:endParaRPr/>
          </a:p>
        </p:txBody>
      </p:sp>
      <p:sp>
        <p:nvSpPr>
          <p:cNvPr id="98" name="Google Shape;98;p13"/>
          <p:cNvSpPr/>
          <p:nvPr/>
        </p:nvSpPr>
        <p:spPr>
          <a:xfrm>
            <a:off x="476250" y="2535009"/>
            <a:ext cx="3028950" cy="19050"/>
          </a:xfrm>
          <a:prstGeom prst="rect">
            <a:avLst/>
          </a:prstGeom>
          <a:solidFill>
            <a:srgbClr val="1A73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3"/>
          <p:cNvSpPr txBox="1"/>
          <p:nvPr/>
        </p:nvSpPr>
        <p:spPr>
          <a:xfrm>
            <a:off x="746023" y="2963674"/>
            <a:ext cx="249555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1" i="0" u="none" strike="noStrike" cap="none">
                <a:solidFill>
                  <a:srgbClr val="4A5568"/>
                </a:solidFill>
                <a:latin typeface="Times New Roman"/>
                <a:ea typeface="Times New Roman"/>
                <a:cs typeface="Times New Roman"/>
                <a:sym typeface="Times New Roman"/>
              </a:rPr>
              <a:t>TỔNG MÔN TỰ CHỌN</a:t>
            </a:r>
            <a:endParaRPr sz="1600"/>
          </a:p>
        </p:txBody>
      </p:sp>
      <p:sp>
        <p:nvSpPr>
          <p:cNvPr id="100" name="Google Shape;100;p13"/>
          <p:cNvSpPr txBox="1"/>
          <p:nvPr/>
        </p:nvSpPr>
        <p:spPr>
          <a:xfrm>
            <a:off x="746023" y="3111722"/>
            <a:ext cx="2495550"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b="1">
                <a:solidFill>
                  <a:schemeClr val="bg2">
                    <a:lumMod val="60000"/>
                    <a:lumOff val="40000"/>
                  </a:schemeClr>
                </a:solidFill>
                <a:latin typeface="Times New Roman"/>
                <a:cs typeface="Times New Roman"/>
                <a:sym typeface="Times New Roman"/>
              </a:rPr>
              <a:t>8</a:t>
            </a:r>
            <a:endParaRPr sz="3600" b="1">
              <a:solidFill>
                <a:schemeClr val="bg2">
                  <a:lumMod val="60000"/>
                  <a:lumOff val="40000"/>
                </a:schemeClr>
              </a:solidFill>
              <a:latin typeface="Times New Roman"/>
              <a:cs typeface="Times New Roman"/>
            </a:endParaRPr>
          </a:p>
        </p:txBody>
      </p:sp>
      <p:sp>
        <p:nvSpPr>
          <p:cNvPr id="101" name="Google Shape;101;p13"/>
          <p:cNvSpPr txBox="1"/>
          <p:nvPr/>
        </p:nvSpPr>
        <p:spPr>
          <a:xfrm>
            <a:off x="746023" y="3605848"/>
            <a:ext cx="24955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4A5568"/>
                </a:solidFill>
                <a:latin typeface="Times New Roman"/>
                <a:ea typeface="Times New Roman"/>
                <a:cs typeface="Times New Roman"/>
                <a:sym typeface="Times New Roman"/>
              </a:rPr>
              <a:t>môn học</a:t>
            </a:r>
            <a:endParaRPr i="1"/>
          </a:p>
        </p:txBody>
      </p:sp>
      <p:sp>
        <p:nvSpPr>
          <p:cNvPr id="102" name="Google Shape;102;p13"/>
          <p:cNvSpPr txBox="1"/>
          <p:nvPr/>
        </p:nvSpPr>
        <p:spPr>
          <a:xfrm>
            <a:off x="746023" y="4176622"/>
            <a:ext cx="249555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1" i="0" u="none" strike="noStrike" cap="none">
                <a:solidFill>
                  <a:srgbClr val="4A5568"/>
                </a:solidFill>
                <a:latin typeface="Times New Roman"/>
                <a:ea typeface="Times New Roman"/>
                <a:cs typeface="Times New Roman"/>
                <a:sym typeface="Times New Roman"/>
              </a:rPr>
              <a:t>MÔN ĐỦ YÊU CẦU</a:t>
            </a:r>
            <a:endParaRPr sz="1600"/>
          </a:p>
        </p:txBody>
      </p:sp>
      <p:sp>
        <p:nvSpPr>
          <p:cNvPr id="103" name="Google Shape;103;p13"/>
          <p:cNvSpPr txBox="1"/>
          <p:nvPr/>
        </p:nvSpPr>
        <p:spPr>
          <a:xfrm>
            <a:off x="746023" y="4263584"/>
            <a:ext cx="2495550" cy="553998"/>
          </a:xfrm>
          <a:prstGeom prst="rect">
            <a:avLst/>
          </a:prstGeom>
          <a:noFill/>
          <a:ln>
            <a:noFill/>
          </a:ln>
        </p:spPr>
        <p:txBody>
          <a:bodyPr spcFirstLastPara="1" wrap="square" lIns="0" tIns="0" rIns="0" bIns="0" anchor="t" anchorCtr="0">
            <a:spAutoFit/>
          </a:bodyPr>
          <a:lstStyle/>
          <a:p>
            <a:r>
              <a:rPr lang="en-US" sz="3600" b="1">
                <a:solidFill>
                  <a:schemeClr val="bg2">
                    <a:lumMod val="60000"/>
                    <a:lumOff val="40000"/>
                  </a:schemeClr>
                </a:solidFill>
                <a:latin typeface="Times New Roman"/>
                <a:cs typeface="Times New Roman"/>
                <a:sym typeface="Times New Roman"/>
              </a:rPr>
              <a:t>3</a:t>
            </a:r>
            <a:endParaRPr sz="3600" b="1">
              <a:solidFill>
                <a:schemeClr val="bg2">
                  <a:lumMod val="60000"/>
                  <a:lumOff val="40000"/>
                </a:schemeClr>
              </a:solidFill>
              <a:latin typeface="Times New Roman"/>
              <a:cs typeface="Times New Roman"/>
            </a:endParaRPr>
          </a:p>
        </p:txBody>
      </p:sp>
      <p:sp>
        <p:nvSpPr>
          <p:cNvPr id="104" name="Google Shape;104;p13"/>
          <p:cNvSpPr txBox="1"/>
          <p:nvPr/>
        </p:nvSpPr>
        <p:spPr>
          <a:xfrm>
            <a:off x="746023" y="4762262"/>
            <a:ext cx="24955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4A5568"/>
                </a:solidFill>
                <a:latin typeface="Times New Roman"/>
                <a:ea typeface="Times New Roman"/>
                <a:cs typeface="Times New Roman"/>
                <a:sym typeface="Times New Roman"/>
              </a:rPr>
              <a:t>/ 8 môn</a:t>
            </a:r>
            <a:endParaRPr i="1"/>
          </a:p>
        </p:txBody>
      </p:sp>
      <p:sp>
        <p:nvSpPr>
          <p:cNvPr id="105" name="Google Shape;105;p13"/>
          <p:cNvSpPr txBox="1"/>
          <p:nvPr/>
        </p:nvSpPr>
        <p:spPr>
          <a:xfrm>
            <a:off x="746023" y="5248037"/>
            <a:ext cx="249555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1" i="0" u="none" strike="noStrike" cap="none">
                <a:solidFill>
                  <a:schemeClr val="tx1">
                    <a:lumMod val="65000"/>
                    <a:lumOff val="35000"/>
                  </a:schemeClr>
                </a:solidFill>
                <a:latin typeface="Times New Roman"/>
                <a:ea typeface="Times New Roman"/>
                <a:cs typeface="Times New Roman"/>
                <a:sym typeface="Times New Roman"/>
              </a:rPr>
              <a:t>KHÔNG ĐỦ SL YÊU CẦU</a:t>
            </a:r>
            <a:endParaRPr sz="1600">
              <a:solidFill>
                <a:schemeClr val="tx1">
                  <a:lumMod val="65000"/>
                  <a:lumOff val="35000"/>
                </a:schemeClr>
              </a:solidFill>
            </a:endParaRPr>
          </a:p>
        </p:txBody>
      </p:sp>
      <p:sp>
        <p:nvSpPr>
          <p:cNvPr id="106" name="Google Shape;106;p13"/>
          <p:cNvSpPr txBox="1"/>
          <p:nvPr/>
        </p:nvSpPr>
        <p:spPr>
          <a:xfrm>
            <a:off x="746023" y="5415450"/>
            <a:ext cx="2495550"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b="1" i="0" u="none" strike="noStrike" cap="none">
                <a:solidFill>
                  <a:schemeClr val="tx1">
                    <a:lumMod val="50000"/>
                    <a:lumOff val="50000"/>
                  </a:schemeClr>
                </a:solidFill>
                <a:latin typeface="Times New Roman"/>
                <a:ea typeface="Times New Roman"/>
                <a:cs typeface="Times New Roman"/>
                <a:sym typeface="Times New Roman"/>
              </a:rPr>
              <a:t>5</a:t>
            </a:r>
            <a:endParaRPr b="1">
              <a:solidFill>
                <a:schemeClr val="tx1">
                  <a:lumMod val="50000"/>
                  <a:lumOff val="50000"/>
                </a:schemeClr>
              </a:solidFill>
            </a:endParaRPr>
          </a:p>
        </p:txBody>
      </p:sp>
      <p:sp>
        <p:nvSpPr>
          <p:cNvPr id="107" name="Google Shape;107;p13"/>
          <p:cNvSpPr txBox="1"/>
          <p:nvPr/>
        </p:nvSpPr>
        <p:spPr>
          <a:xfrm>
            <a:off x="746023" y="5858670"/>
            <a:ext cx="24955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4A5568"/>
                </a:solidFill>
                <a:latin typeface="Times New Roman"/>
                <a:ea typeface="Times New Roman"/>
                <a:cs typeface="Times New Roman"/>
                <a:sym typeface="Times New Roman"/>
              </a:rPr>
              <a:t>môn cần xem xét</a:t>
            </a:r>
            <a:endParaRPr i="1"/>
          </a:p>
        </p:txBody>
      </p:sp>
      <p:sp>
        <p:nvSpPr>
          <p:cNvPr id="108" name="Google Shape;108;p13"/>
          <p:cNvSpPr txBox="1"/>
          <p:nvPr/>
        </p:nvSpPr>
        <p:spPr>
          <a:xfrm>
            <a:off x="4163736" y="446565"/>
            <a:ext cx="1979408"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a:solidFill>
                  <a:schemeClr val="tx1"/>
                </a:solidFill>
                <a:latin typeface="Times New Roman"/>
                <a:cs typeface="Times New Roman"/>
                <a:sym typeface="Times New Roman"/>
              </a:rPr>
              <a:t>MÔN DẪN ĐẦU</a:t>
            </a:r>
            <a:endParaRPr sz="1200" b="1">
              <a:solidFill>
                <a:schemeClr val="tx1"/>
              </a:solidFill>
              <a:latin typeface="Times New Roman"/>
              <a:cs typeface="Times New Roman"/>
            </a:endParaRPr>
          </a:p>
        </p:txBody>
      </p:sp>
      <p:sp>
        <p:nvSpPr>
          <p:cNvPr id="109" name="Google Shape;109;p13"/>
          <p:cNvSpPr txBox="1"/>
          <p:nvPr/>
        </p:nvSpPr>
        <p:spPr>
          <a:xfrm>
            <a:off x="4165585" y="733741"/>
            <a:ext cx="3199089" cy="20313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vi-VN" sz="1200" b="1">
                <a:solidFill>
                  <a:schemeClr val="bg2">
                    <a:lumMod val="60000"/>
                    <a:lumOff val="40000"/>
                  </a:schemeClr>
                </a:solidFill>
                <a:latin typeface="+mj-lt"/>
              </a:rPr>
              <a:t>PHÂN TÍCH DỮ LIỆU MẠNG XÃ HỘI</a:t>
            </a:r>
            <a:endParaRPr sz="1200" b="1">
              <a:solidFill>
                <a:schemeClr val="bg2">
                  <a:lumMod val="60000"/>
                  <a:lumOff val="40000"/>
                </a:schemeClr>
              </a:solidFill>
              <a:latin typeface="+mj-lt"/>
            </a:endParaRPr>
          </a:p>
        </p:txBody>
      </p:sp>
      <p:sp>
        <p:nvSpPr>
          <p:cNvPr id="110" name="Google Shape;110;p13"/>
          <p:cNvSpPr txBox="1"/>
          <p:nvPr/>
        </p:nvSpPr>
        <p:spPr>
          <a:xfrm>
            <a:off x="4163736" y="1067143"/>
            <a:ext cx="1979408"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4A5568"/>
                </a:solidFill>
                <a:latin typeface="Times New Roman"/>
                <a:ea typeface="Times New Roman"/>
                <a:cs typeface="Times New Roman"/>
                <a:sym typeface="Times New Roman"/>
              </a:rPr>
              <a:t>82 sv — cao nhất</a:t>
            </a:r>
            <a:endParaRPr i="1"/>
          </a:p>
        </p:txBody>
      </p:sp>
      <p:sp>
        <p:nvSpPr>
          <p:cNvPr id="118" name="Google Shape;118;p13"/>
          <p:cNvSpPr txBox="1"/>
          <p:nvPr/>
        </p:nvSpPr>
        <p:spPr>
          <a:xfrm>
            <a:off x="3953236" y="5219926"/>
            <a:ext cx="2338388" cy="82407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75" b="1" i="0" u="none" strike="noStrike" cap="none">
                <a:solidFill>
                  <a:srgbClr val="1A202C"/>
                </a:solidFill>
                <a:latin typeface="Times New Roman"/>
                <a:ea typeface="Times New Roman"/>
                <a:cs typeface="Times New Roman"/>
                <a:sym typeface="Times New Roman"/>
              </a:rPr>
              <a:t>Top 3 môn</a:t>
            </a:r>
            <a:r>
              <a:rPr lang="en-US" sz="1275" b="0" i="0" u="none" strike="noStrike" cap="none">
                <a:solidFill>
                  <a:srgbClr val="1A202C"/>
                </a:solidFill>
                <a:latin typeface="Times New Roman"/>
                <a:ea typeface="Times New Roman"/>
                <a:cs typeface="Times New Roman"/>
                <a:sym typeface="Times New Roman"/>
              </a:rPr>
              <a:t> thu hút 221/243 sv — sinh viên ưu tiên kỹ năng số và thực tiễn.</a:t>
            </a:r>
            <a:endParaRPr/>
          </a:p>
        </p:txBody>
      </p:sp>
      <p:sp>
        <p:nvSpPr>
          <p:cNvPr id="120" name="Google Shape;120;p13"/>
          <p:cNvSpPr txBox="1"/>
          <p:nvPr/>
        </p:nvSpPr>
        <p:spPr>
          <a:xfrm>
            <a:off x="6591445" y="5230530"/>
            <a:ext cx="2229066" cy="824072"/>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1275" b="1" i="0" u="none" strike="noStrike" cap="none">
                <a:solidFill>
                  <a:srgbClr val="1A202C"/>
                </a:solidFill>
                <a:latin typeface="Times New Roman"/>
                <a:ea typeface="Times New Roman"/>
                <a:cs typeface="Times New Roman"/>
                <a:sym typeface="Times New Roman"/>
              </a:rPr>
              <a:t>2 môn có 0 sv:</a:t>
            </a:r>
            <a:r>
              <a:rPr lang="en-US" sz="1275" b="0" i="0" u="none" strike="noStrike" cap="none">
                <a:solidFill>
                  <a:srgbClr val="1A202C"/>
                </a:solidFill>
                <a:latin typeface="Times New Roman"/>
                <a:ea typeface="Times New Roman"/>
                <a:cs typeface="Times New Roman"/>
                <a:sym typeface="Times New Roman"/>
              </a:rPr>
              <a:t> Thuế &amp; Thanh toán điện </a:t>
            </a:r>
            <a:r>
              <a:rPr lang="vi-VN" sz="1275" b="0" i="0" u="none" strike="noStrike" cap="none">
                <a:solidFill>
                  <a:srgbClr val="1A202C"/>
                </a:solidFill>
                <a:latin typeface="Times New Roman"/>
                <a:ea typeface="Times New Roman"/>
                <a:cs typeface="Times New Roman"/>
                <a:sym typeface="Times New Roman"/>
              </a:rPr>
              <a:t>tử. </a:t>
            </a:r>
            <a:r>
              <a:rPr lang="vi-VN" sz="1275">
                <a:solidFill>
                  <a:srgbClr val="1A202C"/>
                </a:solidFill>
                <a:latin typeface="Times New Roman"/>
                <a:ea typeface="Times New Roman"/>
                <a:cs typeface="Times New Roman"/>
                <a:sym typeface="Times New Roman"/>
              </a:rPr>
              <a:t>C</a:t>
            </a:r>
            <a:r>
              <a:rPr lang="en-US" sz="1275" b="0" i="0" u="none" strike="noStrike" cap="none">
                <a:solidFill>
                  <a:srgbClr val="1A202C"/>
                </a:solidFill>
                <a:latin typeface="Times New Roman"/>
                <a:ea typeface="Times New Roman"/>
                <a:cs typeface="Times New Roman"/>
                <a:sym typeface="Times New Roman"/>
              </a:rPr>
              <a:t>ần xem xét loại khỏi danh </a:t>
            </a:r>
            <a:r>
              <a:rPr lang="vi-VN" sz="1275" b="0" i="0" u="none" strike="noStrike" cap="none">
                <a:solidFill>
                  <a:srgbClr val="1A202C"/>
                </a:solidFill>
                <a:latin typeface="Times New Roman"/>
                <a:ea typeface="Times New Roman"/>
                <a:cs typeface="Times New Roman"/>
                <a:sym typeface="Times New Roman"/>
              </a:rPr>
              <a:t>sách TC</a:t>
            </a:r>
            <a:endParaRPr/>
          </a:p>
        </p:txBody>
      </p:sp>
      <p:sp>
        <p:nvSpPr>
          <p:cNvPr id="122" name="Google Shape;122;p13"/>
          <p:cNvSpPr txBox="1"/>
          <p:nvPr/>
        </p:nvSpPr>
        <p:spPr>
          <a:xfrm>
            <a:off x="9284640" y="5230530"/>
            <a:ext cx="2312314" cy="82407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75" b="1" i="0" u="none" strike="noStrike" cap="none">
                <a:solidFill>
                  <a:srgbClr val="1A202C"/>
                </a:solidFill>
                <a:latin typeface="Times New Roman"/>
                <a:ea typeface="Times New Roman"/>
                <a:cs typeface="Times New Roman"/>
                <a:sym typeface="Times New Roman"/>
              </a:rPr>
              <a:t>Thương mại điện tử</a:t>
            </a:r>
            <a:r>
              <a:rPr lang="en-US" sz="1275" b="0" i="0" u="none" strike="noStrike" cap="none">
                <a:solidFill>
                  <a:srgbClr val="1A202C"/>
                </a:solidFill>
                <a:latin typeface="Times New Roman"/>
                <a:ea typeface="Times New Roman"/>
                <a:cs typeface="Times New Roman"/>
                <a:sym typeface="Times New Roman"/>
              </a:rPr>
              <a:t> </a:t>
            </a:r>
            <a:r>
              <a:rPr lang="vi-VN" sz="1275" b="0" i="0" u="none" strike="noStrike" cap="none">
                <a:solidFill>
                  <a:srgbClr val="1A202C"/>
                </a:solidFill>
                <a:latin typeface="Times New Roman"/>
                <a:ea typeface="Times New Roman"/>
                <a:cs typeface="Times New Roman"/>
                <a:sym typeface="Times New Roman"/>
              </a:rPr>
              <a:t>C</a:t>
            </a:r>
            <a:r>
              <a:rPr lang="en-US" sz="1275" b="0" i="0" u="none" strike="noStrike" cap="none">
                <a:solidFill>
                  <a:srgbClr val="1A202C"/>
                </a:solidFill>
                <a:latin typeface="Times New Roman"/>
                <a:ea typeface="Times New Roman"/>
                <a:cs typeface="Times New Roman"/>
                <a:sym typeface="Times New Roman"/>
              </a:rPr>
              <a:t>hỉ 16 sv — bất thường với môn học thời sự hiện nay.</a:t>
            </a:r>
            <a:endParaRPr/>
          </a:p>
        </p:txBody>
      </p:sp>
      <p:sp>
        <p:nvSpPr>
          <p:cNvPr id="13" name="Google Shape;108;p13">
            <a:extLst>
              <a:ext uri="{FF2B5EF4-FFF2-40B4-BE49-F238E27FC236}">
                <a16:creationId xmlns:a16="http://schemas.microsoft.com/office/drawing/2014/main" id="{7BA19FAF-8A65-219C-5BDB-322A26655DA3}"/>
              </a:ext>
            </a:extLst>
          </p:cNvPr>
          <p:cNvSpPr txBox="1"/>
          <p:nvPr/>
        </p:nvSpPr>
        <p:spPr>
          <a:xfrm>
            <a:off x="8148344" y="446565"/>
            <a:ext cx="29264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a:solidFill>
                  <a:schemeClr val="tx1"/>
                </a:solidFill>
                <a:latin typeface="Times New Roman"/>
                <a:cs typeface="Times New Roman"/>
                <a:sym typeface="Times New Roman"/>
              </a:rPr>
              <a:t>MÔN </a:t>
            </a:r>
            <a:r>
              <a:rPr lang="vi-VN" sz="1200" b="1">
                <a:solidFill>
                  <a:schemeClr val="tx1"/>
                </a:solidFill>
                <a:latin typeface="Times New Roman"/>
                <a:cs typeface="Times New Roman"/>
                <a:sym typeface="Times New Roman"/>
              </a:rPr>
              <a:t>KHÔNG CÓ SINH VIÊN ĐĂNG KỸ</a:t>
            </a:r>
            <a:endParaRPr sz="1200" b="1">
              <a:solidFill>
                <a:schemeClr val="tx1"/>
              </a:solidFill>
              <a:latin typeface="Times New Roman"/>
              <a:cs typeface="Times New Roman"/>
            </a:endParaRPr>
          </a:p>
        </p:txBody>
      </p:sp>
      <p:sp>
        <p:nvSpPr>
          <p:cNvPr id="14" name="Google Shape;109;p13">
            <a:extLst>
              <a:ext uri="{FF2B5EF4-FFF2-40B4-BE49-F238E27FC236}">
                <a16:creationId xmlns:a16="http://schemas.microsoft.com/office/drawing/2014/main" id="{F49FB066-8740-E869-FCE8-F5730397BC91}"/>
              </a:ext>
            </a:extLst>
          </p:cNvPr>
          <p:cNvSpPr txBox="1"/>
          <p:nvPr/>
        </p:nvSpPr>
        <p:spPr>
          <a:xfrm>
            <a:off x="8139433" y="733741"/>
            <a:ext cx="3443286" cy="20313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vi-VN" sz="1200" b="1">
                <a:solidFill>
                  <a:srgbClr val="EF4444"/>
                </a:solidFill>
                <a:latin typeface="Times New Roman"/>
                <a:cs typeface="Times New Roman"/>
              </a:rPr>
              <a:t>THUẾ &amp; THANH TOÁN ĐIỆN TỬ</a:t>
            </a:r>
            <a:endParaRPr sz="1200" b="1">
              <a:solidFill>
                <a:srgbClr val="EF4444"/>
              </a:solidFill>
              <a:latin typeface="Times New Roman"/>
              <a:cs typeface="Times New Roman"/>
            </a:endParaRPr>
          </a:p>
        </p:txBody>
      </p:sp>
      <p:sp>
        <p:nvSpPr>
          <p:cNvPr id="15" name="Google Shape;110;p13">
            <a:extLst>
              <a:ext uri="{FF2B5EF4-FFF2-40B4-BE49-F238E27FC236}">
                <a16:creationId xmlns:a16="http://schemas.microsoft.com/office/drawing/2014/main" id="{D78FE10C-8CB9-AC41-B9C7-01F27D3543ED}"/>
              </a:ext>
            </a:extLst>
          </p:cNvPr>
          <p:cNvSpPr txBox="1"/>
          <p:nvPr/>
        </p:nvSpPr>
        <p:spPr>
          <a:xfrm>
            <a:off x="8148344" y="1067143"/>
            <a:ext cx="194949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200" b="0" i="1" u="none" strike="noStrike" cap="none">
                <a:solidFill>
                  <a:srgbClr val="4A5568"/>
                </a:solidFill>
                <a:latin typeface="Times New Roman"/>
                <a:ea typeface="Times New Roman"/>
                <a:cs typeface="Times New Roman"/>
                <a:sym typeface="Times New Roman"/>
              </a:rPr>
              <a:t>0 sinh viên đăng ký</a:t>
            </a:r>
            <a:endParaRPr i="1"/>
          </a:p>
        </p:txBody>
      </p:sp>
      <p:graphicFrame>
        <p:nvGraphicFramePr>
          <p:cNvPr id="20" name="Chart 19">
            <a:extLst>
              <a:ext uri="{FF2B5EF4-FFF2-40B4-BE49-F238E27FC236}">
                <a16:creationId xmlns:a16="http://schemas.microsoft.com/office/drawing/2014/main" id="{3F3B62ED-E07E-EF9B-5293-12112AE0D4BD}"/>
              </a:ext>
            </a:extLst>
          </p:cNvPr>
          <p:cNvGraphicFramePr>
            <a:graphicFrameLocks/>
          </p:cNvGraphicFramePr>
          <p:nvPr>
            <p:extLst>
              <p:ext uri="{D42A27DB-BD31-4B8C-83A1-F6EECF244321}">
                <p14:modId xmlns:p14="http://schemas.microsoft.com/office/powerpoint/2010/main" val="3737899172"/>
              </p:ext>
            </p:extLst>
          </p:nvPr>
        </p:nvGraphicFramePr>
        <p:xfrm>
          <a:off x="3860932" y="1568472"/>
          <a:ext cx="8229503" cy="2867372"/>
        </p:xfrm>
        <a:graphic>
          <a:graphicData uri="http://schemas.openxmlformats.org/drawingml/2006/chart">
            <c:chart xmlns:c="http://schemas.openxmlformats.org/drawingml/2006/chart" xmlns:r="http://schemas.openxmlformats.org/officeDocument/2006/relationships" r:id="rId3"/>
          </a:graphicData>
        </a:graphic>
      </p:graphicFrame>
      <p:sp>
        <p:nvSpPr>
          <p:cNvPr id="39" name="TextBox 38">
            <a:extLst>
              <a:ext uri="{FF2B5EF4-FFF2-40B4-BE49-F238E27FC236}">
                <a16:creationId xmlns:a16="http://schemas.microsoft.com/office/drawing/2014/main" id="{B9CA7DC0-F4F9-B8CB-7B65-ADB6D163C1E3}"/>
              </a:ext>
            </a:extLst>
          </p:cNvPr>
          <p:cNvSpPr txBox="1"/>
          <p:nvPr/>
        </p:nvSpPr>
        <p:spPr>
          <a:xfrm>
            <a:off x="3900645" y="4837087"/>
            <a:ext cx="1378783" cy="307777"/>
          </a:xfrm>
          <a:prstGeom prst="rect">
            <a:avLst/>
          </a:prstGeom>
          <a:noFill/>
        </p:spPr>
        <p:txBody>
          <a:bodyPr wrap="square" rtlCol="0">
            <a:spAutoFit/>
          </a:bodyPr>
          <a:lstStyle/>
          <a:p>
            <a:r>
              <a:rPr lang="en-US"/>
              <a:t>↗</a:t>
            </a:r>
            <a:r>
              <a:rPr lang="vi-VN"/>
              <a:t> </a:t>
            </a:r>
            <a:r>
              <a:rPr lang="vi-VN" b="1">
                <a:solidFill>
                  <a:srgbClr val="185FA5"/>
                </a:solidFill>
                <a:latin typeface="+mj-lt"/>
              </a:rPr>
              <a:t>Xu hướng </a:t>
            </a:r>
            <a:endParaRPr lang="en-US" b="1">
              <a:solidFill>
                <a:srgbClr val="185FA5"/>
              </a:solidFill>
              <a:latin typeface="+mj-lt"/>
            </a:endParaRPr>
          </a:p>
        </p:txBody>
      </p:sp>
      <p:sp>
        <p:nvSpPr>
          <p:cNvPr id="40" name="TextBox 39">
            <a:extLst>
              <a:ext uri="{FF2B5EF4-FFF2-40B4-BE49-F238E27FC236}">
                <a16:creationId xmlns:a16="http://schemas.microsoft.com/office/drawing/2014/main" id="{EB55987F-72A8-064E-EDAA-FBAC734FADB1}"/>
              </a:ext>
            </a:extLst>
          </p:cNvPr>
          <p:cNvSpPr txBox="1"/>
          <p:nvPr/>
        </p:nvSpPr>
        <p:spPr>
          <a:xfrm>
            <a:off x="6514462" y="4847270"/>
            <a:ext cx="1379129" cy="307777"/>
          </a:xfrm>
          <a:prstGeom prst="rect">
            <a:avLst/>
          </a:prstGeom>
          <a:noFill/>
        </p:spPr>
        <p:txBody>
          <a:bodyPr wrap="square" rtlCol="0">
            <a:spAutoFit/>
          </a:bodyPr>
          <a:lstStyle/>
          <a:p>
            <a:r>
              <a:rPr lang="en-US">
                <a:solidFill>
                  <a:srgbClr val="FF0000"/>
                </a:solidFill>
              </a:rPr>
              <a:t>⊙</a:t>
            </a:r>
            <a:r>
              <a:rPr lang="vi-VN">
                <a:solidFill>
                  <a:srgbClr val="FF0000"/>
                </a:solidFill>
              </a:rPr>
              <a:t> </a:t>
            </a:r>
            <a:r>
              <a:rPr lang="vi-VN" b="1">
                <a:solidFill>
                  <a:srgbClr val="EF4444"/>
                </a:solidFill>
                <a:latin typeface="+mj-lt"/>
              </a:rPr>
              <a:t>Cảnh báo</a:t>
            </a:r>
            <a:endParaRPr lang="en-US" b="1">
              <a:solidFill>
                <a:srgbClr val="EF4444"/>
              </a:solidFill>
              <a:latin typeface="+mj-lt"/>
            </a:endParaRPr>
          </a:p>
        </p:txBody>
      </p:sp>
      <p:sp>
        <p:nvSpPr>
          <p:cNvPr id="41" name="TextBox 40">
            <a:extLst>
              <a:ext uri="{FF2B5EF4-FFF2-40B4-BE49-F238E27FC236}">
                <a16:creationId xmlns:a16="http://schemas.microsoft.com/office/drawing/2014/main" id="{258822C5-B5F0-417C-1D95-75DCE08570A7}"/>
              </a:ext>
            </a:extLst>
          </p:cNvPr>
          <p:cNvSpPr txBox="1"/>
          <p:nvPr/>
        </p:nvSpPr>
        <p:spPr>
          <a:xfrm>
            <a:off x="9166937" y="4864120"/>
            <a:ext cx="1243091" cy="307777"/>
          </a:xfrm>
          <a:prstGeom prst="rect">
            <a:avLst/>
          </a:prstGeom>
          <a:noFill/>
        </p:spPr>
        <p:txBody>
          <a:bodyPr wrap="square" rtlCol="0">
            <a:spAutoFit/>
          </a:bodyPr>
          <a:lstStyle/>
          <a:p>
            <a:r>
              <a:rPr lang="en-US"/>
              <a:t>⚠️</a:t>
            </a:r>
            <a:r>
              <a:rPr lang="vi-VN" b="1">
                <a:solidFill>
                  <a:srgbClr val="F59E0B"/>
                </a:solidFill>
                <a:latin typeface="+mj-lt"/>
              </a:rPr>
              <a:t>Cần chú ý</a:t>
            </a:r>
            <a:endParaRPr lang="en-US" b="1">
              <a:solidFill>
                <a:srgbClr val="F59E0B"/>
              </a:solidFill>
              <a:latin typeface="+mj-lt"/>
            </a:endParaRPr>
          </a:p>
        </p:txBody>
      </p:sp>
      <p:sp>
        <p:nvSpPr>
          <p:cNvPr id="42" name="Rectangle: Rounded Corners 41">
            <a:extLst>
              <a:ext uri="{FF2B5EF4-FFF2-40B4-BE49-F238E27FC236}">
                <a16:creationId xmlns:a16="http://schemas.microsoft.com/office/drawing/2014/main" id="{D34B8052-2C79-7B80-BC43-B3A70FF2C454}"/>
              </a:ext>
            </a:extLst>
          </p:cNvPr>
          <p:cNvSpPr/>
          <p:nvPr/>
        </p:nvSpPr>
        <p:spPr>
          <a:xfrm>
            <a:off x="6511882" y="4771787"/>
            <a:ext cx="2519363" cy="1383520"/>
          </a:xfrm>
          <a:prstGeom prst="roundRect">
            <a:avLst>
              <a:gd name="adj" fmla="val 5881"/>
            </a:avLst>
          </a:prstGeom>
          <a:noFill/>
          <a:ln w="3175">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9E0BA00B-C125-2001-F4F6-B78BAE97167A}"/>
              </a:ext>
            </a:extLst>
          </p:cNvPr>
          <p:cNvSpPr/>
          <p:nvPr/>
        </p:nvSpPr>
        <p:spPr>
          <a:xfrm>
            <a:off x="9177624" y="4781352"/>
            <a:ext cx="2519363" cy="1383520"/>
          </a:xfrm>
          <a:prstGeom prst="roundRect">
            <a:avLst>
              <a:gd name="adj" fmla="val 5881"/>
            </a:avLst>
          </a:prstGeom>
          <a:noFill/>
          <a:ln w="3175">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D9FFA41A-8188-8839-DD82-664BC08DAA4E}"/>
              </a:ext>
            </a:extLst>
          </p:cNvPr>
          <p:cNvSpPr/>
          <p:nvPr/>
        </p:nvSpPr>
        <p:spPr>
          <a:xfrm>
            <a:off x="7884300" y="267379"/>
            <a:ext cx="3812687" cy="1095038"/>
          </a:xfrm>
          <a:prstGeom prst="roundRect">
            <a:avLst>
              <a:gd name="adj" fmla="val 5359"/>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6768C772-5E9F-8211-8A51-6904F7CE13D5}"/>
              </a:ext>
            </a:extLst>
          </p:cNvPr>
          <p:cNvSpPr txBox="1"/>
          <p:nvPr/>
        </p:nvSpPr>
        <p:spPr>
          <a:xfrm>
            <a:off x="6380674" y="1775845"/>
            <a:ext cx="4840864" cy="338554"/>
          </a:xfrm>
          <a:prstGeom prst="rect">
            <a:avLst/>
          </a:prstGeom>
          <a:noFill/>
        </p:spPr>
        <p:txBody>
          <a:bodyPr wrap="square" rtlCol="0">
            <a:spAutoFit/>
          </a:bodyPr>
          <a:lstStyle/>
          <a:p>
            <a:r>
              <a:rPr lang="vi-VN" sz="1600">
                <a:latin typeface="+mj-lt"/>
              </a:rPr>
              <a:t>Số lượng sinh viên đăng kí mỗi lớp học</a:t>
            </a:r>
            <a:endParaRPr lang="en-US" sz="1600">
              <a:latin typeface="+mj-lt"/>
            </a:endParaRPr>
          </a:p>
        </p:txBody>
      </p:sp>
      <p:sp>
        <p:nvSpPr>
          <p:cNvPr id="57" name="Rectangle: Rounded Corners 56">
            <a:extLst>
              <a:ext uri="{FF2B5EF4-FFF2-40B4-BE49-F238E27FC236}">
                <a16:creationId xmlns:a16="http://schemas.microsoft.com/office/drawing/2014/main" id="{25AB007B-FB72-4DA8-7D8C-B1DD0DA393FA}"/>
              </a:ext>
            </a:extLst>
          </p:cNvPr>
          <p:cNvSpPr/>
          <p:nvPr/>
        </p:nvSpPr>
        <p:spPr>
          <a:xfrm>
            <a:off x="3850245" y="1640324"/>
            <a:ext cx="7846742" cy="2893576"/>
          </a:xfrm>
          <a:prstGeom prst="roundRect">
            <a:avLst>
              <a:gd name="adj" fmla="val 1310"/>
            </a:avLst>
          </a:prstGeom>
          <a:noFill/>
          <a:ln w="3175">
            <a:solidFill>
              <a:schemeClr val="bg2">
                <a:lumMod val="60000"/>
                <a:lumOff val="40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a:latin typeface="Times New Roman" panose="02020603050405020304" pitchFamily="18" charset="0"/>
                <a:cs typeface="Times New Roman" panose="02020603050405020304" pitchFamily="18" charset="0"/>
              </a:rPr>
              <a:t>f</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11" name="Picture 10">
            <a:extLst>
              <a:ext uri="{FF2B5EF4-FFF2-40B4-BE49-F238E27FC236}">
                <a16:creationId xmlns:a16="http://schemas.microsoft.com/office/drawing/2014/main" id="{3B84DF28-8251-1AE6-19BE-15F0C13DFBF4}"/>
              </a:ext>
            </a:extLst>
          </p:cNvPr>
          <p:cNvPicPr>
            <a:picLocks noChangeAspect="1"/>
          </p:cNvPicPr>
          <p:nvPr/>
        </p:nvPicPr>
        <p:blipFill>
          <a:blip r:embed="rId3"/>
          <a:stretch>
            <a:fillRect/>
          </a:stretch>
        </p:blipFill>
        <p:spPr>
          <a:xfrm>
            <a:off x="4374456" y="1785459"/>
            <a:ext cx="7586462" cy="4517208"/>
          </a:xfrm>
          <a:prstGeom prst="rect">
            <a:avLst/>
          </a:prstGeom>
        </p:spPr>
      </p:pic>
      <p:sp>
        <p:nvSpPr>
          <p:cNvPr id="94" name="Google Shape;94;p13"/>
          <p:cNvSpPr txBox="1"/>
          <p:nvPr/>
        </p:nvSpPr>
        <p:spPr>
          <a:xfrm>
            <a:off x="476250" y="542031"/>
            <a:ext cx="3430428" cy="130284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003366"/>
                </a:solidFill>
                <a:latin typeface="Times New Roman"/>
                <a:ea typeface="Times New Roman"/>
                <a:cs typeface="Times New Roman"/>
                <a:sym typeface="Times New Roman"/>
              </a:rPr>
              <a:t>Điểm học tập &amp; mức độ đăng ký có liên quan?</a:t>
            </a:r>
            <a:endParaRPr/>
          </a:p>
        </p:txBody>
      </p:sp>
      <p:sp>
        <p:nvSpPr>
          <p:cNvPr id="95" name="Google Shape;95;p13"/>
          <p:cNvSpPr txBox="1"/>
          <p:nvPr/>
        </p:nvSpPr>
        <p:spPr>
          <a:xfrm>
            <a:off x="476250" y="2207716"/>
            <a:ext cx="3267075"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Times New Roman"/>
                <a:ea typeface="Times New Roman"/>
                <a:cs typeface="Times New Roman"/>
                <a:sym typeface="Times New Roman"/>
              </a:rPr>
              <a:t>Bubble chart — 5 môn có dữ liệu điểm</a:t>
            </a:r>
            <a:endParaRPr/>
          </a:p>
        </p:txBody>
      </p:sp>
      <p:sp>
        <p:nvSpPr>
          <p:cNvPr id="96" name="Google Shape;96;p13"/>
          <p:cNvSpPr/>
          <p:nvPr/>
        </p:nvSpPr>
        <p:spPr>
          <a:xfrm>
            <a:off x="476250" y="2598241"/>
            <a:ext cx="3267075" cy="19050"/>
          </a:xfrm>
          <a:prstGeom prst="rect">
            <a:avLst/>
          </a:prstGeom>
          <a:solidFill>
            <a:srgbClr val="1A73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3"/>
          <p:cNvSpPr txBox="1"/>
          <p:nvPr/>
        </p:nvSpPr>
        <p:spPr>
          <a:xfrm>
            <a:off x="4486279" y="451686"/>
            <a:ext cx="1397793"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718096"/>
                </a:solidFill>
                <a:latin typeface="Times New Roman"/>
                <a:ea typeface="Times New Roman"/>
                <a:cs typeface="Times New Roman"/>
                <a:sym typeface="Times New Roman"/>
              </a:rPr>
              <a:t>ĐIỂM TB CAO NHẤT</a:t>
            </a:r>
            <a:endParaRPr/>
          </a:p>
        </p:txBody>
      </p:sp>
      <p:sp>
        <p:nvSpPr>
          <p:cNvPr id="107" name="Google Shape;107;p13"/>
          <p:cNvSpPr txBox="1"/>
          <p:nvPr/>
        </p:nvSpPr>
        <p:spPr>
          <a:xfrm>
            <a:off x="4486279" y="670761"/>
            <a:ext cx="1397793" cy="355482"/>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vi-VN" sz="2100" b="1" i="0" u="none" strike="noStrike" cap="none">
                <a:solidFill>
                  <a:srgbClr val="1A73E8"/>
                </a:solidFill>
                <a:latin typeface="Times New Roman"/>
                <a:ea typeface="Times New Roman"/>
                <a:cs typeface="Times New Roman"/>
                <a:sym typeface="Times New Roman"/>
              </a:rPr>
              <a:t>8.2</a:t>
            </a:r>
            <a:endParaRPr/>
          </a:p>
        </p:txBody>
      </p:sp>
      <p:sp>
        <p:nvSpPr>
          <p:cNvPr id="108" name="Google Shape;108;p13"/>
          <p:cNvSpPr txBox="1"/>
          <p:nvPr/>
        </p:nvSpPr>
        <p:spPr>
          <a:xfrm>
            <a:off x="4486279" y="1011726"/>
            <a:ext cx="1397793" cy="346471"/>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4A5568"/>
                </a:solidFill>
                <a:latin typeface="Times New Roman"/>
                <a:ea typeface="Times New Roman"/>
                <a:cs typeface="Times New Roman"/>
                <a:sym typeface="Times New Roman"/>
              </a:rPr>
              <a:t>Phân tích DL mạng XH &amp; Lập trình HĐT</a:t>
            </a:r>
            <a:endParaRPr/>
          </a:p>
        </p:txBody>
      </p:sp>
      <p:sp>
        <p:nvSpPr>
          <p:cNvPr id="109" name="Google Shape;109;p13"/>
          <p:cNvSpPr txBox="1"/>
          <p:nvPr/>
        </p:nvSpPr>
        <p:spPr>
          <a:xfrm>
            <a:off x="6466511" y="540895"/>
            <a:ext cx="1397793"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718096"/>
                </a:solidFill>
                <a:latin typeface="Times New Roman"/>
                <a:ea typeface="Times New Roman"/>
                <a:cs typeface="Times New Roman"/>
                <a:sym typeface="Times New Roman"/>
              </a:rPr>
              <a:t>ĐIỂM TB THẤP NHẤT</a:t>
            </a:r>
            <a:endParaRPr/>
          </a:p>
        </p:txBody>
      </p:sp>
      <p:sp>
        <p:nvSpPr>
          <p:cNvPr id="110" name="Google Shape;110;p13"/>
          <p:cNvSpPr txBox="1"/>
          <p:nvPr/>
        </p:nvSpPr>
        <p:spPr>
          <a:xfrm>
            <a:off x="6466511" y="759970"/>
            <a:ext cx="1397793"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E53E3E"/>
                </a:solidFill>
                <a:latin typeface="Times New Roman"/>
                <a:ea typeface="Times New Roman"/>
                <a:cs typeface="Times New Roman"/>
                <a:sym typeface="Times New Roman"/>
              </a:rPr>
              <a:t>5.4</a:t>
            </a:r>
            <a:endParaRPr/>
          </a:p>
        </p:txBody>
      </p:sp>
      <p:sp>
        <p:nvSpPr>
          <p:cNvPr id="111" name="Google Shape;111;p13"/>
          <p:cNvSpPr txBox="1"/>
          <p:nvPr/>
        </p:nvSpPr>
        <p:spPr>
          <a:xfrm>
            <a:off x="6466511" y="1166567"/>
            <a:ext cx="1397793"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4A5568"/>
                </a:solidFill>
                <a:latin typeface="Times New Roman"/>
                <a:ea typeface="Times New Roman"/>
                <a:cs typeface="Times New Roman"/>
                <a:sym typeface="Times New Roman"/>
              </a:rPr>
              <a:t>Phân tích tài chính DN</a:t>
            </a:r>
            <a:endParaRPr/>
          </a:p>
        </p:txBody>
      </p:sp>
      <p:sp>
        <p:nvSpPr>
          <p:cNvPr id="115" name="Google Shape;115;p13"/>
          <p:cNvSpPr txBox="1"/>
          <p:nvPr/>
        </p:nvSpPr>
        <p:spPr>
          <a:xfrm>
            <a:off x="8365229" y="629438"/>
            <a:ext cx="1397793"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2B6CB0"/>
                </a:solidFill>
                <a:latin typeface="Times New Roman"/>
                <a:ea typeface="Times New Roman"/>
                <a:cs typeface="Times New Roman"/>
                <a:sym typeface="Times New Roman"/>
              </a:rPr>
              <a:t>MÔN LÝ TƯỞNG NHẤT</a:t>
            </a:r>
            <a:endParaRPr/>
          </a:p>
        </p:txBody>
      </p:sp>
      <p:sp>
        <p:nvSpPr>
          <p:cNvPr id="116" name="Google Shape;116;p13"/>
          <p:cNvSpPr txBox="1"/>
          <p:nvPr/>
        </p:nvSpPr>
        <p:spPr>
          <a:xfrm>
            <a:off x="8365229" y="848513"/>
            <a:ext cx="1397793" cy="251370"/>
          </a:xfrm>
          <a:prstGeom prst="rect">
            <a:avLst/>
          </a:prstGeom>
          <a:noFill/>
          <a:ln>
            <a:noFill/>
          </a:ln>
        </p:spPr>
        <p:txBody>
          <a:bodyPr spcFirstLastPara="1" wrap="square" lIns="0" tIns="0" rIns="0" bIns="0" anchor="t" anchorCtr="0">
            <a:spAutoFit/>
          </a:bodyPr>
          <a:lstStyle/>
          <a:p>
            <a:pPr marL="0" marR="0" lvl="0" indent="0" algn="l" rtl="0">
              <a:lnSpc>
                <a:spcPct val="109944"/>
              </a:lnSpc>
              <a:spcBef>
                <a:spcPts val="0"/>
              </a:spcBef>
              <a:spcAft>
                <a:spcPts val="0"/>
              </a:spcAft>
              <a:buNone/>
            </a:pPr>
            <a:r>
              <a:rPr lang="en-US" sz="1800" b="1" i="0" u="none" strike="noStrike" cap="none">
                <a:solidFill>
                  <a:srgbClr val="003366"/>
                </a:solidFill>
                <a:latin typeface="Times New Roman"/>
                <a:ea typeface="Times New Roman"/>
                <a:cs typeface="Times New Roman"/>
                <a:sym typeface="Times New Roman"/>
              </a:rPr>
              <a:t>Mạng xã hội</a:t>
            </a:r>
            <a:endParaRPr/>
          </a:p>
        </p:txBody>
      </p:sp>
      <p:sp>
        <p:nvSpPr>
          <p:cNvPr id="117" name="Google Shape;117;p13"/>
          <p:cNvSpPr txBox="1"/>
          <p:nvPr/>
        </p:nvSpPr>
        <p:spPr>
          <a:xfrm>
            <a:off x="8365229" y="1147508"/>
            <a:ext cx="1397793"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4A5568"/>
                </a:solidFill>
                <a:latin typeface="Times New Roman"/>
                <a:ea typeface="Times New Roman"/>
                <a:cs typeface="Times New Roman"/>
                <a:sym typeface="Times New Roman"/>
              </a:rPr>
              <a:t>Điểm cao + đông sv nhất</a:t>
            </a:r>
            <a:endParaRPr/>
          </a:p>
        </p:txBody>
      </p:sp>
      <p:grpSp>
        <p:nvGrpSpPr>
          <p:cNvPr id="5" name="Group 4">
            <a:extLst>
              <a:ext uri="{FF2B5EF4-FFF2-40B4-BE49-F238E27FC236}">
                <a16:creationId xmlns:a16="http://schemas.microsoft.com/office/drawing/2014/main" id="{CFC62F16-223E-3CB8-3E77-98E26636981E}"/>
              </a:ext>
            </a:extLst>
          </p:cNvPr>
          <p:cNvGrpSpPr/>
          <p:nvPr/>
        </p:nvGrpSpPr>
        <p:grpSpPr>
          <a:xfrm>
            <a:off x="775126" y="3123389"/>
            <a:ext cx="342900" cy="342900"/>
            <a:chOff x="805606" y="2941141"/>
            <a:chExt cx="342900" cy="342900"/>
          </a:xfrm>
        </p:grpSpPr>
        <p:pic>
          <p:nvPicPr>
            <p:cNvPr id="98" name="Google Shape;98;p13" descr="image.png"/>
            <p:cNvPicPr preferRelativeResize="0"/>
            <p:nvPr/>
          </p:nvPicPr>
          <p:blipFill rotWithShape="1">
            <a:blip r:embed="rId4">
              <a:alphaModFix/>
            </a:blip>
            <a:srcRect/>
            <a:stretch/>
          </p:blipFill>
          <p:spPr>
            <a:xfrm>
              <a:off x="805606" y="2941141"/>
              <a:ext cx="342900" cy="342900"/>
            </a:xfrm>
            <a:prstGeom prst="rect">
              <a:avLst/>
            </a:prstGeom>
            <a:noFill/>
            <a:ln>
              <a:noFill/>
            </a:ln>
          </p:spPr>
        </p:pic>
        <p:pic>
          <p:nvPicPr>
            <p:cNvPr id="121" name="Google Shape;121;p13" descr="image.png"/>
            <p:cNvPicPr preferRelativeResize="0"/>
            <p:nvPr/>
          </p:nvPicPr>
          <p:blipFill rotWithShape="1">
            <a:blip r:embed="rId5">
              <a:alphaModFix/>
            </a:blip>
            <a:srcRect/>
            <a:stretch/>
          </p:blipFill>
          <p:spPr>
            <a:xfrm>
              <a:off x="925412" y="3034307"/>
              <a:ext cx="133350" cy="152400"/>
            </a:xfrm>
            <a:prstGeom prst="rect">
              <a:avLst/>
            </a:prstGeom>
            <a:noFill/>
            <a:ln>
              <a:noFill/>
            </a:ln>
          </p:spPr>
        </p:pic>
      </p:grpSp>
      <p:sp>
        <p:nvSpPr>
          <p:cNvPr id="122" name="Google Shape;122;p13"/>
          <p:cNvSpPr txBox="1"/>
          <p:nvPr/>
        </p:nvSpPr>
        <p:spPr>
          <a:xfrm>
            <a:off x="1260901" y="3123389"/>
            <a:ext cx="215265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03366"/>
                </a:solidFill>
                <a:latin typeface="Times New Roman"/>
                <a:ea typeface="Times New Roman"/>
                <a:cs typeface="Times New Roman"/>
                <a:sym typeface="Times New Roman"/>
              </a:rPr>
              <a:t>TRỤC X</a:t>
            </a:r>
            <a:endParaRPr/>
          </a:p>
        </p:txBody>
      </p:sp>
      <p:sp>
        <p:nvSpPr>
          <p:cNvPr id="123" name="Google Shape;123;p13"/>
          <p:cNvSpPr txBox="1"/>
          <p:nvPr/>
        </p:nvSpPr>
        <p:spPr>
          <a:xfrm>
            <a:off x="1260901" y="3313889"/>
            <a:ext cx="21526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A5568"/>
                </a:solidFill>
                <a:latin typeface="Times New Roman"/>
                <a:ea typeface="Times New Roman"/>
                <a:cs typeface="Times New Roman"/>
                <a:sym typeface="Times New Roman"/>
              </a:rPr>
              <a:t>Số lượng sinh viên đăng ký (count)</a:t>
            </a:r>
            <a:endParaRPr/>
          </a:p>
        </p:txBody>
      </p:sp>
      <p:grpSp>
        <p:nvGrpSpPr>
          <p:cNvPr id="4" name="Group 3">
            <a:extLst>
              <a:ext uri="{FF2B5EF4-FFF2-40B4-BE49-F238E27FC236}">
                <a16:creationId xmlns:a16="http://schemas.microsoft.com/office/drawing/2014/main" id="{2E6D2BD3-65F5-B9C9-DC71-9075D8ADA52B}"/>
              </a:ext>
            </a:extLst>
          </p:cNvPr>
          <p:cNvGrpSpPr/>
          <p:nvPr/>
        </p:nvGrpSpPr>
        <p:grpSpPr>
          <a:xfrm>
            <a:off x="725538" y="4044063"/>
            <a:ext cx="342900" cy="342900"/>
            <a:chOff x="805606" y="3474541"/>
            <a:chExt cx="342900" cy="342900"/>
          </a:xfrm>
        </p:grpSpPr>
        <p:pic>
          <p:nvPicPr>
            <p:cNvPr id="99" name="Google Shape;99;p13" descr="image.png"/>
            <p:cNvPicPr preferRelativeResize="0"/>
            <p:nvPr/>
          </p:nvPicPr>
          <p:blipFill rotWithShape="1">
            <a:blip r:embed="rId4">
              <a:alphaModFix/>
            </a:blip>
            <a:srcRect/>
            <a:stretch/>
          </p:blipFill>
          <p:spPr>
            <a:xfrm>
              <a:off x="805606" y="3474541"/>
              <a:ext cx="342900" cy="342900"/>
            </a:xfrm>
            <a:prstGeom prst="rect">
              <a:avLst/>
            </a:prstGeom>
            <a:noFill/>
            <a:ln>
              <a:noFill/>
            </a:ln>
          </p:spPr>
        </p:pic>
        <p:pic>
          <p:nvPicPr>
            <p:cNvPr id="124" name="Google Shape;124;p13" descr="image.png"/>
            <p:cNvPicPr preferRelativeResize="0"/>
            <p:nvPr/>
          </p:nvPicPr>
          <p:blipFill rotWithShape="1">
            <a:blip r:embed="rId6">
              <a:alphaModFix/>
            </a:blip>
            <a:srcRect/>
            <a:stretch/>
          </p:blipFill>
          <p:spPr>
            <a:xfrm>
              <a:off x="919906" y="3586757"/>
              <a:ext cx="114300" cy="152400"/>
            </a:xfrm>
            <a:prstGeom prst="rect">
              <a:avLst/>
            </a:prstGeom>
            <a:noFill/>
            <a:ln>
              <a:noFill/>
            </a:ln>
          </p:spPr>
        </p:pic>
      </p:grpSp>
      <p:sp>
        <p:nvSpPr>
          <p:cNvPr id="125" name="Google Shape;125;p13"/>
          <p:cNvSpPr txBox="1"/>
          <p:nvPr/>
        </p:nvSpPr>
        <p:spPr>
          <a:xfrm>
            <a:off x="1211313" y="4044063"/>
            <a:ext cx="229388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03366"/>
                </a:solidFill>
                <a:latin typeface="Times New Roman"/>
                <a:ea typeface="Times New Roman"/>
                <a:cs typeface="Times New Roman"/>
                <a:sym typeface="Times New Roman"/>
              </a:rPr>
              <a:t>TRỤC Y</a:t>
            </a:r>
            <a:endParaRPr/>
          </a:p>
        </p:txBody>
      </p:sp>
      <p:sp>
        <p:nvSpPr>
          <p:cNvPr id="126" name="Google Shape;126;p13"/>
          <p:cNvSpPr txBox="1"/>
          <p:nvPr/>
        </p:nvSpPr>
        <p:spPr>
          <a:xfrm>
            <a:off x="1211313" y="4234563"/>
            <a:ext cx="2293887"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A5568"/>
                </a:solidFill>
                <a:latin typeface="Times New Roman"/>
                <a:ea typeface="Times New Roman"/>
                <a:cs typeface="Times New Roman"/>
                <a:sym typeface="Times New Roman"/>
              </a:rPr>
              <a:t>Điểm trung bình (mean) của môn học</a:t>
            </a:r>
            <a:endParaRPr/>
          </a:p>
        </p:txBody>
      </p:sp>
      <p:grpSp>
        <p:nvGrpSpPr>
          <p:cNvPr id="6" name="Group 5">
            <a:extLst>
              <a:ext uri="{FF2B5EF4-FFF2-40B4-BE49-F238E27FC236}">
                <a16:creationId xmlns:a16="http://schemas.microsoft.com/office/drawing/2014/main" id="{E1B52803-076C-B08A-F5BA-9A7BFE9D6915}"/>
              </a:ext>
            </a:extLst>
          </p:cNvPr>
          <p:cNvGrpSpPr/>
          <p:nvPr/>
        </p:nvGrpSpPr>
        <p:grpSpPr>
          <a:xfrm>
            <a:off x="775126" y="4945687"/>
            <a:ext cx="342900" cy="342900"/>
            <a:chOff x="805606" y="4007941"/>
            <a:chExt cx="342900" cy="342900"/>
          </a:xfrm>
        </p:grpSpPr>
        <p:pic>
          <p:nvPicPr>
            <p:cNvPr id="92" name="Google Shape;92;p13" descr="image.png"/>
            <p:cNvPicPr preferRelativeResize="0"/>
            <p:nvPr/>
          </p:nvPicPr>
          <p:blipFill rotWithShape="1">
            <a:blip r:embed="rId7">
              <a:alphaModFix/>
            </a:blip>
            <a:srcRect/>
            <a:stretch/>
          </p:blipFill>
          <p:spPr>
            <a:xfrm>
              <a:off x="805606" y="4007941"/>
              <a:ext cx="342900" cy="342900"/>
            </a:xfrm>
            <a:prstGeom prst="rect">
              <a:avLst/>
            </a:prstGeom>
            <a:noFill/>
            <a:ln>
              <a:noFill/>
            </a:ln>
          </p:spPr>
        </p:pic>
        <p:pic>
          <p:nvPicPr>
            <p:cNvPr id="127" name="Google Shape;127;p13" descr="image.png"/>
            <p:cNvPicPr preferRelativeResize="0"/>
            <p:nvPr/>
          </p:nvPicPr>
          <p:blipFill rotWithShape="1">
            <a:blip r:embed="rId8">
              <a:alphaModFix/>
            </a:blip>
            <a:srcRect/>
            <a:stretch/>
          </p:blipFill>
          <p:spPr>
            <a:xfrm>
              <a:off x="881806" y="4098428"/>
              <a:ext cx="152400" cy="152400"/>
            </a:xfrm>
            <a:prstGeom prst="rect">
              <a:avLst/>
            </a:prstGeom>
            <a:noFill/>
            <a:ln>
              <a:noFill/>
            </a:ln>
          </p:spPr>
        </p:pic>
      </p:grpSp>
      <p:sp>
        <p:nvSpPr>
          <p:cNvPr id="128" name="Google Shape;128;p13"/>
          <p:cNvSpPr txBox="1"/>
          <p:nvPr/>
        </p:nvSpPr>
        <p:spPr>
          <a:xfrm>
            <a:off x="1260901" y="4945687"/>
            <a:ext cx="2083891"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03366"/>
                </a:solidFill>
                <a:latin typeface="Times New Roman"/>
                <a:ea typeface="Times New Roman"/>
                <a:cs typeface="Times New Roman"/>
                <a:sym typeface="Times New Roman"/>
              </a:rPr>
              <a:t>KÍCH THƯỚC BUBBLE</a:t>
            </a:r>
            <a:endParaRPr/>
          </a:p>
        </p:txBody>
      </p:sp>
      <p:sp>
        <p:nvSpPr>
          <p:cNvPr id="129" name="Google Shape;129;p13"/>
          <p:cNvSpPr txBox="1"/>
          <p:nvPr/>
        </p:nvSpPr>
        <p:spPr>
          <a:xfrm>
            <a:off x="1260901" y="5136187"/>
            <a:ext cx="2083891"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A5568"/>
                </a:solidFill>
                <a:latin typeface="Times New Roman"/>
                <a:ea typeface="Times New Roman"/>
                <a:cs typeface="Times New Roman"/>
                <a:sym typeface="Times New Roman"/>
              </a:rPr>
              <a:t>Càng lớn = càng nhiều sv đăng ký</a:t>
            </a:r>
            <a:endParaRPr/>
          </a:p>
        </p:txBody>
      </p:sp>
      <p:sp>
        <p:nvSpPr>
          <p:cNvPr id="2" name="Google Shape;95;p13">
            <a:extLst>
              <a:ext uri="{FF2B5EF4-FFF2-40B4-BE49-F238E27FC236}">
                <a16:creationId xmlns:a16="http://schemas.microsoft.com/office/drawing/2014/main" id="{E3E65E4F-B5DF-2FAE-FB3D-B234D72F364A}"/>
              </a:ext>
            </a:extLst>
          </p:cNvPr>
          <p:cNvSpPr txBox="1"/>
          <p:nvPr/>
        </p:nvSpPr>
        <p:spPr>
          <a:xfrm>
            <a:off x="476250" y="256096"/>
            <a:ext cx="30289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A73E8"/>
                </a:solidFill>
                <a:latin typeface="Times New Roman"/>
                <a:ea typeface="Times New Roman"/>
                <a:cs typeface="Times New Roman"/>
                <a:sym typeface="Times New Roman"/>
              </a:rPr>
              <a:t>PHÂN TÍCH HỌC PHẦN</a:t>
            </a:r>
            <a:r>
              <a:rPr lang="vi-VN" sz="1200" b="1" i="0" u="none" strike="noStrike" cap="none">
                <a:solidFill>
                  <a:srgbClr val="1A73E8"/>
                </a:solidFill>
                <a:latin typeface="Times New Roman"/>
                <a:ea typeface="Times New Roman"/>
                <a:cs typeface="Times New Roman"/>
                <a:sym typeface="Times New Roman"/>
              </a:rPr>
              <a:t> TỰ CHỌN</a:t>
            </a:r>
            <a:endParaRPr/>
          </a:p>
        </p:txBody>
      </p:sp>
      <p:sp>
        <p:nvSpPr>
          <p:cNvPr id="3" name="Rectangle: Rounded Corners 2">
            <a:extLst>
              <a:ext uri="{FF2B5EF4-FFF2-40B4-BE49-F238E27FC236}">
                <a16:creationId xmlns:a16="http://schemas.microsoft.com/office/drawing/2014/main" id="{F1597E64-87FC-8D97-CAE9-62C6D764983D}"/>
              </a:ext>
            </a:extLst>
          </p:cNvPr>
          <p:cNvSpPr/>
          <p:nvPr/>
        </p:nvSpPr>
        <p:spPr>
          <a:xfrm>
            <a:off x="476250" y="2788741"/>
            <a:ext cx="3267075" cy="3059204"/>
          </a:xfrm>
          <a:prstGeom prst="roundRect">
            <a:avLst>
              <a:gd name="adj" fmla="val 5881"/>
            </a:avLst>
          </a:prstGeom>
          <a:noFill/>
          <a:ln w="3175">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5A442EF6-80A3-D91A-6EF4-0027AE03209D}"/>
              </a:ext>
            </a:extLst>
          </p:cNvPr>
          <p:cNvSpPr/>
          <p:nvPr/>
        </p:nvSpPr>
        <p:spPr>
          <a:xfrm>
            <a:off x="4289851" y="1666874"/>
            <a:ext cx="7671067" cy="4596557"/>
          </a:xfrm>
          <a:prstGeom prst="roundRect">
            <a:avLst>
              <a:gd name="adj" fmla="val 1310"/>
            </a:avLst>
          </a:prstGeom>
          <a:noFill/>
          <a:ln w="3175">
            <a:solidFill>
              <a:schemeClr val="bg2">
                <a:lumMod val="60000"/>
                <a:lumOff val="40000"/>
              </a:schemeClr>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a:latin typeface="Times New Roman" panose="02020603050405020304" pitchFamily="18" charset="0"/>
                <a:cs typeface="Times New Roman" panose="02020603050405020304" pitchFamily="18" charset="0"/>
              </a:rPr>
              <a:t>f</a:t>
            </a:r>
            <a:endParaRPr lang="en-US">
              <a:latin typeface="Times New Roman" panose="02020603050405020304" pitchFamily="18" charset="0"/>
              <a:cs typeface="Times New Roman" panose="02020603050405020304" pitchFamily="18" charset="0"/>
            </a:endParaRPr>
          </a:p>
        </p:txBody>
      </p:sp>
      <p:sp>
        <p:nvSpPr>
          <p:cNvPr id="14" name="Google Shape;115;p13">
            <a:extLst>
              <a:ext uri="{FF2B5EF4-FFF2-40B4-BE49-F238E27FC236}">
                <a16:creationId xmlns:a16="http://schemas.microsoft.com/office/drawing/2014/main" id="{14601A9D-1876-EDB4-BE04-3865FDD49DCF}"/>
              </a:ext>
            </a:extLst>
          </p:cNvPr>
          <p:cNvSpPr txBox="1"/>
          <p:nvPr/>
        </p:nvSpPr>
        <p:spPr>
          <a:xfrm>
            <a:off x="10220222" y="635685"/>
            <a:ext cx="1397793"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FF0000"/>
                </a:solidFill>
                <a:latin typeface="Times New Roman"/>
                <a:ea typeface="Times New Roman"/>
                <a:cs typeface="Times New Roman"/>
                <a:sym typeface="Times New Roman"/>
              </a:rPr>
              <a:t>MÔN</a:t>
            </a:r>
            <a:r>
              <a:rPr lang="vi-VN" sz="900" b="1" i="0" u="none" strike="noStrike" cap="none">
                <a:solidFill>
                  <a:srgbClr val="FF0000"/>
                </a:solidFill>
                <a:latin typeface="Times New Roman"/>
                <a:ea typeface="Times New Roman"/>
                <a:cs typeface="Times New Roman"/>
                <a:sym typeface="Times New Roman"/>
              </a:rPr>
              <a:t> TỆ NHẤT</a:t>
            </a:r>
            <a:endParaRPr lang="en-US">
              <a:solidFill>
                <a:srgbClr val="FF0000"/>
              </a:solidFill>
            </a:endParaRPr>
          </a:p>
        </p:txBody>
      </p:sp>
      <p:sp>
        <p:nvSpPr>
          <p:cNvPr id="15" name="Google Shape;116;p13">
            <a:extLst>
              <a:ext uri="{FF2B5EF4-FFF2-40B4-BE49-F238E27FC236}">
                <a16:creationId xmlns:a16="http://schemas.microsoft.com/office/drawing/2014/main" id="{5AEA1314-1893-AD12-C056-0AD74B504E5F}"/>
              </a:ext>
            </a:extLst>
          </p:cNvPr>
          <p:cNvSpPr txBox="1"/>
          <p:nvPr/>
        </p:nvSpPr>
        <p:spPr>
          <a:xfrm>
            <a:off x="10220222" y="854760"/>
            <a:ext cx="1740696" cy="304699"/>
          </a:xfrm>
          <a:prstGeom prst="rect">
            <a:avLst/>
          </a:prstGeom>
          <a:noFill/>
          <a:ln>
            <a:noFill/>
          </a:ln>
        </p:spPr>
        <p:txBody>
          <a:bodyPr spcFirstLastPara="1" wrap="square" lIns="0" tIns="0" rIns="0" bIns="0" anchor="t" anchorCtr="0">
            <a:spAutoFit/>
          </a:bodyPr>
          <a:lstStyle/>
          <a:p>
            <a:pPr marL="0" marR="0" lvl="0" indent="0" algn="l" rtl="0">
              <a:lnSpc>
                <a:spcPct val="109944"/>
              </a:lnSpc>
              <a:spcBef>
                <a:spcPts val="0"/>
              </a:spcBef>
              <a:spcAft>
                <a:spcPts val="0"/>
              </a:spcAft>
              <a:buNone/>
            </a:pPr>
            <a:r>
              <a:rPr lang="vi-VN" sz="1800" b="1" i="0" u="none" strike="noStrike" cap="none">
                <a:solidFill>
                  <a:srgbClr val="FF0000"/>
                </a:solidFill>
                <a:latin typeface="Times New Roman"/>
                <a:ea typeface="Times New Roman"/>
                <a:cs typeface="Times New Roman"/>
                <a:sym typeface="Times New Roman"/>
              </a:rPr>
              <a:t>Phân tích TCDN</a:t>
            </a:r>
            <a:endParaRPr>
              <a:solidFill>
                <a:srgbClr val="FF0000"/>
              </a:solidFill>
            </a:endParaRPr>
          </a:p>
        </p:txBody>
      </p:sp>
      <p:sp>
        <p:nvSpPr>
          <p:cNvPr id="16" name="Google Shape;117;p13">
            <a:extLst>
              <a:ext uri="{FF2B5EF4-FFF2-40B4-BE49-F238E27FC236}">
                <a16:creationId xmlns:a16="http://schemas.microsoft.com/office/drawing/2014/main" id="{490E5879-1E61-6341-1767-CCC4176CEF48}"/>
              </a:ext>
            </a:extLst>
          </p:cNvPr>
          <p:cNvSpPr txBox="1"/>
          <p:nvPr/>
        </p:nvSpPr>
        <p:spPr>
          <a:xfrm>
            <a:off x="10220222" y="1153755"/>
            <a:ext cx="1397793"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4A5568"/>
                </a:solidFill>
                <a:latin typeface="Times New Roman"/>
                <a:ea typeface="Times New Roman"/>
                <a:cs typeface="Times New Roman"/>
                <a:sym typeface="Times New Roman"/>
              </a:rPr>
              <a:t>Điểm cao + đông sv nhất</a:t>
            </a:r>
            <a:endParaRPr/>
          </a:p>
        </p:txBody>
      </p:sp>
      <p:sp>
        <p:nvSpPr>
          <p:cNvPr id="8" name="Rectangle: Rounded Corners 7">
            <a:extLst>
              <a:ext uri="{FF2B5EF4-FFF2-40B4-BE49-F238E27FC236}">
                <a16:creationId xmlns:a16="http://schemas.microsoft.com/office/drawing/2014/main" id="{4D32A704-5381-87C9-1FC1-A92A569027F2}"/>
              </a:ext>
            </a:extLst>
          </p:cNvPr>
          <p:cNvSpPr/>
          <p:nvPr/>
        </p:nvSpPr>
        <p:spPr>
          <a:xfrm>
            <a:off x="4333878" y="180814"/>
            <a:ext cx="1740696" cy="1302841"/>
          </a:xfrm>
          <a:prstGeom prst="roundRect">
            <a:avLst>
              <a:gd name="adj" fmla="val 5359"/>
            </a:avLst>
          </a:prstGeom>
          <a:noFill/>
          <a:ln w="635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88B67272-CA5C-FC1B-28D0-12BC3B14EBE1}"/>
              </a:ext>
            </a:extLst>
          </p:cNvPr>
          <p:cNvSpPr/>
          <p:nvPr/>
        </p:nvSpPr>
        <p:spPr>
          <a:xfrm>
            <a:off x="6313968" y="183554"/>
            <a:ext cx="1740696" cy="1302841"/>
          </a:xfrm>
          <a:prstGeom prst="roundRect">
            <a:avLst>
              <a:gd name="adj" fmla="val 5359"/>
            </a:avLst>
          </a:prstGeom>
          <a:noFill/>
          <a:ln w="635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4CBF818F-E43B-20B3-ED0F-0EA7F55AAC22}"/>
              </a:ext>
            </a:extLst>
          </p:cNvPr>
          <p:cNvSpPr/>
          <p:nvPr/>
        </p:nvSpPr>
        <p:spPr>
          <a:xfrm>
            <a:off x="8242470" y="197092"/>
            <a:ext cx="1740696" cy="1302841"/>
          </a:xfrm>
          <a:prstGeom prst="roundRect">
            <a:avLst>
              <a:gd name="adj" fmla="val 5359"/>
            </a:avLst>
          </a:prstGeom>
          <a:no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503EEE5E-10E9-C2E3-C730-79C1F05348D3}"/>
              </a:ext>
            </a:extLst>
          </p:cNvPr>
          <p:cNvSpPr/>
          <p:nvPr/>
        </p:nvSpPr>
        <p:spPr>
          <a:xfrm>
            <a:off x="10170972" y="219926"/>
            <a:ext cx="1740696" cy="1302841"/>
          </a:xfrm>
          <a:prstGeom prst="roundRect">
            <a:avLst>
              <a:gd name="adj" fmla="val 5359"/>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EC2DDB65-02BF-C799-900A-24ABE4A62802}"/>
            </a:ext>
          </a:extLst>
        </p:cNvPr>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834FC6D1-6AEC-993D-5E6E-F492FB0A503A}"/>
              </a:ext>
            </a:extLst>
          </p:cNvPr>
          <p:cNvSpPr/>
          <p:nvPr/>
        </p:nvSpPr>
        <p:spPr>
          <a:xfrm>
            <a:off x="766300" y="1553497"/>
            <a:ext cx="10717777" cy="2087891"/>
          </a:xfrm>
          <a:prstGeom prst="roundRect">
            <a:avLst>
              <a:gd name="adj" fmla="val 4423"/>
            </a:avLst>
          </a:prstGeom>
          <a:solidFill>
            <a:srgbClr val="1E3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Google Shape;90;p13">
            <a:extLst>
              <a:ext uri="{FF2B5EF4-FFF2-40B4-BE49-F238E27FC236}">
                <a16:creationId xmlns:a16="http://schemas.microsoft.com/office/drawing/2014/main" id="{443607E9-A3D3-01F6-C211-27B5EE7A7049}"/>
              </a:ext>
            </a:extLst>
          </p:cNvPr>
          <p:cNvSpPr txBox="1"/>
          <p:nvPr/>
        </p:nvSpPr>
        <p:spPr>
          <a:xfrm>
            <a:off x="1061576" y="3966050"/>
            <a:ext cx="10391775" cy="307777"/>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None/>
            </a:pPr>
            <a:r>
              <a:rPr lang="vi-VN" sz="2000" b="1">
                <a:solidFill>
                  <a:srgbClr val="1E3A8A"/>
                </a:solidFill>
                <a:latin typeface="Times New Roman" panose="02020603050405020304" pitchFamily="18" charset="0"/>
                <a:cs typeface="Times New Roman" panose="02020603050405020304" pitchFamily="18" charset="0"/>
              </a:rPr>
              <a:t>Nguyên nhân gây ra sự mất cân bằng</a:t>
            </a:r>
            <a:endParaRPr sz="2000" b="1">
              <a:solidFill>
                <a:srgbClr val="1E3A8A"/>
              </a:solidFill>
              <a:latin typeface="Times New Roman" panose="02020603050405020304" pitchFamily="18" charset="0"/>
              <a:cs typeface="Times New Roman" panose="02020603050405020304" pitchFamily="18" charset="0"/>
            </a:endParaRPr>
          </a:p>
        </p:txBody>
      </p:sp>
      <p:sp>
        <p:nvSpPr>
          <p:cNvPr id="96" name="Google Shape;96;p13">
            <a:extLst>
              <a:ext uri="{FF2B5EF4-FFF2-40B4-BE49-F238E27FC236}">
                <a16:creationId xmlns:a16="http://schemas.microsoft.com/office/drawing/2014/main" id="{C9134DC7-52C1-6D1F-7C44-E8BA5348D1DC}"/>
              </a:ext>
            </a:extLst>
          </p:cNvPr>
          <p:cNvSpPr txBox="1"/>
          <p:nvPr/>
        </p:nvSpPr>
        <p:spPr>
          <a:xfrm>
            <a:off x="870926" y="4501743"/>
            <a:ext cx="2870150" cy="3200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lnSpc>
                <a:spcPct val="129925"/>
              </a:lnSpc>
              <a:buNone/>
              <a:defRPr sz="1350" b="1">
                <a:solidFill>
                  <a:srgbClr val="0F172A"/>
                </a:solidFill>
                <a:latin typeface="Times New Roman" panose="02020603050405020304" pitchFamily="18" charset="0"/>
                <a:ea typeface="Montserrat"/>
                <a:cs typeface="Times New Roman" panose="02020603050405020304" pitchFamily="18" charset="0"/>
              </a:defRPr>
            </a:lvl1pPr>
          </a:lstStyle>
          <a:p>
            <a:pPr algn="just"/>
            <a:r>
              <a:rPr lang="vi-VN" sz="1600"/>
              <a:t>Độ khó của môn học</a:t>
            </a:r>
            <a:endParaRPr sz="1600"/>
          </a:p>
        </p:txBody>
      </p:sp>
      <p:sp>
        <p:nvSpPr>
          <p:cNvPr id="97" name="Google Shape;97;p13">
            <a:extLst>
              <a:ext uri="{FF2B5EF4-FFF2-40B4-BE49-F238E27FC236}">
                <a16:creationId xmlns:a16="http://schemas.microsoft.com/office/drawing/2014/main" id="{30C37D6B-53F6-889A-029C-5268E58BA640}"/>
              </a:ext>
            </a:extLst>
          </p:cNvPr>
          <p:cNvSpPr txBox="1"/>
          <p:nvPr/>
        </p:nvSpPr>
        <p:spPr>
          <a:xfrm>
            <a:off x="832976" y="4852416"/>
            <a:ext cx="2973488" cy="689420"/>
          </a:xfrm>
          <a:prstGeom prst="rect">
            <a:avLst/>
          </a:prstGeom>
          <a:noFill/>
          <a:ln>
            <a:noFill/>
          </a:ln>
        </p:spPr>
        <p:txBody>
          <a:bodyPr spcFirstLastPara="1" wrap="square" lIns="0" tIns="0" rIns="0" bIns="0" anchor="t" anchorCtr="0">
            <a:spAutoFit/>
          </a:bodyPr>
          <a:lstStyle/>
          <a:p>
            <a:pPr lvl="0" algn="just">
              <a:lnSpc>
                <a:spcPct val="160000"/>
              </a:lnSpc>
            </a:pPr>
            <a:r>
              <a:rPr lang="vi-VN">
                <a:solidFill>
                  <a:srgbClr val="475569"/>
                </a:solidFill>
                <a:latin typeface="Times New Roman" panose="02020603050405020304" pitchFamily="18" charset="0"/>
                <a:ea typeface="Roboto"/>
                <a:cs typeface="Times New Roman" panose="02020603050405020304" pitchFamily="18" charset="0"/>
              </a:rPr>
              <a:t>Sinh viên có xu hướng học những môn có lợi cho họ về mặc điểm số</a:t>
            </a:r>
            <a:endParaRPr>
              <a:solidFill>
                <a:srgbClr val="475569"/>
              </a:solidFill>
              <a:latin typeface="Times New Roman" panose="02020603050405020304" pitchFamily="18" charset="0"/>
              <a:ea typeface="Roboto"/>
              <a:cs typeface="Times New Roman" panose="02020603050405020304" pitchFamily="18" charset="0"/>
            </a:endParaRPr>
          </a:p>
        </p:txBody>
      </p:sp>
      <p:sp>
        <p:nvSpPr>
          <p:cNvPr id="99" name="Google Shape;99;p13">
            <a:extLst>
              <a:ext uri="{FF2B5EF4-FFF2-40B4-BE49-F238E27FC236}">
                <a16:creationId xmlns:a16="http://schemas.microsoft.com/office/drawing/2014/main" id="{B5721661-C476-91C8-8032-FCE321FD00B1}"/>
              </a:ext>
            </a:extLst>
          </p:cNvPr>
          <p:cNvSpPr txBox="1"/>
          <p:nvPr/>
        </p:nvSpPr>
        <p:spPr>
          <a:xfrm>
            <a:off x="4503226" y="4501743"/>
            <a:ext cx="3117800" cy="320088"/>
          </a:xfrm>
          <a:prstGeom prst="rect">
            <a:avLst/>
          </a:prstGeom>
          <a:noFill/>
          <a:ln>
            <a:noFill/>
          </a:ln>
        </p:spPr>
        <p:txBody>
          <a:bodyPr spcFirstLastPara="1" wrap="square" lIns="0" tIns="0" rIns="0" bIns="0" anchor="t" anchorCtr="0">
            <a:spAutoFit/>
          </a:bodyPr>
          <a:lstStyle/>
          <a:p>
            <a:pPr marL="0" marR="0" lvl="0" indent="0" algn="just" rtl="0">
              <a:lnSpc>
                <a:spcPct val="129925"/>
              </a:lnSpc>
              <a:spcBef>
                <a:spcPts val="0"/>
              </a:spcBef>
              <a:spcAft>
                <a:spcPts val="0"/>
              </a:spcAft>
              <a:buNone/>
            </a:pPr>
            <a:r>
              <a:rPr lang="vi-VN" sz="1600" b="1" i="0" u="none" strike="noStrike" cap="none">
                <a:solidFill>
                  <a:srgbClr val="0F172A"/>
                </a:solidFill>
                <a:latin typeface="Times New Roman" panose="02020603050405020304" pitchFamily="18" charset="0"/>
                <a:ea typeface="Montserrat"/>
                <a:cs typeface="Times New Roman" panose="02020603050405020304" pitchFamily="18" charset="0"/>
                <a:sym typeface="Montserrat"/>
              </a:rPr>
              <a:t>Sở thích cá nhân</a:t>
            </a:r>
            <a:endParaRPr sz="1800">
              <a:latin typeface="Times New Roman" panose="02020603050405020304" pitchFamily="18" charset="0"/>
              <a:cs typeface="Times New Roman" panose="02020603050405020304" pitchFamily="18" charset="0"/>
            </a:endParaRPr>
          </a:p>
        </p:txBody>
      </p:sp>
      <p:sp>
        <p:nvSpPr>
          <p:cNvPr id="102" name="Google Shape;102;p13">
            <a:extLst>
              <a:ext uri="{FF2B5EF4-FFF2-40B4-BE49-F238E27FC236}">
                <a16:creationId xmlns:a16="http://schemas.microsoft.com/office/drawing/2014/main" id="{6D47D591-EBC2-60B3-1CBC-839AD25F9B19}"/>
              </a:ext>
            </a:extLst>
          </p:cNvPr>
          <p:cNvSpPr txBox="1"/>
          <p:nvPr/>
        </p:nvSpPr>
        <p:spPr>
          <a:xfrm>
            <a:off x="8135377" y="4501743"/>
            <a:ext cx="2870150" cy="320088"/>
          </a:xfrm>
          <a:prstGeom prst="rect">
            <a:avLst/>
          </a:prstGeom>
          <a:noFill/>
          <a:ln>
            <a:noFill/>
          </a:ln>
        </p:spPr>
        <p:txBody>
          <a:bodyPr spcFirstLastPara="1" wrap="square" lIns="0" tIns="0" rIns="0" bIns="0" anchor="t" anchorCtr="0">
            <a:spAutoFit/>
          </a:bodyPr>
          <a:lstStyle/>
          <a:p>
            <a:pPr marL="0" marR="0" lvl="0" indent="0" algn="just" rtl="0">
              <a:lnSpc>
                <a:spcPct val="129925"/>
              </a:lnSpc>
              <a:spcBef>
                <a:spcPts val="0"/>
              </a:spcBef>
              <a:spcAft>
                <a:spcPts val="0"/>
              </a:spcAft>
              <a:buNone/>
            </a:pPr>
            <a:r>
              <a:rPr lang="vi-VN" sz="1600" b="1">
                <a:solidFill>
                  <a:srgbClr val="0F172A"/>
                </a:solidFill>
                <a:latin typeface="Times New Roman" panose="02020603050405020304" pitchFamily="18" charset="0"/>
                <a:ea typeface="Montserrat"/>
                <a:cs typeface="Times New Roman" panose="02020603050405020304" pitchFamily="18" charset="0"/>
                <a:sym typeface="Montserrat"/>
              </a:rPr>
              <a:t>Do các yếu tố khách quan khác</a:t>
            </a:r>
            <a:endParaRPr sz="1800">
              <a:latin typeface="Times New Roman" panose="02020603050405020304" pitchFamily="18" charset="0"/>
              <a:cs typeface="Times New Roman" panose="02020603050405020304" pitchFamily="18" charset="0"/>
            </a:endParaRPr>
          </a:p>
        </p:txBody>
      </p:sp>
      <p:sp>
        <p:nvSpPr>
          <p:cNvPr id="103" name="Google Shape;103;p13">
            <a:extLst>
              <a:ext uri="{FF2B5EF4-FFF2-40B4-BE49-F238E27FC236}">
                <a16:creationId xmlns:a16="http://schemas.microsoft.com/office/drawing/2014/main" id="{D7EC7B93-BAD9-BAB3-1B0B-E0A3E5C3B11E}"/>
              </a:ext>
            </a:extLst>
          </p:cNvPr>
          <p:cNvSpPr txBox="1"/>
          <p:nvPr/>
        </p:nvSpPr>
        <p:spPr>
          <a:xfrm>
            <a:off x="8135377" y="4846410"/>
            <a:ext cx="3089224" cy="68942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vi-VN">
                <a:solidFill>
                  <a:srgbClr val="475569"/>
                </a:solidFill>
                <a:latin typeface="Times New Roman" panose="02020603050405020304" pitchFamily="18" charset="0"/>
                <a:ea typeface="Roboto"/>
                <a:cs typeface="Times New Roman" panose="02020603050405020304" pitchFamily="18" charset="0"/>
              </a:rPr>
              <a:t>Các yếu tố Marketing, lịch giảng, giáo viên... cũng cần được xem xét</a:t>
            </a:r>
            <a:endParaRPr>
              <a:solidFill>
                <a:srgbClr val="475569"/>
              </a:solidFill>
              <a:latin typeface="Times New Roman" panose="02020603050405020304" pitchFamily="18" charset="0"/>
              <a:ea typeface="Roboto"/>
              <a:cs typeface="Times New Roman" panose="02020603050405020304" pitchFamily="18" charset="0"/>
            </a:endParaRPr>
          </a:p>
        </p:txBody>
      </p:sp>
      <p:sp>
        <p:nvSpPr>
          <p:cNvPr id="107" name="Google Shape;107;p13">
            <a:extLst>
              <a:ext uri="{FF2B5EF4-FFF2-40B4-BE49-F238E27FC236}">
                <a16:creationId xmlns:a16="http://schemas.microsoft.com/office/drawing/2014/main" id="{32B72B30-8FC8-5A0C-EA04-3CEFD88D7E57}"/>
              </a:ext>
            </a:extLst>
          </p:cNvPr>
          <p:cNvSpPr txBox="1"/>
          <p:nvPr/>
        </p:nvSpPr>
        <p:spPr>
          <a:xfrm>
            <a:off x="900113" y="1858781"/>
            <a:ext cx="10391774" cy="166199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lnSpc>
                <a:spcPct val="139948"/>
              </a:lnSpc>
              <a:buNone/>
              <a:defRPr sz="1950">
                <a:solidFill>
                  <a:srgbClr val="FFFFFF"/>
                </a:solidFill>
                <a:latin typeface="Montserrat SemiBold"/>
                <a:ea typeface="Montserrat SemiBold"/>
                <a:cs typeface="Montserrat SemiBold"/>
              </a:defRPr>
            </a:lvl1pPr>
          </a:lstStyle>
          <a:p>
            <a:pPr algn="just">
              <a:lnSpc>
                <a:spcPct val="200000"/>
              </a:lnSpc>
            </a:pPr>
            <a:r>
              <a:rPr lang="vi-VN" sz="1800">
                <a:latin typeface="Times New Roman" panose="02020603050405020304" pitchFamily="18" charset="0"/>
                <a:cs typeface="Times New Roman" panose="02020603050405020304" pitchFamily="18" charset="0"/>
                <a:sym typeface="Montserrat SemiBold"/>
              </a:rPr>
              <a:t>Chỉ </a:t>
            </a:r>
            <a:r>
              <a:rPr lang="vi-VN" sz="1800" b="1">
                <a:latin typeface="Times New Roman" panose="02020603050405020304" pitchFamily="18" charset="0"/>
                <a:cs typeface="Times New Roman" panose="02020603050405020304" pitchFamily="18" charset="0"/>
                <a:sym typeface="Montserrat SemiBold"/>
              </a:rPr>
              <a:t>3 trên 8 </a:t>
            </a:r>
            <a:r>
              <a:rPr lang="vi-VN" sz="1800">
                <a:latin typeface="Times New Roman" panose="02020603050405020304" pitchFamily="18" charset="0"/>
                <a:cs typeface="Times New Roman" panose="02020603050405020304" pitchFamily="18" charset="0"/>
                <a:sym typeface="Montserrat SemiBold"/>
              </a:rPr>
              <a:t>môn đạt đủ số lượng lớp yêu cầu. Môn đăng ký nhiều (Lập trình hướng đối tượng, Phân tích mạng xã hội) có điểm TB cao nhất — ngược lại, Phân tích tài chính doanh nghiệp ít đăng ký nhất và điểm TB thấp nhất, cho thấy </a:t>
            </a:r>
            <a:r>
              <a:rPr lang="vi-VN" sz="1800" b="1">
                <a:latin typeface="Times New Roman" panose="02020603050405020304" pitchFamily="18" charset="0"/>
                <a:cs typeface="Times New Roman" panose="02020603050405020304" pitchFamily="18" charset="0"/>
                <a:sym typeface="Montserrat SemiBold"/>
              </a:rPr>
              <a:t>mức độ đăng ký và kết quả học tập có xu hướng tương quan với nhau</a:t>
            </a:r>
            <a:endParaRPr lang="en-US" sz="1800" b="1">
              <a:latin typeface="Times New Roman" panose="02020603050405020304" pitchFamily="18" charset="0"/>
              <a:cs typeface="Times New Roman" panose="02020603050405020304" pitchFamily="18" charset="0"/>
            </a:endParaRPr>
          </a:p>
        </p:txBody>
      </p:sp>
      <p:sp>
        <p:nvSpPr>
          <p:cNvPr id="4" name="Google Shape;97;p13">
            <a:extLst>
              <a:ext uri="{FF2B5EF4-FFF2-40B4-BE49-F238E27FC236}">
                <a16:creationId xmlns:a16="http://schemas.microsoft.com/office/drawing/2014/main" id="{48563A8E-99A5-7E01-8703-CA57B0E22A0D}"/>
              </a:ext>
            </a:extLst>
          </p:cNvPr>
          <p:cNvSpPr txBox="1"/>
          <p:nvPr/>
        </p:nvSpPr>
        <p:spPr>
          <a:xfrm>
            <a:off x="4484176" y="4846410"/>
            <a:ext cx="2973488" cy="103412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lnSpc>
                <a:spcPct val="160000"/>
              </a:lnSpc>
              <a:buNone/>
              <a:defRPr sz="1125">
                <a:solidFill>
                  <a:srgbClr val="475569"/>
                </a:solidFill>
                <a:latin typeface="Times New Roman" panose="02020603050405020304" pitchFamily="18" charset="0"/>
                <a:ea typeface="Roboto"/>
                <a:cs typeface="Times New Roman" panose="02020603050405020304" pitchFamily="18" charset="0"/>
              </a:defRPr>
            </a:lvl1pPr>
          </a:lstStyle>
          <a:p>
            <a:pPr algn="just"/>
            <a:r>
              <a:rPr lang="vi-VN" sz="1400"/>
              <a:t>Sinh viên khoa KHDLTKD có xu hướng thích học các môn kỹ thuật và phân tích hơn</a:t>
            </a:r>
          </a:p>
        </p:txBody>
      </p:sp>
      <p:sp>
        <p:nvSpPr>
          <p:cNvPr id="13" name="Google Shape;89;p13">
            <a:extLst>
              <a:ext uri="{FF2B5EF4-FFF2-40B4-BE49-F238E27FC236}">
                <a16:creationId xmlns:a16="http://schemas.microsoft.com/office/drawing/2014/main" id="{83E1F6C8-5CAA-001D-1A35-F247FBF11038}"/>
              </a:ext>
            </a:extLst>
          </p:cNvPr>
          <p:cNvSpPr txBox="1"/>
          <p:nvPr/>
        </p:nvSpPr>
        <p:spPr>
          <a:xfrm>
            <a:off x="766300" y="473825"/>
            <a:ext cx="10477500" cy="184666"/>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200" b="1" i="0" u="none" strike="noStrike" cap="none">
                <a:solidFill>
                  <a:srgbClr val="64748B"/>
                </a:solidFill>
                <a:latin typeface="Times New Roman" panose="02020603050405020304" pitchFamily="18" charset="0"/>
                <a:ea typeface="Roboto"/>
                <a:cs typeface="Times New Roman" panose="02020603050405020304" pitchFamily="18" charset="0"/>
                <a:sym typeface="Roboto"/>
              </a:rPr>
              <a:t>Insight Vấn đề </a:t>
            </a:r>
            <a:r>
              <a:rPr lang="vi-VN" sz="1200" b="1" i="0" u="none" strike="noStrike" cap="none">
                <a:solidFill>
                  <a:srgbClr val="64748B"/>
                </a:solidFill>
                <a:latin typeface="Times New Roman" panose="02020603050405020304" pitchFamily="18" charset="0"/>
                <a:ea typeface="Roboto"/>
                <a:cs typeface="Times New Roman" panose="02020603050405020304" pitchFamily="18" charset="0"/>
                <a:sym typeface="Roboto"/>
              </a:rPr>
              <a:t>3</a:t>
            </a:r>
            <a:endParaRPr>
              <a:latin typeface="Times New Roman" panose="02020603050405020304" pitchFamily="18" charset="0"/>
              <a:cs typeface="Times New Roman" panose="02020603050405020304" pitchFamily="18" charset="0"/>
            </a:endParaRPr>
          </a:p>
        </p:txBody>
      </p:sp>
      <p:sp>
        <p:nvSpPr>
          <p:cNvPr id="14" name="Google Shape;90;p13">
            <a:extLst>
              <a:ext uri="{FF2B5EF4-FFF2-40B4-BE49-F238E27FC236}">
                <a16:creationId xmlns:a16="http://schemas.microsoft.com/office/drawing/2014/main" id="{ACAE84B8-98F0-E687-F0C3-66572DC5654B}"/>
              </a:ext>
            </a:extLst>
          </p:cNvPr>
          <p:cNvSpPr txBox="1"/>
          <p:nvPr/>
        </p:nvSpPr>
        <p:spPr>
          <a:xfrm>
            <a:off x="756775" y="624796"/>
            <a:ext cx="11001375" cy="55399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vi-VN" sz="3000" b="1" i="0" u="none" strike="noStrike" cap="none">
                <a:solidFill>
                  <a:srgbClr val="0F172A"/>
                </a:solidFill>
                <a:latin typeface="Times New Roman" panose="02020603050405020304" pitchFamily="18" charset="0"/>
                <a:ea typeface="Montserrat ExtraBold"/>
                <a:cs typeface="Times New Roman" panose="02020603050405020304" pitchFamily="18" charset="0"/>
                <a:sym typeface="Montserrat ExtraBold"/>
              </a:rPr>
              <a:t>Phân bổ lớp học chưa đồng đều</a:t>
            </a:r>
            <a:endParaRPr lang="en-US" b="1">
              <a:latin typeface="Times New Roman" panose="02020603050405020304" pitchFamily="18" charset="0"/>
              <a:cs typeface="Times New Roman" panose="02020603050405020304" pitchFamily="18" charset="0"/>
            </a:endParaRPr>
          </a:p>
        </p:txBody>
      </p:sp>
      <p:pic>
        <p:nvPicPr>
          <p:cNvPr id="16" name="Google Shape;96;p13" descr="image.png">
            <a:extLst>
              <a:ext uri="{FF2B5EF4-FFF2-40B4-BE49-F238E27FC236}">
                <a16:creationId xmlns:a16="http://schemas.microsoft.com/office/drawing/2014/main" id="{F3BABF6A-8E8F-7C73-B5DE-27417D305827}"/>
              </a:ext>
            </a:extLst>
          </p:cNvPr>
          <p:cNvPicPr preferRelativeResize="0"/>
          <p:nvPr/>
        </p:nvPicPr>
        <p:blipFill rotWithShape="1">
          <a:blip r:embed="rId3">
            <a:alphaModFix/>
          </a:blip>
          <a:srcRect/>
          <a:stretch/>
        </p:blipFill>
        <p:spPr>
          <a:xfrm>
            <a:off x="870926" y="1681404"/>
            <a:ext cx="190500" cy="171450"/>
          </a:xfrm>
          <a:prstGeom prst="rect">
            <a:avLst/>
          </a:prstGeom>
          <a:noFill/>
          <a:ln>
            <a:noFill/>
          </a:ln>
        </p:spPr>
      </p:pic>
      <p:sp>
        <p:nvSpPr>
          <p:cNvPr id="17" name="Google Shape;104;p13">
            <a:extLst>
              <a:ext uri="{FF2B5EF4-FFF2-40B4-BE49-F238E27FC236}">
                <a16:creationId xmlns:a16="http://schemas.microsoft.com/office/drawing/2014/main" id="{368D8424-DD3E-10BE-3257-E552C65A0931}"/>
              </a:ext>
            </a:extLst>
          </p:cNvPr>
          <p:cNvSpPr txBox="1"/>
          <p:nvPr/>
        </p:nvSpPr>
        <p:spPr>
          <a:xfrm>
            <a:off x="1156676" y="1680567"/>
            <a:ext cx="9239250" cy="173124"/>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None/>
            </a:pPr>
            <a:r>
              <a:rPr lang="en-US" sz="1125" b="1" i="0" u="none" strike="noStrike" cap="none">
                <a:solidFill>
                  <a:srgbClr val="93C5FD"/>
                </a:solidFill>
                <a:latin typeface="Times New Roman" panose="02020603050405020304" pitchFamily="18" charset="0"/>
                <a:ea typeface="Montserrat"/>
                <a:cs typeface="Times New Roman" panose="02020603050405020304" pitchFamily="18" charset="0"/>
                <a:sym typeface="Montserrat"/>
              </a:rPr>
              <a:t>KẾT LUẬN CỐT LÕI</a:t>
            </a:r>
            <a:endParaRPr>
              <a:latin typeface="Times New Roman" panose="02020603050405020304" pitchFamily="18" charset="0"/>
              <a:cs typeface="Times New Roman" panose="02020603050405020304" pitchFamily="18" charset="0"/>
            </a:endParaRPr>
          </a:p>
        </p:txBody>
      </p:sp>
      <p:pic>
        <p:nvPicPr>
          <p:cNvPr id="18" name="Google Shape;97;p13" descr="image.png">
            <a:extLst>
              <a:ext uri="{FF2B5EF4-FFF2-40B4-BE49-F238E27FC236}">
                <a16:creationId xmlns:a16="http://schemas.microsoft.com/office/drawing/2014/main" id="{92898DC6-81A6-0968-E83E-71D5DCBBFE99}"/>
              </a:ext>
            </a:extLst>
          </p:cNvPr>
          <p:cNvPicPr preferRelativeResize="0"/>
          <p:nvPr/>
        </p:nvPicPr>
        <p:blipFill rotWithShape="1">
          <a:blip r:embed="rId4">
            <a:alphaModFix/>
          </a:blip>
          <a:srcRect/>
          <a:stretch/>
        </p:blipFill>
        <p:spPr>
          <a:xfrm>
            <a:off x="766300" y="4012730"/>
            <a:ext cx="190500" cy="190500"/>
          </a:xfrm>
          <a:prstGeom prst="rect">
            <a:avLst/>
          </a:prstGeom>
          <a:noFill/>
          <a:ln>
            <a:noFill/>
          </a:ln>
        </p:spPr>
      </p:pic>
      <p:cxnSp>
        <p:nvCxnSpPr>
          <p:cNvPr id="22" name="Straight Connector 21">
            <a:extLst>
              <a:ext uri="{FF2B5EF4-FFF2-40B4-BE49-F238E27FC236}">
                <a16:creationId xmlns:a16="http://schemas.microsoft.com/office/drawing/2014/main" id="{E2A94BCB-1D96-AF49-EB53-A355D1C6414F}"/>
              </a:ext>
            </a:extLst>
          </p:cNvPr>
          <p:cNvCxnSpPr/>
          <p:nvPr/>
        </p:nvCxnSpPr>
        <p:spPr>
          <a:xfrm>
            <a:off x="819257" y="4503175"/>
            <a:ext cx="297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6D67775-16CD-84C6-E657-014D36AA0810}"/>
              </a:ext>
            </a:extLst>
          </p:cNvPr>
          <p:cNvCxnSpPr/>
          <p:nvPr/>
        </p:nvCxnSpPr>
        <p:spPr>
          <a:xfrm>
            <a:off x="4503226" y="4477163"/>
            <a:ext cx="297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2361C8E-20F7-DD7A-FAF3-CA5ADFFF0D41}"/>
              </a:ext>
            </a:extLst>
          </p:cNvPr>
          <p:cNvCxnSpPr/>
          <p:nvPr/>
        </p:nvCxnSpPr>
        <p:spPr>
          <a:xfrm>
            <a:off x="8135377" y="4477163"/>
            <a:ext cx="297348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536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3AAD300-8527-8ED4-FE0E-F47F6A8DED77}"/>
            </a:ext>
          </a:extLst>
        </p:cNvPr>
        <p:cNvGrpSpPr/>
        <p:nvPr/>
      </p:nvGrpSpPr>
      <p:grpSpPr>
        <a:xfrm>
          <a:off x="0" y="0"/>
          <a:ext cx="0" cy="0"/>
          <a:chOff x="0" y="0"/>
          <a:chExt cx="0" cy="0"/>
        </a:xfrm>
      </p:grpSpPr>
      <p:sp>
        <p:nvSpPr>
          <p:cNvPr id="114" name="Google Shape;114;p15">
            <a:extLst>
              <a:ext uri="{FF2B5EF4-FFF2-40B4-BE49-F238E27FC236}">
                <a16:creationId xmlns:a16="http://schemas.microsoft.com/office/drawing/2014/main" id="{E5AA7E37-A198-DE0B-B5FB-1147A6AA44EC}"/>
              </a:ext>
            </a:extLst>
          </p:cNvPr>
          <p:cNvSpPr txBox="1"/>
          <p:nvPr/>
        </p:nvSpPr>
        <p:spPr>
          <a:xfrm>
            <a:off x="952500" y="3418498"/>
            <a:ext cx="9001125" cy="7201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vi-VN" sz="3900" b="1" i="0" u="none" strike="noStrike" cap="none">
                <a:solidFill>
                  <a:srgbClr val="1E3A8A"/>
                </a:solidFill>
                <a:latin typeface="Montserrat"/>
                <a:ea typeface="Montserrat"/>
                <a:cs typeface="Montserrat"/>
                <a:sym typeface="Montserrat"/>
              </a:rPr>
              <a:t>Tổng kết</a:t>
            </a:r>
            <a:endParaRPr/>
          </a:p>
        </p:txBody>
      </p:sp>
      <p:sp>
        <p:nvSpPr>
          <p:cNvPr id="115" name="Google Shape;115;p15">
            <a:extLst>
              <a:ext uri="{FF2B5EF4-FFF2-40B4-BE49-F238E27FC236}">
                <a16:creationId xmlns:a16="http://schemas.microsoft.com/office/drawing/2014/main" id="{F6B0CB3B-0D86-F949-5A63-0D68EE08C5BC}"/>
              </a:ext>
            </a:extLst>
          </p:cNvPr>
          <p:cNvSpPr txBox="1"/>
          <p:nvPr/>
        </p:nvSpPr>
        <p:spPr>
          <a:xfrm>
            <a:off x="952500" y="4453695"/>
            <a:ext cx="7620000" cy="4154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vi-VN" sz="1800" b="0" i="0" u="none" strike="noStrike" cap="none">
                <a:solidFill>
                  <a:srgbClr val="64748B"/>
                </a:solidFill>
                <a:latin typeface="Roboto Light"/>
                <a:ea typeface="Roboto Light"/>
                <a:cs typeface="Roboto Light"/>
                <a:sym typeface="Roboto Light"/>
              </a:rPr>
              <a:t>Tổng hợp các insight, nguyên nhân từ đó đưa ra giải pháp cụ thể</a:t>
            </a:r>
            <a:r>
              <a:rPr lang="en-US" sz="1800" b="0" i="0" u="none" strike="noStrike" cap="none">
                <a:solidFill>
                  <a:srgbClr val="64748B"/>
                </a:solidFill>
                <a:latin typeface="Roboto Light"/>
                <a:ea typeface="Roboto Light"/>
                <a:cs typeface="Roboto Light"/>
                <a:sym typeface="Roboto Light"/>
              </a:rPr>
              <a:t>.</a:t>
            </a:r>
            <a:endParaRPr/>
          </a:p>
        </p:txBody>
      </p:sp>
      <p:sp>
        <p:nvSpPr>
          <p:cNvPr id="2" name="Google Shape;88;p13">
            <a:extLst>
              <a:ext uri="{FF2B5EF4-FFF2-40B4-BE49-F238E27FC236}">
                <a16:creationId xmlns:a16="http://schemas.microsoft.com/office/drawing/2014/main" id="{0BA927D9-74D5-0059-7DDB-EE62AEF75D4E}"/>
              </a:ext>
            </a:extLst>
          </p:cNvPr>
          <p:cNvSpPr txBox="1"/>
          <p:nvPr/>
        </p:nvSpPr>
        <p:spPr>
          <a:xfrm>
            <a:off x="952500" y="1510754"/>
            <a:ext cx="10287000" cy="138499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vi-VN" sz="9000" b="0" i="0" u="none" strike="noStrike" cap="none">
                <a:solidFill>
                  <a:srgbClr val="3B82F6"/>
                </a:solidFill>
                <a:latin typeface="Montserrat Light"/>
                <a:ea typeface="Montserrat Light"/>
                <a:cs typeface="Montserrat Light"/>
                <a:sym typeface="Montserrat Light"/>
              </a:rPr>
              <a:t>04</a:t>
            </a:r>
            <a:endParaRPr/>
          </a:p>
        </p:txBody>
      </p:sp>
      <p:sp>
        <p:nvSpPr>
          <p:cNvPr id="3" name="Google Shape;89;p13">
            <a:extLst>
              <a:ext uri="{FF2B5EF4-FFF2-40B4-BE49-F238E27FC236}">
                <a16:creationId xmlns:a16="http://schemas.microsoft.com/office/drawing/2014/main" id="{0EA15F77-10DC-804B-B057-F71DC1385BC8}"/>
              </a:ext>
            </a:extLst>
          </p:cNvPr>
          <p:cNvSpPr/>
          <p:nvPr/>
        </p:nvSpPr>
        <p:spPr>
          <a:xfrm>
            <a:off x="1047749" y="2739479"/>
            <a:ext cx="1076325" cy="57150"/>
          </a:xfrm>
          <a:prstGeom prst="roundRect">
            <a:avLst>
              <a:gd name="adj" fmla="val 50000"/>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70282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762075" y="1448408"/>
            <a:ext cx="3301900" cy="4844176"/>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4444975" y="1448408"/>
            <a:ext cx="3302049" cy="4844176"/>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8128025" y="1448408"/>
            <a:ext cx="3301900" cy="4844176"/>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1047825" y="6055113"/>
            <a:ext cx="2730400" cy="76200"/>
          </a:xfrm>
          <a:prstGeom prst="rect">
            <a:avLst/>
          </a:prstGeom>
          <a:noFill/>
          <a:ln>
            <a:noFill/>
          </a:ln>
        </p:spPr>
      </p:pic>
      <p:pic>
        <p:nvPicPr>
          <p:cNvPr id="88" name="Google Shape;88;p13" descr="image.png"/>
          <p:cNvPicPr preferRelativeResize="0"/>
          <p:nvPr/>
        </p:nvPicPr>
        <p:blipFill rotWithShape="1">
          <a:blip r:embed="rId7">
            <a:alphaModFix/>
          </a:blip>
          <a:srcRect/>
          <a:stretch/>
        </p:blipFill>
        <p:spPr>
          <a:xfrm>
            <a:off x="4730725" y="6055113"/>
            <a:ext cx="2730549" cy="76200"/>
          </a:xfrm>
          <a:prstGeom prst="rect">
            <a:avLst/>
          </a:prstGeom>
          <a:noFill/>
          <a:ln>
            <a:noFill/>
          </a:ln>
        </p:spPr>
      </p:pic>
      <p:pic>
        <p:nvPicPr>
          <p:cNvPr id="89" name="Google Shape;89;p13" descr="image.png"/>
          <p:cNvPicPr preferRelativeResize="0"/>
          <p:nvPr/>
        </p:nvPicPr>
        <p:blipFill rotWithShape="1">
          <a:blip r:embed="rId6">
            <a:alphaModFix/>
          </a:blip>
          <a:srcRect/>
          <a:stretch/>
        </p:blipFill>
        <p:spPr>
          <a:xfrm>
            <a:off x="8413775" y="6055113"/>
            <a:ext cx="2730400" cy="76200"/>
          </a:xfrm>
          <a:prstGeom prst="rect">
            <a:avLst/>
          </a:prstGeom>
          <a:noFill/>
          <a:ln>
            <a:noFill/>
          </a:ln>
        </p:spPr>
      </p:pic>
      <p:sp>
        <p:nvSpPr>
          <p:cNvPr id="91" name="Google Shape;91;p13"/>
          <p:cNvSpPr txBox="1"/>
          <p:nvPr/>
        </p:nvSpPr>
        <p:spPr>
          <a:xfrm>
            <a:off x="761925" y="414945"/>
            <a:ext cx="4050506"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565C0"/>
                </a:solidFill>
                <a:latin typeface="Times New Roman" panose="02020603050405020304" pitchFamily="18" charset="0"/>
                <a:ea typeface="Inter"/>
                <a:cs typeface="Times New Roman" panose="02020603050405020304" pitchFamily="18" charset="0"/>
                <a:sym typeface="Inter"/>
              </a:rPr>
              <a:t>Tổng kết 3 Insight</a:t>
            </a:r>
            <a:endParaRPr>
              <a:latin typeface="Times New Roman" panose="02020603050405020304" pitchFamily="18" charset="0"/>
              <a:cs typeface="Times New Roman" panose="02020603050405020304" pitchFamily="18" charset="0"/>
            </a:endParaRPr>
          </a:p>
        </p:txBody>
      </p:sp>
      <p:sp>
        <p:nvSpPr>
          <p:cNvPr id="92" name="Google Shape;92;p13"/>
          <p:cNvSpPr txBox="1"/>
          <p:nvPr/>
        </p:nvSpPr>
        <p:spPr>
          <a:xfrm>
            <a:off x="761925" y="995970"/>
            <a:ext cx="385762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Times New Roman" panose="02020603050405020304" pitchFamily="18" charset="0"/>
                <a:ea typeface="Inter"/>
                <a:cs typeface="Times New Roman" panose="02020603050405020304" pitchFamily="18" charset="0"/>
                <a:sym typeface="Inter"/>
              </a:rPr>
              <a:t>Những phát hiện chính từ phân tích dữ liệu</a:t>
            </a:r>
            <a:endParaRPr>
              <a:latin typeface="Times New Roman" panose="02020603050405020304" pitchFamily="18" charset="0"/>
              <a:cs typeface="Times New Roman" panose="02020603050405020304" pitchFamily="18" charset="0"/>
            </a:endParaRPr>
          </a:p>
        </p:txBody>
      </p:sp>
      <p:sp>
        <p:nvSpPr>
          <p:cNvPr id="93" name="Google Shape;93;p13"/>
          <p:cNvSpPr txBox="1"/>
          <p:nvPr/>
        </p:nvSpPr>
        <p:spPr>
          <a:xfrm>
            <a:off x="2074887" y="1886558"/>
            <a:ext cx="676275" cy="7386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800" b="1" i="0" u="none" strike="noStrike" cap="none">
                <a:solidFill>
                  <a:srgbClr val="1565C0"/>
                </a:solidFill>
                <a:latin typeface="Times New Roman" panose="02020603050405020304" pitchFamily="18" charset="0"/>
                <a:ea typeface="Inter"/>
                <a:cs typeface="Times New Roman" panose="02020603050405020304" pitchFamily="18" charset="0"/>
                <a:sym typeface="Inter"/>
              </a:rPr>
              <a:t>01</a:t>
            </a:r>
            <a:endParaRPr>
              <a:latin typeface="Times New Roman" panose="02020603050405020304" pitchFamily="18" charset="0"/>
              <a:cs typeface="Times New Roman" panose="02020603050405020304" pitchFamily="18" charset="0"/>
            </a:endParaRPr>
          </a:p>
        </p:txBody>
      </p:sp>
      <p:sp>
        <p:nvSpPr>
          <p:cNvPr id="94" name="Google Shape;94;p13"/>
          <p:cNvSpPr/>
          <p:nvPr/>
        </p:nvSpPr>
        <p:spPr>
          <a:xfrm>
            <a:off x="1320924" y="2686658"/>
            <a:ext cx="218420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95" name="Google Shape;95;p13"/>
          <p:cNvSpPr txBox="1"/>
          <p:nvPr/>
        </p:nvSpPr>
        <p:spPr>
          <a:xfrm>
            <a:off x="1403375" y="3072033"/>
            <a:ext cx="2019300" cy="276999"/>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800" b="1" i="0" u="none" strike="noStrike" cap="none">
                <a:solidFill>
                  <a:srgbClr val="1E293B"/>
                </a:solidFill>
                <a:latin typeface="Times New Roman" panose="02020603050405020304" pitchFamily="18" charset="0"/>
                <a:ea typeface="Inter"/>
                <a:cs typeface="Times New Roman" panose="02020603050405020304" pitchFamily="18" charset="0"/>
                <a:sym typeface="Inter"/>
              </a:rPr>
              <a:t>Học lệch Tech/Biz</a:t>
            </a:r>
            <a:endParaRPr>
              <a:latin typeface="Times New Roman" panose="02020603050405020304" pitchFamily="18" charset="0"/>
              <a:cs typeface="Times New Roman" panose="02020603050405020304" pitchFamily="18" charset="0"/>
            </a:endParaRPr>
          </a:p>
        </p:txBody>
      </p:sp>
      <p:sp>
        <p:nvSpPr>
          <p:cNvPr id="96" name="Google Shape;96;p13"/>
          <p:cNvSpPr txBox="1"/>
          <p:nvPr/>
        </p:nvSpPr>
        <p:spPr>
          <a:xfrm>
            <a:off x="1047825" y="3677258"/>
            <a:ext cx="2730400" cy="66479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Times New Roman" panose="02020603050405020304" pitchFamily="18" charset="0"/>
                <a:ea typeface="Inter"/>
                <a:cs typeface="Times New Roman" panose="02020603050405020304" pitchFamily="18" charset="0"/>
                <a:sym typeface="Inter"/>
              </a:rPr>
              <a:t>Sự áp đảo về điểm số và số lượng học sinh vượt trội của Tech.</a:t>
            </a:r>
            <a:endParaRPr>
              <a:latin typeface="Times New Roman" panose="02020603050405020304" pitchFamily="18" charset="0"/>
              <a:cs typeface="Times New Roman" panose="02020603050405020304" pitchFamily="18" charset="0"/>
            </a:endParaRPr>
          </a:p>
        </p:txBody>
      </p:sp>
      <p:sp>
        <p:nvSpPr>
          <p:cNvPr id="98" name="Google Shape;98;p13"/>
          <p:cNvSpPr txBox="1"/>
          <p:nvPr/>
        </p:nvSpPr>
        <p:spPr>
          <a:xfrm>
            <a:off x="5700638" y="1886558"/>
            <a:ext cx="790575" cy="7386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800" b="1" i="0" u="none" strike="noStrike" cap="none">
                <a:solidFill>
                  <a:srgbClr val="1565C0"/>
                </a:solidFill>
                <a:latin typeface="Times New Roman" panose="02020603050405020304" pitchFamily="18" charset="0"/>
                <a:ea typeface="Inter"/>
                <a:cs typeface="Times New Roman" panose="02020603050405020304" pitchFamily="18" charset="0"/>
                <a:sym typeface="Inter"/>
              </a:rPr>
              <a:t>02</a:t>
            </a:r>
            <a:endParaRPr>
              <a:latin typeface="Times New Roman" panose="02020603050405020304" pitchFamily="18" charset="0"/>
              <a:cs typeface="Times New Roman" panose="02020603050405020304" pitchFamily="18" charset="0"/>
            </a:endParaRPr>
          </a:p>
        </p:txBody>
      </p:sp>
      <p:sp>
        <p:nvSpPr>
          <p:cNvPr id="99" name="Google Shape;99;p13"/>
          <p:cNvSpPr/>
          <p:nvPr/>
        </p:nvSpPr>
        <p:spPr>
          <a:xfrm>
            <a:off x="5003825" y="2686658"/>
            <a:ext cx="2184350"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0" name="Google Shape;100;p13"/>
          <p:cNvSpPr txBox="1"/>
          <p:nvPr/>
        </p:nvSpPr>
        <p:spPr>
          <a:xfrm>
            <a:off x="4730725" y="3072033"/>
            <a:ext cx="2730549" cy="276999"/>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800" b="1" i="0" u="none" strike="noStrike" cap="none">
                <a:solidFill>
                  <a:srgbClr val="1E293B"/>
                </a:solidFill>
                <a:latin typeface="Times New Roman" panose="02020603050405020304" pitchFamily="18" charset="0"/>
                <a:ea typeface="Inter"/>
                <a:cs typeface="Times New Roman" panose="02020603050405020304" pitchFamily="18" charset="0"/>
                <a:sym typeface="Inter"/>
              </a:rPr>
              <a:t>Các môn phân hóa ổn định</a:t>
            </a:r>
            <a:endParaRPr>
              <a:latin typeface="Times New Roman" panose="02020603050405020304" pitchFamily="18" charset="0"/>
              <a:cs typeface="Times New Roman" panose="02020603050405020304" pitchFamily="18" charset="0"/>
            </a:endParaRPr>
          </a:p>
        </p:txBody>
      </p:sp>
      <p:sp>
        <p:nvSpPr>
          <p:cNvPr id="101" name="Google Shape;101;p13"/>
          <p:cNvSpPr txBox="1"/>
          <p:nvPr/>
        </p:nvSpPr>
        <p:spPr>
          <a:xfrm>
            <a:off x="4730725" y="3677258"/>
            <a:ext cx="2730549" cy="9971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Times New Roman" panose="02020603050405020304" pitchFamily="18" charset="0"/>
                <a:ea typeface="Inter"/>
                <a:cs typeface="Times New Roman" panose="02020603050405020304" pitchFamily="18" charset="0"/>
                <a:sym typeface="Inter"/>
              </a:rPr>
              <a:t>Các môn học trong chương trình đào tạo có mức phân hóa tốt, tuy nhiên cần xem xét một số môn và khối.</a:t>
            </a:r>
            <a:endParaRPr>
              <a:latin typeface="Times New Roman" panose="02020603050405020304" pitchFamily="18" charset="0"/>
              <a:cs typeface="Times New Roman" panose="02020603050405020304" pitchFamily="18" charset="0"/>
            </a:endParaRPr>
          </a:p>
        </p:txBody>
      </p:sp>
      <p:sp>
        <p:nvSpPr>
          <p:cNvPr id="103" name="Google Shape;103;p13"/>
          <p:cNvSpPr txBox="1"/>
          <p:nvPr/>
        </p:nvSpPr>
        <p:spPr>
          <a:xfrm>
            <a:off x="9378925" y="1886558"/>
            <a:ext cx="800100" cy="7386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800" b="1" i="0" u="none" strike="noStrike" cap="none">
                <a:solidFill>
                  <a:srgbClr val="1565C0"/>
                </a:solidFill>
                <a:latin typeface="Times New Roman" panose="02020603050405020304" pitchFamily="18" charset="0"/>
                <a:ea typeface="Inter"/>
                <a:cs typeface="Times New Roman" panose="02020603050405020304" pitchFamily="18" charset="0"/>
                <a:sym typeface="Inter"/>
              </a:rPr>
              <a:t>03</a:t>
            </a:r>
            <a:endParaRPr>
              <a:latin typeface="Times New Roman" panose="02020603050405020304" pitchFamily="18" charset="0"/>
              <a:cs typeface="Times New Roman" panose="02020603050405020304" pitchFamily="18" charset="0"/>
            </a:endParaRPr>
          </a:p>
        </p:txBody>
      </p:sp>
      <p:sp>
        <p:nvSpPr>
          <p:cNvPr id="104" name="Google Shape;104;p13"/>
          <p:cNvSpPr/>
          <p:nvPr/>
        </p:nvSpPr>
        <p:spPr>
          <a:xfrm>
            <a:off x="8686875" y="2686658"/>
            <a:ext cx="218420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5" name="Google Shape;105;p13"/>
          <p:cNvSpPr txBox="1"/>
          <p:nvPr/>
        </p:nvSpPr>
        <p:spPr>
          <a:xfrm>
            <a:off x="8413775" y="2934308"/>
            <a:ext cx="2730400" cy="55245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800" b="1" i="0" u="none" strike="noStrike" cap="none">
                <a:solidFill>
                  <a:srgbClr val="1E293B"/>
                </a:solidFill>
                <a:latin typeface="Times New Roman" panose="02020603050405020304" pitchFamily="18" charset="0"/>
                <a:ea typeface="Inter"/>
                <a:cs typeface="Times New Roman" panose="02020603050405020304" pitchFamily="18" charset="0"/>
                <a:sym typeface="Inter"/>
              </a:rPr>
              <a:t>Phân bổ lớp tự chọn chưa đồng đều</a:t>
            </a:r>
            <a:endParaRPr>
              <a:latin typeface="Times New Roman" panose="02020603050405020304" pitchFamily="18" charset="0"/>
              <a:cs typeface="Times New Roman" panose="02020603050405020304" pitchFamily="18" charset="0"/>
            </a:endParaRPr>
          </a:p>
        </p:txBody>
      </p:sp>
      <p:sp>
        <p:nvSpPr>
          <p:cNvPr id="106" name="Google Shape;106;p13"/>
          <p:cNvSpPr txBox="1"/>
          <p:nvPr/>
        </p:nvSpPr>
        <p:spPr>
          <a:xfrm>
            <a:off x="8413775" y="3677258"/>
            <a:ext cx="2730400" cy="9971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Times New Roman" panose="02020603050405020304" pitchFamily="18" charset="0"/>
                <a:ea typeface="Inter"/>
                <a:cs typeface="Times New Roman" panose="02020603050405020304" pitchFamily="18" charset="0"/>
                <a:sym typeface="Inter"/>
              </a:rPr>
              <a:t>Chỉ 3 trên 8 môn đạt đủ số lượng yêu cầu. Có xu hướng tương quan giữa điểm và số lượng đăng ký.</a:t>
            </a:r>
            <a:endParaRPr>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526314BB-28FB-BF32-6DD3-D8625F5021FB}"/>
              </a:ext>
            </a:extLst>
          </p:cNvPr>
          <p:cNvGrpSpPr/>
          <p:nvPr/>
        </p:nvGrpSpPr>
        <p:grpSpPr>
          <a:xfrm>
            <a:off x="1928998" y="4496408"/>
            <a:ext cx="857250" cy="857250"/>
            <a:chOff x="1984400" y="4564057"/>
            <a:chExt cx="857250" cy="857250"/>
          </a:xfrm>
        </p:grpSpPr>
        <p:pic>
          <p:nvPicPr>
            <p:cNvPr id="97" name="Google Shape;97;p13" descr="image.png"/>
            <p:cNvPicPr preferRelativeResize="0"/>
            <p:nvPr/>
          </p:nvPicPr>
          <p:blipFill rotWithShape="1">
            <a:blip r:embed="rId8">
              <a:alphaModFix/>
            </a:blip>
            <a:srcRect/>
            <a:stretch/>
          </p:blipFill>
          <p:spPr>
            <a:xfrm>
              <a:off x="1984400" y="4564057"/>
              <a:ext cx="857250" cy="857250"/>
            </a:xfrm>
            <a:prstGeom prst="rect">
              <a:avLst/>
            </a:prstGeom>
            <a:noFill/>
            <a:ln>
              <a:noFill/>
            </a:ln>
          </p:spPr>
        </p:pic>
        <p:pic>
          <p:nvPicPr>
            <p:cNvPr id="108" name="Google Shape;108;p13" descr="image.png"/>
            <p:cNvPicPr preferRelativeResize="0"/>
            <p:nvPr/>
          </p:nvPicPr>
          <p:blipFill rotWithShape="1">
            <a:blip r:embed="rId9">
              <a:alphaModFix/>
            </a:blip>
            <a:srcRect/>
            <a:stretch/>
          </p:blipFill>
          <p:spPr>
            <a:xfrm>
              <a:off x="2260625" y="4821232"/>
              <a:ext cx="304800" cy="342900"/>
            </a:xfrm>
            <a:prstGeom prst="rect">
              <a:avLst/>
            </a:prstGeom>
            <a:noFill/>
            <a:ln>
              <a:noFill/>
            </a:ln>
          </p:spPr>
        </p:pic>
      </p:grpSp>
      <p:sp>
        <p:nvSpPr>
          <p:cNvPr id="109" name="Google Shape;109;p13"/>
          <p:cNvSpPr txBox="1"/>
          <p:nvPr/>
        </p:nvSpPr>
        <p:spPr>
          <a:xfrm>
            <a:off x="1047825" y="5769363"/>
            <a:ext cx="273040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64748B"/>
                </a:solidFill>
                <a:latin typeface="Times New Roman" panose="02020603050405020304" pitchFamily="18" charset="0"/>
                <a:ea typeface="Inter"/>
                <a:cs typeface="Times New Roman" panose="02020603050405020304" pitchFamily="18" charset="0"/>
                <a:sym typeface="Inter"/>
              </a:rPr>
              <a:t>Ảnh hưởng: </a:t>
            </a:r>
            <a:r>
              <a:rPr lang="en-US" sz="1200" b="0" i="0" u="none" strike="noStrike" cap="none">
                <a:solidFill>
                  <a:srgbClr val="334155"/>
                </a:solidFill>
                <a:latin typeface="Times New Roman" panose="02020603050405020304" pitchFamily="18" charset="0"/>
                <a:ea typeface="Inter SemiBold"/>
                <a:cs typeface="Times New Roman" panose="02020603050405020304" pitchFamily="18" charset="0"/>
                <a:sym typeface="Inter SemiBold"/>
              </a:rPr>
              <a:t>Cao</a:t>
            </a:r>
            <a:endParaRPr>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47AD9446-7AEC-09E3-6CA4-1ACE286CB10D}"/>
              </a:ext>
            </a:extLst>
          </p:cNvPr>
          <p:cNvGrpSpPr/>
          <p:nvPr/>
        </p:nvGrpSpPr>
        <p:grpSpPr>
          <a:xfrm>
            <a:off x="5633963" y="4713861"/>
            <a:ext cx="857250" cy="857250"/>
            <a:chOff x="5667301" y="4564057"/>
            <a:chExt cx="857250" cy="857250"/>
          </a:xfrm>
        </p:grpSpPr>
        <p:pic>
          <p:nvPicPr>
            <p:cNvPr id="102" name="Google Shape;102;p13" descr="image.png"/>
            <p:cNvPicPr preferRelativeResize="0"/>
            <p:nvPr/>
          </p:nvPicPr>
          <p:blipFill rotWithShape="1">
            <a:blip r:embed="rId10">
              <a:alphaModFix/>
            </a:blip>
            <a:srcRect/>
            <a:stretch/>
          </p:blipFill>
          <p:spPr>
            <a:xfrm>
              <a:off x="5667301" y="4564057"/>
              <a:ext cx="857250" cy="857250"/>
            </a:xfrm>
            <a:prstGeom prst="rect">
              <a:avLst/>
            </a:prstGeom>
            <a:noFill/>
            <a:ln>
              <a:noFill/>
            </a:ln>
          </p:spPr>
        </p:pic>
        <p:pic>
          <p:nvPicPr>
            <p:cNvPr id="110" name="Google Shape;110;p13" descr="image.png"/>
            <p:cNvPicPr preferRelativeResize="0"/>
            <p:nvPr/>
          </p:nvPicPr>
          <p:blipFill rotWithShape="1">
            <a:blip r:embed="rId11">
              <a:alphaModFix/>
            </a:blip>
            <a:srcRect/>
            <a:stretch/>
          </p:blipFill>
          <p:spPr>
            <a:xfrm>
              <a:off x="5924476" y="4821232"/>
              <a:ext cx="342900" cy="342900"/>
            </a:xfrm>
            <a:prstGeom prst="rect">
              <a:avLst/>
            </a:prstGeom>
            <a:noFill/>
            <a:ln>
              <a:noFill/>
            </a:ln>
          </p:spPr>
        </p:pic>
      </p:grpSp>
      <p:sp>
        <p:nvSpPr>
          <p:cNvPr id="111" name="Google Shape;111;p13"/>
          <p:cNvSpPr txBox="1"/>
          <p:nvPr/>
        </p:nvSpPr>
        <p:spPr>
          <a:xfrm>
            <a:off x="4730725" y="5769363"/>
            <a:ext cx="2730549"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64748B"/>
                </a:solidFill>
                <a:latin typeface="Times New Roman" panose="02020603050405020304" pitchFamily="18" charset="0"/>
                <a:ea typeface="Inter"/>
                <a:cs typeface="Times New Roman" panose="02020603050405020304" pitchFamily="18" charset="0"/>
                <a:sym typeface="Inter"/>
              </a:rPr>
              <a:t>Ảnh hưởng: </a:t>
            </a:r>
            <a:r>
              <a:rPr lang="en-US" sz="1200" b="0" i="0" u="none" strike="noStrike" cap="none">
                <a:solidFill>
                  <a:srgbClr val="334155"/>
                </a:solidFill>
                <a:latin typeface="Times New Roman" panose="02020603050405020304" pitchFamily="18" charset="0"/>
                <a:ea typeface="Inter SemiBold"/>
                <a:cs typeface="Times New Roman" panose="02020603050405020304" pitchFamily="18" charset="0"/>
                <a:sym typeface="Inter SemiBold"/>
              </a:rPr>
              <a:t>Trung bình</a:t>
            </a:r>
            <a:endParaRPr>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E455BD9C-A524-109A-8E81-A94130545540}"/>
              </a:ext>
            </a:extLst>
          </p:cNvPr>
          <p:cNvGrpSpPr/>
          <p:nvPr/>
        </p:nvGrpSpPr>
        <p:grpSpPr>
          <a:xfrm>
            <a:off x="9378925" y="4658940"/>
            <a:ext cx="857250" cy="857250"/>
            <a:chOff x="9350350" y="4564057"/>
            <a:chExt cx="857250" cy="857250"/>
          </a:xfrm>
        </p:grpSpPr>
        <p:pic>
          <p:nvPicPr>
            <p:cNvPr id="107" name="Google Shape;107;p13" descr="image.png"/>
            <p:cNvPicPr preferRelativeResize="0"/>
            <p:nvPr/>
          </p:nvPicPr>
          <p:blipFill rotWithShape="1">
            <a:blip r:embed="rId12">
              <a:alphaModFix/>
            </a:blip>
            <a:srcRect/>
            <a:stretch/>
          </p:blipFill>
          <p:spPr>
            <a:xfrm>
              <a:off x="9350350" y="4564057"/>
              <a:ext cx="857250" cy="857250"/>
            </a:xfrm>
            <a:prstGeom prst="rect">
              <a:avLst/>
            </a:prstGeom>
            <a:noFill/>
            <a:ln>
              <a:noFill/>
            </a:ln>
          </p:spPr>
        </p:pic>
        <p:pic>
          <p:nvPicPr>
            <p:cNvPr id="112" name="Google Shape;112;p13" descr="image.png"/>
            <p:cNvPicPr preferRelativeResize="0"/>
            <p:nvPr/>
          </p:nvPicPr>
          <p:blipFill rotWithShape="1">
            <a:blip r:embed="rId13">
              <a:alphaModFix/>
            </a:blip>
            <a:srcRect/>
            <a:stretch/>
          </p:blipFill>
          <p:spPr>
            <a:xfrm>
              <a:off x="9583713" y="4821232"/>
              <a:ext cx="390525" cy="342900"/>
            </a:xfrm>
            <a:prstGeom prst="rect">
              <a:avLst/>
            </a:prstGeom>
            <a:noFill/>
            <a:ln>
              <a:noFill/>
            </a:ln>
          </p:spPr>
        </p:pic>
      </p:grpSp>
      <p:sp>
        <p:nvSpPr>
          <p:cNvPr id="113" name="Google Shape;113;p13"/>
          <p:cNvSpPr txBox="1"/>
          <p:nvPr/>
        </p:nvSpPr>
        <p:spPr>
          <a:xfrm>
            <a:off x="8413775" y="5769363"/>
            <a:ext cx="273040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64748B"/>
                </a:solidFill>
                <a:latin typeface="Times New Roman" panose="02020603050405020304" pitchFamily="18" charset="0"/>
                <a:ea typeface="Inter"/>
                <a:cs typeface="Times New Roman" panose="02020603050405020304" pitchFamily="18" charset="0"/>
                <a:sym typeface="Inter"/>
              </a:rPr>
              <a:t>Ảnh hưởng: </a:t>
            </a:r>
            <a:r>
              <a:rPr lang="vi-VN" sz="1200" b="0" i="0" u="none" strike="noStrike" cap="none">
                <a:solidFill>
                  <a:srgbClr val="64748B"/>
                </a:solidFill>
                <a:latin typeface="Times New Roman" panose="02020603050405020304" pitchFamily="18" charset="0"/>
                <a:ea typeface="Inter"/>
                <a:cs typeface="Times New Roman" panose="02020603050405020304" pitchFamily="18" charset="0"/>
                <a:sym typeface="Inter"/>
              </a:rPr>
              <a:t>Thấp</a:t>
            </a:r>
            <a:endParaRPr>
              <a:latin typeface="Times New Roman" panose="02020603050405020304" pitchFamily="18" charset="0"/>
              <a:cs typeface="Times New Roman" panose="02020603050405020304" pitchFamily="18" charset="0"/>
            </a:endParaRPr>
          </a:p>
        </p:txBody>
      </p:sp>
      <p:sp>
        <p:nvSpPr>
          <p:cNvPr id="114" name="Google Shape;114;p13"/>
          <p:cNvSpPr/>
          <p:nvPr/>
        </p:nvSpPr>
        <p:spPr>
          <a:xfrm>
            <a:off x="1047825" y="6055113"/>
            <a:ext cx="2320825" cy="76200"/>
          </a:xfrm>
          <a:prstGeom prst="roundRect">
            <a:avLst>
              <a:gd name="adj" fmla="val 50000"/>
            </a:avLst>
          </a:prstGeom>
          <a:solidFill>
            <a:srgbClr val="1565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15" name="Google Shape;115;p13"/>
          <p:cNvSpPr/>
          <p:nvPr/>
        </p:nvSpPr>
        <p:spPr>
          <a:xfrm>
            <a:off x="4730725" y="6055113"/>
            <a:ext cx="1365200" cy="76200"/>
          </a:xfrm>
          <a:prstGeom prst="roundRect">
            <a:avLst>
              <a:gd name="adj" fmla="val 50000"/>
            </a:avLst>
          </a:prstGeom>
          <a:solidFill>
            <a:srgbClr val="60A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5" name="Google Shape;115;p13">
            <a:extLst>
              <a:ext uri="{FF2B5EF4-FFF2-40B4-BE49-F238E27FC236}">
                <a16:creationId xmlns:a16="http://schemas.microsoft.com/office/drawing/2014/main" id="{B8C4951A-7A2E-125E-929C-380470EEA29B}"/>
              </a:ext>
            </a:extLst>
          </p:cNvPr>
          <p:cNvSpPr/>
          <p:nvPr/>
        </p:nvSpPr>
        <p:spPr>
          <a:xfrm>
            <a:off x="8442350" y="6044173"/>
            <a:ext cx="653012" cy="76200"/>
          </a:xfrm>
          <a:prstGeom prst="roundRect">
            <a:avLst>
              <a:gd name="adj" fmla="val 50000"/>
            </a:avLst>
          </a:prstGeom>
          <a:solidFill>
            <a:srgbClr val="C7DFF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9DB0C21-C303-274D-B48F-35E9B7275A86}"/>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01F2E643-7A67-EC69-4BBE-3A15E6145FA4}"/>
              </a:ext>
            </a:extLst>
          </p:cNvPr>
          <p:cNvSpPr/>
          <p:nvPr/>
        </p:nvSpPr>
        <p:spPr>
          <a:xfrm>
            <a:off x="0" y="0"/>
            <a:ext cx="4229100" cy="934881"/>
          </a:xfrm>
          <a:prstGeom prst="roundRect">
            <a:avLst>
              <a:gd name="adj" fmla="val 0"/>
            </a:avLst>
          </a:prstGeom>
          <a:solidFill>
            <a:srgbClr val="3B82F6"/>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B82F6"/>
              </a:solidFill>
            </a:endParaRPr>
          </a:p>
        </p:txBody>
      </p:sp>
      <p:sp>
        <p:nvSpPr>
          <p:cNvPr id="6" name="Rectangle 5">
            <a:extLst>
              <a:ext uri="{FF2B5EF4-FFF2-40B4-BE49-F238E27FC236}">
                <a16:creationId xmlns:a16="http://schemas.microsoft.com/office/drawing/2014/main" id="{65183745-BEAE-A485-2C97-3E5671468EBC}"/>
              </a:ext>
            </a:extLst>
          </p:cNvPr>
          <p:cNvSpPr/>
          <p:nvPr/>
        </p:nvSpPr>
        <p:spPr>
          <a:xfrm>
            <a:off x="0" y="66675"/>
            <a:ext cx="4229100" cy="6791325"/>
          </a:xfrm>
          <a:prstGeom prst="rect">
            <a:avLst/>
          </a:prstGeom>
          <a:solidFill>
            <a:srgbClr val="F0F6FF"/>
          </a:solidFill>
          <a:ln w="3175">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200000"/>
              </a:lnSpc>
            </a:pPr>
            <a:endParaRPr lang="en-US">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D165336D-8A5D-9D1A-93C4-A5D470F07B24}"/>
              </a:ext>
            </a:extLst>
          </p:cNvPr>
          <p:cNvGrpSpPr/>
          <p:nvPr/>
        </p:nvGrpSpPr>
        <p:grpSpPr>
          <a:xfrm>
            <a:off x="456231" y="563394"/>
            <a:ext cx="1782144" cy="439581"/>
            <a:chOff x="400050" y="495300"/>
            <a:chExt cx="1543050" cy="439581"/>
          </a:xfrm>
        </p:grpSpPr>
        <p:sp>
          <p:nvSpPr>
            <p:cNvPr id="9" name="Rectangle: Rounded Corners 8">
              <a:extLst>
                <a:ext uri="{FF2B5EF4-FFF2-40B4-BE49-F238E27FC236}">
                  <a16:creationId xmlns:a16="http://schemas.microsoft.com/office/drawing/2014/main" id="{1B37E4F6-1BC6-49F1-AA3C-AB444B544FE4}"/>
                </a:ext>
              </a:extLst>
            </p:cNvPr>
            <p:cNvSpPr/>
            <p:nvPr/>
          </p:nvSpPr>
          <p:spPr>
            <a:xfrm>
              <a:off x="400050" y="495300"/>
              <a:ext cx="1543050" cy="439581"/>
            </a:xfrm>
            <a:prstGeom prst="roundRect">
              <a:avLst>
                <a:gd name="adj" fmla="val 50000"/>
              </a:avLst>
            </a:prstGeom>
            <a:solidFill>
              <a:srgbClr val="3B8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EEAD939-B282-E46E-623C-01CE04FDC8CF}"/>
                </a:ext>
              </a:extLst>
            </p:cNvPr>
            <p:cNvSpPr txBox="1"/>
            <p:nvPr/>
          </p:nvSpPr>
          <p:spPr>
            <a:xfrm>
              <a:off x="793432" y="561201"/>
              <a:ext cx="923925" cy="307777"/>
            </a:xfrm>
            <a:prstGeom prst="rect">
              <a:avLst/>
            </a:prstGeom>
            <a:noFill/>
          </p:spPr>
          <p:txBody>
            <a:bodyPr wrap="square" rtlCol="0">
              <a:spAutoFit/>
            </a:bodyPr>
            <a:lstStyle/>
            <a:p>
              <a:r>
                <a:rPr lang="vi-VN">
                  <a:solidFill>
                    <a:schemeClr val="bg1"/>
                  </a:solidFill>
                  <a:latin typeface="+mj-lt"/>
                </a:rPr>
                <a:t>Insight 1</a:t>
              </a:r>
              <a:endParaRPr lang="en-US">
                <a:solidFill>
                  <a:schemeClr val="bg1"/>
                </a:solidFill>
                <a:latin typeface="+mj-lt"/>
              </a:endParaRPr>
            </a:p>
          </p:txBody>
        </p:sp>
      </p:grpSp>
      <p:sp>
        <p:nvSpPr>
          <p:cNvPr id="13" name="TextBox 12">
            <a:extLst>
              <a:ext uri="{FF2B5EF4-FFF2-40B4-BE49-F238E27FC236}">
                <a16:creationId xmlns:a16="http://schemas.microsoft.com/office/drawing/2014/main" id="{55769DF0-E56D-C9FF-A390-E05467675918}"/>
              </a:ext>
            </a:extLst>
          </p:cNvPr>
          <p:cNvSpPr txBox="1"/>
          <p:nvPr/>
        </p:nvSpPr>
        <p:spPr>
          <a:xfrm>
            <a:off x="456231" y="1431600"/>
            <a:ext cx="2792808" cy="1077218"/>
          </a:xfrm>
          <a:prstGeom prst="rect">
            <a:avLst/>
          </a:prstGeom>
          <a:noFill/>
        </p:spPr>
        <p:txBody>
          <a:bodyPr wrap="square">
            <a:spAutoFit/>
          </a:bodyPr>
          <a:lstStyle/>
          <a:p>
            <a:pPr lvl="0"/>
            <a:r>
              <a:rPr lang="en-US" sz="3200">
                <a:solidFill>
                  <a:srgbClr val="1E293B"/>
                </a:solidFill>
                <a:latin typeface="Times New Roman" panose="02020603050405020304" pitchFamily="18" charset="0"/>
                <a:ea typeface="Inter"/>
                <a:cs typeface="Times New Roman" panose="02020603050405020304" pitchFamily="18" charset="0"/>
                <a:sym typeface="Inter"/>
              </a:rPr>
              <a:t>Học lệch Tech/Biz</a:t>
            </a:r>
            <a:endParaRPr lang="en-US" sz="3200">
              <a:latin typeface="Times New Roman" panose="02020603050405020304" pitchFamily="18"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AE2A223B-BF75-7A72-8D73-EC69BDB11267}"/>
              </a:ext>
            </a:extLst>
          </p:cNvPr>
          <p:cNvCxnSpPr>
            <a:cxnSpLocks/>
          </p:cNvCxnSpPr>
          <p:nvPr/>
        </p:nvCxnSpPr>
        <p:spPr>
          <a:xfrm>
            <a:off x="600075" y="2695575"/>
            <a:ext cx="3180731"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3F1B3CB-EF75-3F54-45FA-05C6E490B00E}"/>
              </a:ext>
            </a:extLst>
          </p:cNvPr>
          <p:cNvSpPr txBox="1"/>
          <p:nvPr/>
        </p:nvSpPr>
        <p:spPr>
          <a:xfrm>
            <a:off x="497000" y="4089980"/>
            <a:ext cx="3283806" cy="740587"/>
          </a:xfrm>
          <a:prstGeom prst="rect">
            <a:avLst/>
          </a:prstGeom>
          <a:noFill/>
        </p:spPr>
        <p:txBody>
          <a:bodyPr wrap="square">
            <a:spAutoFit/>
          </a:bodyPr>
          <a:lstStyle/>
          <a:p>
            <a:pPr algn="just">
              <a:lnSpc>
                <a:spcPct val="150000"/>
              </a:lnSpc>
            </a:pPr>
            <a:r>
              <a:rPr lang="vi-VN">
                <a:solidFill>
                  <a:srgbClr val="475569"/>
                </a:solidFill>
                <a:latin typeface="Times New Roman" panose="02020603050405020304" pitchFamily="18" charset="0"/>
                <a:ea typeface="Roboto"/>
                <a:cs typeface="Times New Roman" panose="02020603050405020304" pitchFamily="18" charset="0"/>
                <a:sym typeface="Montserrat SemiBold"/>
              </a:rPr>
              <a:t>Số liệu cho thấy rằng, sinh viên học tốt khối </a:t>
            </a:r>
            <a:r>
              <a:rPr lang="vi-VN" sz="1600" b="1">
                <a:solidFill>
                  <a:srgbClr val="0B60EB"/>
                </a:solidFill>
                <a:latin typeface="Times New Roman" panose="02020603050405020304" pitchFamily="18" charset="0"/>
                <a:ea typeface="Roboto"/>
                <a:cs typeface="Times New Roman" panose="02020603050405020304" pitchFamily="18" charset="0"/>
                <a:sym typeface="Montserrat SemiBold"/>
              </a:rPr>
              <a:t>Tech</a:t>
            </a:r>
            <a:r>
              <a:rPr lang="vi-VN">
                <a:solidFill>
                  <a:srgbClr val="475569"/>
                </a:solidFill>
                <a:latin typeface="Times New Roman" panose="02020603050405020304" pitchFamily="18" charset="0"/>
                <a:ea typeface="Roboto"/>
                <a:cs typeface="Times New Roman" panose="02020603050405020304" pitchFamily="18" charset="0"/>
                <a:sym typeface="Montserrat SemiBold"/>
              </a:rPr>
              <a:t> hơn khối </a:t>
            </a:r>
            <a:r>
              <a:rPr lang="vi-VN" sz="1600" b="1">
                <a:solidFill>
                  <a:schemeClr val="tx1"/>
                </a:solidFill>
                <a:latin typeface="Times New Roman" panose="02020603050405020304" pitchFamily="18" charset="0"/>
                <a:ea typeface="Roboto"/>
                <a:cs typeface="Times New Roman" panose="02020603050405020304" pitchFamily="18" charset="0"/>
                <a:sym typeface="Montserrat SemiBold"/>
              </a:rPr>
              <a:t>Biz</a:t>
            </a:r>
            <a:r>
              <a:rPr lang="vi-VN">
                <a:solidFill>
                  <a:srgbClr val="475569"/>
                </a:solidFill>
                <a:latin typeface="Times New Roman" panose="02020603050405020304" pitchFamily="18" charset="0"/>
                <a:ea typeface="Roboto"/>
                <a:cs typeface="Times New Roman" panose="02020603050405020304" pitchFamily="18" charset="0"/>
                <a:sym typeface="Montserrat SemiBold"/>
              </a:rPr>
              <a:t> rất nhiều</a:t>
            </a:r>
            <a:r>
              <a:rPr lang="en-US">
                <a:solidFill>
                  <a:srgbClr val="475569"/>
                </a:solidFill>
                <a:latin typeface="Times New Roman" panose="02020603050405020304" pitchFamily="18" charset="0"/>
                <a:ea typeface="Roboto"/>
                <a:cs typeface="Times New Roman" panose="02020603050405020304" pitchFamily="18" charset="0"/>
                <a:sym typeface="Montserrat SemiBold"/>
              </a:rPr>
              <a:t>.</a:t>
            </a:r>
            <a:r>
              <a:rPr lang="vi-VN">
                <a:solidFill>
                  <a:srgbClr val="475569"/>
                </a:solidFill>
                <a:latin typeface="Times New Roman" panose="02020603050405020304" pitchFamily="18" charset="0"/>
                <a:ea typeface="Roboto"/>
                <a:cs typeface="Times New Roman" panose="02020603050405020304" pitchFamily="18" charset="0"/>
                <a:sym typeface="Montserrat SemiBold"/>
              </a:rPr>
              <a:t> </a:t>
            </a:r>
          </a:p>
        </p:txBody>
      </p:sp>
      <p:sp>
        <p:nvSpPr>
          <p:cNvPr id="19" name="TextBox 18">
            <a:extLst>
              <a:ext uri="{FF2B5EF4-FFF2-40B4-BE49-F238E27FC236}">
                <a16:creationId xmlns:a16="http://schemas.microsoft.com/office/drawing/2014/main" id="{0F0DEEFC-41A0-5EE3-C4D9-5C6142564EAC}"/>
              </a:ext>
            </a:extLst>
          </p:cNvPr>
          <p:cNvSpPr txBox="1"/>
          <p:nvPr/>
        </p:nvSpPr>
        <p:spPr>
          <a:xfrm>
            <a:off x="4380881" y="629295"/>
            <a:ext cx="2190750" cy="369332"/>
          </a:xfrm>
          <a:prstGeom prst="rect">
            <a:avLst/>
          </a:prstGeom>
          <a:noFill/>
        </p:spPr>
        <p:txBody>
          <a:bodyPr wrap="square" rtlCol="0">
            <a:spAutoFit/>
          </a:bodyPr>
          <a:lstStyle/>
          <a:p>
            <a:r>
              <a:rPr lang="vi-VN" sz="1800" b="1">
                <a:solidFill>
                  <a:srgbClr val="0B60EB"/>
                </a:solidFill>
                <a:latin typeface="+mj-lt"/>
              </a:rPr>
              <a:t>Nguyên nhân</a:t>
            </a:r>
            <a:endParaRPr lang="en-US" sz="1800" b="1">
              <a:solidFill>
                <a:srgbClr val="0B60EB"/>
              </a:solidFill>
              <a:latin typeface="+mj-lt"/>
            </a:endParaRPr>
          </a:p>
        </p:txBody>
      </p:sp>
      <p:cxnSp>
        <p:nvCxnSpPr>
          <p:cNvPr id="20" name="Straight Connector 19">
            <a:extLst>
              <a:ext uri="{FF2B5EF4-FFF2-40B4-BE49-F238E27FC236}">
                <a16:creationId xmlns:a16="http://schemas.microsoft.com/office/drawing/2014/main" id="{83C48E6F-B3AC-5A37-BD85-05706CEB2EE5}"/>
              </a:ext>
            </a:extLst>
          </p:cNvPr>
          <p:cNvCxnSpPr/>
          <p:nvPr/>
        </p:nvCxnSpPr>
        <p:spPr>
          <a:xfrm>
            <a:off x="4438650" y="1038078"/>
            <a:ext cx="25527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94AEA4B-7303-2F28-854D-04BD85CEF6B2}"/>
              </a:ext>
            </a:extLst>
          </p:cNvPr>
          <p:cNvSpPr txBox="1"/>
          <p:nvPr/>
        </p:nvSpPr>
        <p:spPr>
          <a:xfrm>
            <a:off x="4380881" y="1143431"/>
            <a:ext cx="7181850" cy="7954550"/>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vi-VN" sz="1600" b="1">
                <a:solidFill>
                  <a:srgbClr val="002060"/>
                </a:solidFill>
                <a:latin typeface="Times New Roman" panose="02020603050405020304" pitchFamily="18" charset="0"/>
                <a:cs typeface="Times New Roman" panose="02020603050405020304" pitchFamily="18" charset="0"/>
              </a:rPr>
              <a:t>Sự phát triển của AI</a:t>
            </a:r>
            <a:br>
              <a:rPr lang="vi-VN" sz="1600" b="1">
                <a:latin typeface="Times New Roman" panose="02020603050405020304" pitchFamily="18" charset="0"/>
                <a:cs typeface="Times New Roman" panose="02020603050405020304" pitchFamily="18" charset="0"/>
              </a:rPr>
            </a:br>
            <a:r>
              <a:rPr lang="vi-VN">
                <a:solidFill>
                  <a:srgbClr val="475569"/>
                </a:solidFill>
                <a:latin typeface="Times New Roman" panose="02020603050405020304" pitchFamily="18" charset="0"/>
                <a:ea typeface="Roboto"/>
                <a:cs typeface="Times New Roman" panose="02020603050405020304" pitchFamily="18" charset="0"/>
              </a:rPr>
              <a:t>Công cụ AI giải quyết tốt bài kỹ thuật, trong khi bài kinh tế đòi hỏi tư duy phân tích sâu hơn.</a:t>
            </a:r>
            <a:endParaRPr lang="vi-VN" b="1">
              <a:solidFill>
                <a:srgbClr val="475569"/>
              </a:solidFill>
              <a:latin typeface="Times New Roman" panose="02020603050405020304" pitchFamily="18" charset="0"/>
              <a:ea typeface="Roboto"/>
              <a:cs typeface="Times New Roman" panose="02020603050405020304" pitchFamily="18" charset="0"/>
            </a:endParaRPr>
          </a:p>
          <a:p>
            <a:pPr>
              <a:lnSpc>
                <a:spcPct val="150000"/>
              </a:lnSpc>
            </a:pPr>
            <a:endParaRPr lang="vi-VN">
              <a:solidFill>
                <a:srgbClr val="475569"/>
              </a:solidFill>
              <a:latin typeface="Times New Roman" panose="02020603050405020304" pitchFamily="18" charset="0"/>
              <a:ea typeface="Roboto"/>
              <a:cs typeface="Times New Roman" panose="02020603050405020304" pitchFamily="18" charset="0"/>
            </a:endParaRPr>
          </a:p>
          <a:p>
            <a:pPr marL="285750" indent="-285750">
              <a:lnSpc>
                <a:spcPct val="150000"/>
              </a:lnSpc>
              <a:buFont typeface="Wingdings" panose="05000000000000000000" pitchFamily="2" charset="2"/>
              <a:buChar char="§"/>
            </a:pPr>
            <a:r>
              <a:rPr lang="vi-VN" sz="1600" b="1">
                <a:solidFill>
                  <a:srgbClr val="002060"/>
                </a:solidFill>
                <a:latin typeface="Times New Roman" panose="02020603050405020304" pitchFamily="18" charset="0"/>
                <a:cs typeface="Times New Roman" panose="02020603050405020304" pitchFamily="18" charset="0"/>
              </a:rPr>
              <a:t>Bản chất ngành Khoa học dữ liệu trong kinh doanh</a:t>
            </a:r>
            <a:br>
              <a:rPr lang="vi-VN" sz="1600" b="1">
                <a:latin typeface="Times New Roman" panose="02020603050405020304" pitchFamily="18" charset="0"/>
                <a:cs typeface="Times New Roman" panose="02020603050405020304" pitchFamily="18" charset="0"/>
              </a:rPr>
            </a:br>
            <a:r>
              <a:rPr lang="vi-VN">
                <a:solidFill>
                  <a:srgbClr val="475569"/>
                </a:solidFill>
                <a:latin typeface="Times New Roman" panose="02020603050405020304" pitchFamily="18" charset="0"/>
                <a:ea typeface="Roboto"/>
                <a:cs typeface="Times New Roman" panose="02020603050405020304" pitchFamily="18" charset="0"/>
              </a:rPr>
              <a:t>Dù kết hợp Tech + Biz, tâm lý "khoa học dữ liệu" khiến phần kỹ thuật được chú trọng hơn.</a:t>
            </a:r>
            <a:endParaRPr lang="vi-VN" b="1">
              <a:latin typeface="Times New Roman" panose="02020603050405020304" pitchFamily="18" charset="0"/>
              <a:cs typeface="Times New Roman" panose="02020603050405020304" pitchFamily="18" charset="0"/>
            </a:endParaRPr>
          </a:p>
          <a:p>
            <a:pPr>
              <a:lnSpc>
                <a:spcPct val="150000"/>
              </a:lnSpc>
            </a:pPr>
            <a:r>
              <a:rPr lang="vi-VN">
                <a:solidFill>
                  <a:srgbClr val="475569"/>
                </a:solidFill>
                <a:latin typeface="Times New Roman" panose="02020603050405020304" pitchFamily="18" charset="0"/>
                <a:ea typeface="Roboto"/>
                <a:cs typeface="Times New Roman" panose="02020603050405020304" pitchFamily="18" charset="0"/>
              </a:rPr>
              <a:t>      </a:t>
            </a:r>
          </a:p>
          <a:p>
            <a:pPr marL="285750" indent="-285750">
              <a:lnSpc>
                <a:spcPct val="150000"/>
              </a:lnSpc>
              <a:buFont typeface="Wingdings" panose="05000000000000000000" pitchFamily="2" charset="2"/>
              <a:buChar char="§"/>
            </a:pPr>
            <a:r>
              <a:rPr lang="vi-VN" sz="1600" b="1">
                <a:solidFill>
                  <a:srgbClr val="002060"/>
                </a:solidFill>
                <a:latin typeface="Times New Roman" panose="02020603050405020304" pitchFamily="18" charset="0"/>
                <a:cs typeface="Times New Roman" panose="02020603050405020304" pitchFamily="18" charset="0"/>
              </a:rPr>
              <a:t>Các môn kinh tế có sự phân hóa không cao và thấp hơn khối Tech</a:t>
            </a:r>
            <a:br>
              <a:rPr lang="vi-VN" sz="1600" b="1">
                <a:latin typeface="Times New Roman" panose="02020603050405020304" pitchFamily="18" charset="0"/>
                <a:cs typeface="Times New Roman" panose="02020603050405020304" pitchFamily="18" charset="0"/>
              </a:rPr>
            </a:br>
            <a:r>
              <a:rPr lang="vi-VN">
                <a:solidFill>
                  <a:srgbClr val="475569"/>
                </a:solidFill>
                <a:latin typeface="Times New Roman" panose="02020603050405020304" pitchFamily="18" charset="0"/>
                <a:ea typeface="Roboto"/>
                <a:cs typeface="Times New Roman" panose="02020603050405020304" pitchFamily="18" charset="0"/>
              </a:rPr>
              <a:t>Điểm trung bình thấp hơn đi kèm với mức phân hóa thấp hơn khiến sinh viên bị mắc kẹt ở mức điểm khá, trung bình.</a:t>
            </a:r>
            <a:endParaRPr lang="vi-VN" sz="1600" b="1">
              <a:latin typeface="Times New Roman" panose="02020603050405020304" pitchFamily="18" charset="0"/>
              <a:cs typeface="Times New Roman" panose="02020603050405020304" pitchFamily="18" charset="0"/>
            </a:endParaRPr>
          </a:p>
          <a:p>
            <a:pPr lvl="1">
              <a:lnSpc>
                <a:spcPct val="150000"/>
              </a:lnSpc>
            </a:pPr>
            <a:r>
              <a:rPr lang="vi-VN"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vi-VN" sz="1600" b="1">
                <a:solidFill>
                  <a:srgbClr val="002060"/>
                </a:solidFill>
                <a:latin typeface="Times New Roman" panose="02020603050405020304" pitchFamily="18" charset="0"/>
                <a:cs typeface="Times New Roman" panose="02020603050405020304" pitchFamily="18" charset="0"/>
              </a:rPr>
              <a:t>Do các yếu tố khách quan khác</a:t>
            </a:r>
            <a:br>
              <a:rPr lang="vi-VN" sz="1600" b="1">
                <a:latin typeface="Times New Roman" panose="02020603050405020304" pitchFamily="18" charset="0"/>
                <a:cs typeface="Times New Roman" panose="02020603050405020304" pitchFamily="18" charset="0"/>
              </a:rPr>
            </a:br>
            <a:r>
              <a:rPr lang="vi-VN">
                <a:solidFill>
                  <a:srgbClr val="475569"/>
                </a:solidFill>
                <a:latin typeface="Times New Roman" panose="02020603050405020304" pitchFamily="18" charset="0"/>
                <a:ea typeface="Roboto"/>
                <a:cs typeface="Times New Roman" panose="02020603050405020304" pitchFamily="18" charset="0"/>
              </a:rPr>
              <a:t>Trình độ giảng viên, tính chất đề thi, và năng lực đầu vào của sinh viên đều tạo ra sự chênh lệch.</a:t>
            </a:r>
          </a:p>
          <a:p>
            <a:pPr>
              <a:lnSpc>
                <a:spcPct val="150000"/>
              </a:lnSpc>
            </a:pPr>
            <a:endParaRPr lang="vi-VN" sz="1600" b="1">
              <a:latin typeface="Times New Roman" panose="02020603050405020304" pitchFamily="18" charset="0"/>
              <a:cs typeface="Times New Roman" panose="02020603050405020304" pitchFamily="18" charset="0"/>
            </a:endParaRPr>
          </a:p>
          <a:p>
            <a:pPr>
              <a:lnSpc>
                <a:spcPct val="150000"/>
              </a:lnSpc>
            </a:pPr>
            <a:r>
              <a:rPr lang="vi-VN">
                <a:solidFill>
                  <a:srgbClr val="475569"/>
                </a:solidFill>
                <a:latin typeface="Times New Roman" panose="02020603050405020304" pitchFamily="18" charset="0"/>
                <a:ea typeface="Roboto"/>
                <a:cs typeface="Times New Roman" panose="02020603050405020304" pitchFamily="18" charset="0"/>
              </a:rPr>
              <a:t>       </a:t>
            </a:r>
            <a:endParaRPr lang="vi-VN" b="1">
              <a:latin typeface="Times New Roman" panose="02020603050405020304" pitchFamily="18" charset="0"/>
              <a:cs typeface="Times New Roman" panose="02020603050405020304" pitchFamily="18" charset="0"/>
            </a:endParaRPr>
          </a:p>
          <a:p>
            <a:pPr>
              <a:lnSpc>
                <a:spcPct val="250000"/>
              </a:lnSpc>
            </a:pPr>
            <a:endParaRPr lang="en-US"/>
          </a:p>
          <a:p>
            <a:pPr>
              <a:lnSpc>
                <a:spcPct val="250000"/>
              </a:lnSpc>
            </a:pPr>
            <a:endParaRPr lang="en-US"/>
          </a:p>
          <a:p>
            <a:pPr>
              <a:lnSpc>
                <a:spcPct val="250000"/>
              </a:lnSpc>
            </a:pPr>
            <a:endParaRPr lang="en-US"/>
          </a:p>
          <a:p>
            <a:pPr>
              <a:lnSpc>
                <a:spcPct val="250000"/>
              </a:lnSpc>
            </a:pPr>
            <a:endParaRPr lang="en-US"/>
          </a:p>
          <a:p>
            <a:pPr>
              <a:lnSpc>
                <a:spcPct val="250000"/>
              </a:lnSpc>
            </a:pPr>
            <a:endParaRPr lang="en-US"/>
          </a:p>
        </p:txBody>
      </p:sp>
      <p:grpSp>
        <p:nvGrpSpPr>
          <p:cNvPr id="32" name="Group 31">
            <a:extLst>
              <a:ext uri="{FF2B5EF4-FFF2-40B4-BE49-F238E27FC236}">
                <a16:creationId xmlns:a16="http://schemas.microsoft.com/office/drawing/2014/main" id="{839FAECA-D327-C347-D8BA-139EFF1F5B76}"/>
              </a:ext>
            </a:extLst>
          </p:cNvPr>
          <p:cNvGrpSpPr/>
          <p:nvPr/>
        </p:nvGrpSpPr>
        <p:grpSpPr>
          <a:xfrm>
            <a:off x="600075" y="2959539"/>
            <a:ext cx="2542872" cy="935608"/>
            <a:chOff x="456232" y="4864583"/>
            <a:chExt cx="2542872" cy="935608"/>
          </a:xfrm>
        </p:grpSpPr>
        <p:sp>
          <p:nvSpPr>
            <p:cNvPr id="27" name="Rectangle: Rounded Corners 26">
              <a:extLst>
                <a:ext uri="{FF2B5EF4-FFF2-40B4-BE49-F238E27FC236}">
                  <a16:creationId xmlns:a16="http://schemas.microsoft.com/office/drawing/2014/main" id="{0092580D-0E32-9FC6-590E-5A8B51F1428E}"/>
                </a:ext>
              </a:extLst>
            </p:cNvPr>
            <p:cNvSpPr/>
            <p:nvPr/>
          </p:nvSpPr>
          <p:spPr>
            <a:xfrm>
              <a:off x="456232" y="4864947"/>
              <a:ext cx="1461064" cy="934881"/>
            </a:xfrm>
            <a:prstGeom prst="roundRect">
              <a:avLst>
                <a:gd name="adj" fmla="val 6262"/>
              </a:avLst>
            </a:prstGeom>
            <a:solidFill>
              <a:srgbClr val="3B82F6"/>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B82F6"/>
                </a:solidFill>
              </a:endParaRPr>
            </a:p>
          </p:txBody>
        </p:sp>
        <p:sp>
          <p:nvSpPr>
            <p:cNvPr id="28" name="Rectangle: Rounded Corners 27">
              <a:extLst>
                <a:ext uri="{FF2B5EF4-FFF2-40B4-BE49-F238E27FC236}">
                  <a16:creationId xmlns:a16="http://schemas.microsoft.com/office/drawing/2014/main" id="{6B7B618F-6F29-0BE3-AAB8-B8BDBA681923}"/>
                </a:ext>
              </a:extLst>
            </p:cNvPr>
            <p:cNvSpPr/>
            <p:nvPr/>
          </p:nvSpPr>
          <p:spPr>
            <a:xfrm>
              <a:off x="516590" y="4864583"/>
              <a:ext cx="1461064" cy="935608"/>
            </a:xfrm>
            <a:prstGeom prst="roundRect">
              <a:avLst>
                <a:gd name="adj" fmla="val 6262"/>
              </a:avLst>
            </a:prstGeom>
            <a:solidFill>
              <a:schemeClr val="bg1"/>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oogle Shape;99;p13">
              <a:extLst>
                <a:ext uri="{FF2B5EF4-FFF2-40B4-BE49-F238E27FC236}">
                  <a16:creationId xmlns:a16="http://schemas.microsoft.com/office/drawing/2014/main" id="{911B5CC8-DAF3-A002-A38E-F6F454F0F111}"/>
                </a:ext>
              </a:extLst>
            </p:cNvPr>
            <p:cNvSpPr txBox="1"/>
            <p:nvPr/>
          </p:nvSpPr>
          <p:spPr>
            <a:xfrm>
              <a:off x="668778" y="5580315"/>
              <a:ext cx="2306687" cy="18466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vi-VN" sz="1200" i="0" u="none" strike="noStrike" cap="none">
                  <a:solidFill>
                    <a:schemeClr val="tx1">
                      <a:lumMod val="50000"/>
                      <a:lumOff val="50000"/>
                    </a:schemeClr>
                  </a:solidFill>
                  <a:latin typeface="Times New Roman" panose="02020603050405020304" pitchFamily="18" charset="0"/>
                  <a:ea typeface="Times"/>
                  <a:cs typeface="Times New Roman" panose="02020603050405020304" pitchFamily="18" charset="0"/>
                  <a:sym typeface="Times"/>
                </a:rPr>
                <a:t>Độ lệch chuẩn: </a:t>
              </a:r>
              <a:r>
                <a:rPr lang="vi-VN" sz="1200">
                  <a:solidFill>
                    <a:schemeClr val="tx1">
                      <a:lumMod val="50000"/>
                      <a:lumOff val="50000"/>
                    </a:schemeClr>
                  </a:solidFill>
                  <a:latin typeface="Times New Roman" panose="02020603050405020304" pitchFamily="18" charset="0"/>
                  <a:ea typeface="Times"/>
                  <a:cs typeface="Times New Roman" panose="02020603050405020304" pitchFamily="18" charset="0"/>
                  <a:sym typeface="Times New Roman"/>
                </a:rPr>
                <a:t>1.18</a:t>
              </a:r>
              <a:endParaRPr>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30" name="Google Shape;100;p13">
              <a:extLst>
                <a:ext uri="{FF2B5EF4-FFF2-40B4-BE49-F238E27FC236}">
                  <a16:creationId xmlns:a16="http://schemas.microsoft.com/office/drawing/2014/main" id="{AC6EF6C0-FFA3-127A-344C-A0BA705E0FDB}"/>
                </a:ext>
              </a:extLst>
            </p:cNvPr>
            <p:cNvSpPr txBox="1"/>
            <p:nvPr/>
          </p:nvSpPr>
          <p:spPr>
            <a:xfrm>
              <a:off x="692416" y="5219224"/>
              <a:ext cx="1050660"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vi-VN" sz="2000" b="1">
                  <a:solidFill>
                    <a:srgbClr val="1E3A8A"/>
                  </a:solidFill>
                  <a:latin typeface="Times New Roman" panose="02020603050405020304" pitchFamily="18" charset="0"/>
                  <a:cs typeface="Times New Roman" panose="02020603050405020304" pitchFamily="18" charset="0"/>
                  <a:sym typeface="Times New Roman"/>
                </a:rPr>
                <a:t>7.84</a:t>
              </a:r>
              <a:r>
                <a:rPr lang="en-US" sz="1800" b="1" i="0" u="none" strike="noStrike" cap="none">
                  <a:solidFill>
                    <a:srgbClr val="16A34A"/>
                  </a:solidFill>
                  <a:latin typeface="Times New Roman" panose="02020603050405020304" pitchFamily="18" charset="0"/>
                  <a:ea typeface="Times New Roman"/>
                  <a:cs typeface="Times New Roman" panose="02020603050405020304" pitchFamily="18" charset="0"/>
                  <a:sym typeface="Times New Roman"/>
                </a:rPr>
                <a:t> </a:t>
              </a:r>
              <a:r>
                <a:rPr lang="vi-VN" sz="1200" b="1">
                  <a:solidFill>
                    <a:schemeClr val="bg1">
                      <a:lumMod val="50000"/>
                    </a:schemeClr>
                  </a:solidFill>
                  <a:latin typeface="Times New Roman" panose="02020603050405020304" pitchFamily="18" charset="0"/>
                  <a:cs typeface="Times New Roman" panose="02020603050405020304" pitchFamily="18" charset="0"/>
                  <a:sym typeface="Times New Roman"/>
                </a:rPr>
                <a:t>ĐTB</a:t>
              </a:r>
              <a:endParaRPr sz="1200" b="1">
                <a:solidFill>
                  <a:schemeClr val="bg1">
                    <a:lumMod val="50000"/>
                  </a:schemeClr>
                </a:solidFill>
                <a:latin typeface="Times New Roman" panose="02020603050405020304" pitchFamily="18" charset="0"/>
                <a:cs typeface="Times New Roman" panose="02020603050405020304" pitchFamily="18" charset="0"/>
              </a:endParaRPr>
            </a:p>
          </p:txBody>
        </p:sp>
        <p:sp>
          <p:nvSpPr>
            <p:cNvPr id="31" name="Google Shape;98;p13">
              <a:extLst>
                <a:ext uri="{FF2B5EF4-FFF2-40B4-BE49-F238E27FC236}">
                  <a16:creationId xmlns:a16="http://schemas.microsoft.com/office/drawing/2014/main" id="{479315C9-5B9E-404E-FB65-6AD68A42784A}"/>
                </a:ext>
              </a:extLst>
            </p:cNvPr>
            <p:cNvSpPr txBox="1"/>
            <p:nvPr/>
          </p:nvSpPr>
          <p:spPr>
            <a:xfrm>
              <a:off x="692417" y="4987698"/>
              <a:ext cx="2306687" cy="18466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600" b="1">
                  <a:solidFill>
                    <a:srgbClr val="64748B"/>
                  </a:solidFill>
                  <a:latin typeface="Times New Roman" panose="02020603050405020304" pitchFamily="18" charset="0"/>
                  <a:ea typeface="Roboto"/>
                  <a:cs typeface="Times New Roman" panose="02020603050405020304" pitchFamily="18" charset="0"/>
                </a:defRPr>
              </a:lvl1pPr>
            </a:lstStyle>
            <a:p>
              <a:r>
                <a:rPr lang="vi-VN" sz="1200">
                  <a:solidFill>
                    <a:schemeClr val="tx1">
                      <a:lumMod val="65000"/>
                      <a:lumOff val="35000"/>
                    </a:schemeClr>
                  </a:solidFill>
                  <a:sym typeface="Times New Roman"/>
                </a:rPr>
                <a:t>Kỹ thuật</a:t>
              </a:r>
              <a:endParaRPr sz="1200">
                <a:solidFill>
                  <a:schemeClr val="tx1">
                    <a:lumMod val="65000"/>
                    <a:lumOff val="35000"/>
                  </a:schemeClr>
                </a:solidFill>
              </a:endParaRPr>
            </a:p>
          </p:txBody>
        </p:sp>
      </p:grpSp>
      <p:grpSp>
        <p:nvGrpSpPr>
          <p:cNvPr id="33" name="Group 32">
            <a:extLst>
              <a:ext uri="{FF2B5EF4-FFF2-40B4-BE49-F238E27FC236}">
                <a16:creationId xmlns:a16="http://schemas.microsoft.com/office/drawing/2014/main" id="{CF6217FF-5B3E-A52C-F53E-776CA4AA9E45}"/>
              </a:ext>
            </a:extLst>
          </p:cNvPr>
          <p:cNvGrpSpPr/>
          <p:nvPr/>
        </p:nvGrpSpPr>
        <p:grpSpPr>
          <a:xfrm>
            <a:off x="2259384" y="2959539"/>
            <a:ext cx="2542872" cy="935608"/>
            <a:chOff x="456232" y="4864583"/>
            <a:chExt cx="2542872" cy="935608"/>
          </a:xfrm>
        </p:grpSpPr>
        <p:sp>
          <p:nvSpPr>
            <p:cNvPr id="34" name="Rectangle: Rounded Corners 33">
              <a:extLst>
                <a:ext uri="{FF2B5EF4-FFF2-40B4-BE49-F238E27FC236}">
                  <a16:creationId xmlns:a16="http://schemas.microsoft.com/office/drawing/2014/main" id="{14E3D239-92BA-C3A4-B9EF-56EF7BCD532C}"/>
                </a:ext>
              </a:extLst>
            </p:cNvPr>
            <p:cNvSpPr/>
            <p:nvPr/>
          </p:nvSpPr>
          <p:spPr>
            <a:xfrm>
              <a:off x="456232" y="4864947"/>
              <a:ext cx="1461064" cy="934881"/>
            </a:xfrm>
            <a:prstGeom prst="roundRect">
              <a:avLst>
                <a:gd name="adj" fmla="val 6262"/>
              </a:avLst>
            </a:prstGeom>
            <a:solidFill>
              <a:srgbClr val="3B82F6"/>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endParaRPr>
            </a:p>
          </p:txBody>
        </p:sp>
        <p:sp>
          <p:nvSpPr>
            <p:cNvPr id="35" name="Rectangle: Rounded Corners 34">
              <a:extLst>
                <a:ext uri="{FF2B5EF4-FFF2-40B4-BE49-F238E27FC236}">
                  <a16:creationId xmlns:a16="http://schemas.microsoft.com/office/drawing/2014/main" id="{E5E33728-7B4F-3FEB-D41F-B698B2D962B5}"/>
                </a:ext>
              </a:extLst>
            </p:cNvPr>
            <p:cNvSpPr/>
            <p:nvPr/>
          </p:nvSpPr>
          <p:spPr>
            <a:xfrm>
              <a:off x="516590" y="4864583"/>
              <a:ext cx="1461064" cy="935608"/>
            </a:xfrm>
            <a:prstGeom prst="roundRect">
              <a:avLst>
                <a:gd name="adj" fmla="val 6262"/>
              </a:avLst>
            </a:prstGeom>
            <a:solidFill>
              <a:schemeClr val="bg1"/>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Google Shape;99;p13">
              <a:extLst>
                <a:ext uri="{FF2B5EF4-FFF2-40B4-BE49-F238E27FC236}">
                  <a16:creationId xmlns:a16="http://schemas.microsoft.com/office/drawing/2014/main" id="{A4B921CD-C2F5-DCB0-96C0-02060EA2AAA3}"/>
                </a:ext>
              </a:extLst>
            </p:cNvPr>
            <p:cNvSpPr txBox="1"/>
            <p:nvPr/>
          </p:nvSpPr>
          <p:spPr>
            <a:xfrm>
              <a:off x="668778" y="5580315"/>
              <a:ext cx="2306687" cy="18466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vi-VN" sz="1200" i="0" u="none" strike="noStrike" cap="none">
                  <a:solidFill>
                    <a:schemeClr val="tx1">
                      <a:lumMod val="50000"/>
                      <a:lumOff val="50000"/>
                    </a:schemeClr>
                  </a:solidFill>
                  <a:latin typeface="Times New Roman" panose="02020603050405020304" pitchFamily="18" charset="0"/>
                  <a:ea typeface="Times"/>
                  <a:cs typeface="Times New Roman" panose="02020603050405020304" pitchFamily="18" charset="0"/>
                  <a:sym typeface="Times"/>
                </a:rPr>
                <a:t>Độ lệch chuẩn: </a:t>
              </a:r>
              <a:r>
                <a:rPr lang="vi-VN" sz="1200">
                  <a:solidFill>
                    <a:schemeClr val="tx1">
                      <a:lumMod val="50000"/>
                      <a:lumOff val="50000"/>
                    </a:schemeClr>
                  </a:solidFill>
                  <a:latin typeface="Times New Roman" panose="02020603050405020304" pitchFamily="18" charset="0"/>
                  <a:ea typeface="Times"/>
                  <a:cs typeface="Times New Roman" panose="02020603050405020304" pitchFamily="18" charset="0"/>
                  <a:sym typeface="Times New Roman"/>
                </a:rPr>
                <a:t>1.12</a:t>
              </a:r>
              <a:endParaRPr>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37" name="Google Shape;100;p13">
              <a:extLst>
                <a:ext uri="{FF2B5EF4-FFF2-40B4-BE49-F238E27FC236}">
                  <a16:creationId xmlns:a16="http://schemas.microsoft.com/office/drawing/2014/main" id="{FF2F2DBC-45E6-E581-FDA6-E8D4BB25401E}"/>
                </a:ext>
              </a:extLst>
            </p:cNvPr>
            <p:cNvSpPr txBox="1"/>
            <p:nvPr/>
          </p:nvSpPr>
          <p:spPr>
            <a:xfrm>
              <a:off x="692416" y="5234613"/>
              <a:ext cx="1050660"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vi-VN" sz="1800" b="1">
                  <a:solidFill>
                    <a:schemeClr val="tx1">
                      <a:lumMod val="75000"/>
                      <a:lumOff val="25000"/>
                    </a:schemeClr>
                  </a:solidFill>
                  <a:latin typeface="Times New Roman" panose="02020603050405020304" pitchFamily="18" charset="0"/>
                  <a:cs typeface="Times New Roman" panose="02020603050405020304" pitchFamily="18" charset="0"/>
                  <a:sym typeface="Times New Roman"/>
                </a:rPr>
                <a:t>7.08</a:t>
              </a:r>
              <a:r>
                <a:rPr lang="en-US" sz="1800" b="1" i="0" u="none" strike="noStrike" cap="none">
                  <a:solidFill>
                    <a:srgbClr val="16A34A"/>
                  </a:solidFill>
                  <a:latin typeface="Times New Roman" panose="02020603050405020304" pitchFamily="18" charset="0"/>
                  <a:ea typeface="Times New Roman"/>
                  <a:cs typeface="Times New Roman" panose="02020603050405020304" pitchFamily="18" charset="0"/>
                  <a:sym typeface="Times New Roman"/>
                </a:rPr>
                <a:t> </a:t>
              </a:r>
              <a:r>
                <a:rPr lang="vi-VN" sz="1200" b="1">
                  <a:solidFill>
                    <a:schemeClr val="bg1">
                      <a:lumMod val="50000"/>
                    </a:schemeClr>
                  </a:solidFill>
                  <a:latin typeface="Times New Roman" panose="02020603050405020304" pitchFamily="18" charset="0"/>
                  <a:cs typeface="Times New Roman" panose="02020603050405020304" pitchFamily="18" charset="0"/>
                  <a:sym typeface="Times New Roman"/>
                </a:rPr>
                <a:t>ĐTB</a:t>
              </a:r>
              <a:endParaRPr sz="1200" b="1">
                <a:solidFill>
                  <a:schemeClr val="bg1">
                    <a:lumMod val="50000"/>
                  </a:schemeClr>
                </a:solidFill>
                <a:latin typeface="Times New Roman" panose="02020603050405020304" pitchFamily="18" charset="0"/>
                <a:cs typeface="Times New Roman" panose="02020603050405020304" pitchFamily="18" charset="0"/>
              </a:endParaRPr>
            </a:p>
          </p:txBody>
        </p:sp>
        <p:sp>
          <p:nvSpPr>
            <p:cNvPr id="38" name="Google Shape;98;p13">
              <a:extLst>
                <a:ext uri="{FF2B5EF4-FFF2-40B4-BE49-F238E27FC236}">
                  <a16:creationId xmlns:a16="http://schemas.microsoft.com/office/drawing/2014/main" id="{A81F576D-E0F9-6FD8-F3FB-4D5FB5D7ED47}"/>
                </a:ext>
              </a:extLst>
            </p:cNvPr>
            <p:cNvSpPr txBox="1"/>
            <p:nvPr/>
          </p:nvSpPr>
          <p:spPr>
            <a:xfrm>
              <a:off x="692417" y="4987698"/>
              <a:ext cx="2306687" cy="18466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buNone/>
                <a:defRPr sz="1600" b="1">
                  <a:solidFill>
                    <a:srgbClr val="64748B"/>
                  </a:solidFill>
                  <a:latin typeface="Times New Roman" panose="02020603050405020304" pitchFamily="18" charset="0"/>
                  <a:ea typeface="Roboto"/>
                  <a:cs typeface="Times New Roman" panose="02020603050405020304" pitchFamily="18" charset="0"/>
                </a:defRPr>
              </a:lvl1pPr>
            </a:lstStyle>
            <a:p>
              <a:r>
                <a:rPr lang="vi-VN" sz="1200">
                  <a:solidFill>
                    <a:schemeClr val="tx1">
                      <a:lumMod val="65000"/>
                      <a:lumOff val="35000"/>
                    </a:schemeClr>
                  </a:solidFill>
                  <a:sym typeface="Times New Roman"/>
                </a:rPr>
                <a:t>Kinh tế</a:t>
              </a:r>
              <a:endParaRPr sz="1200">
                <a:solidFill>
                  <a:schemeClr val="tx1">
                    <a:lumMod val="65000"/>
                    <a:lumOff val="35000"/>
                  </a:schemeClr>
                </a:solidFill>
              </a:endParaRPr>
            </a:p>
          </p:txBody>
        </p:sp>
      </p:grpSp>
      <p:sp>
        <p:nvSpPr>
          <p:cNvPr id="40" name="TextBox 39">
            <a:extLst>
              <a:ext uri="{FF2B5EF4-FFF2-40B4-BE49-F238E27FC236}">
                <a16:creationId xmlns:a16="http://schemas.microsoft.com/office/drawing/2014/main" id="{0B3F3E5C-31D4-3342-E68C-7B65481750C4}"/>
              </a:ext>
            </a:extLst>
          </p:cNvPr>
          <p:cNvSpPr txBox="1"/>
          <p:nvPr/>
        </p:nvSpPr>
        <p:spPr>
          <a:xfrm>
            <a:off x="497000" y="4904151"/>
            <a:ext cx="3180731" cy="1345048"/>
          </a:xfrm>
          <a:prstGeom prst="rect">
            <a:avLst/>
          </a:prstGeom>
          <a:noFill/>
        </p:spPr>
        <p:txBody>
          <a:bodyPr wrap="square" rtlCol="0">
            <a:spAutoFit/>
          </a:bodyPr>
          <a:lstStyle/>
          <a:p>
            <a:pPr algn="just">
              <a:lnSpc>
                <a:spcPct val="150000"/>
              </a:lnSpc>
            </a:pPr>
            <a:r>
              <a:rPr lang="vi-VN">
                <a:solidFill>
                  <a:srgbClr val="475569"/>
                </a:solidFill>
                <a:latin typeface="Times New Roman" panose="02020603050405020304" pitchFamily="18" charset="0"/>
                <a:ea typeface="Roboto"/>
                <a:cs typeface="Times New Roman" panose="02020603050405020304" pitchFamily="18" charset="0"/>
                <a:sym typeface="Montserrat SemiBold"/>
              </a:rPr>
              <a:t>Việc điểm số lệch có thể đến từ sự phân hóa thấp hơn của khối Biz so với khối Tech.</a:t>
            </a:r>
            <a:endParaRPr lang="en-US">
              <a:solidFill>
                <a:srgbClr val="475569"/>
              </a:solidFill>
              <a:latin typeface="Times New Roman" panose="02020603050405020304" pitchFamily="18" charset="0"/>
              <a:ea typeface="Roboto"/>
              <a:cs typeface="Times New Roman" panose="02020603050405020304" pitchFamily="18" charset="0"/>
            </a:endParaRPr>
          </a:p>
          <a:p>
            <a:pPr>
              <a:lnSpc>
                <a:spcPct val="150000"/>
              </a:lnSpc>
            </a:pPr>
            <a:endParaRPr lang="en-US"/>
          </a:p>
        </p:txBody>
      </p:sp>
    </p:spTree>
    <p:extLst>
      <p:ext uri="{BB962C8B-B14F-4D97-AF65-F5344CB8AC3E}">
        <p14:creationId xmlns:p14="http://schemas.microsoft.com/office/powerpoint/2010/main" val="2186820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98D5C465-B6F1-CD3F-5927-CF2A6F90DFB4}"/>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EDB347A5-7896-75A3-63F1-178DE8432E76}"/>
              </a:ext>
            </a:extLst>
          </p:cNvPr>
          <p:cNvSpPr/>
          <p:nvPr/>
        </p:nvSpPr>
        <p:spPr>
          <a:xfrm>
            <a:off x="0" y="0"/>
            <a:ext cx="4229100" cy="934881"/>
          </a:xfrm>
          <a:prstGeom prst="roundRect">
            <a:avLst>
              <a:gd name="adj" fmla="val 0"/>
            </a:avLst>
          </a:prstGeom>
          <a:solidFill>
            <a:srgbClr val="3B82F6"/>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B82F6"/>
              </a:solidFill>
            </a:endParaRPr>
          </a:p>
        </p:txBody>
      </p:sp>
      <p:sp>
        <p:nvSpPr>
          <p:cNvPr id="6" name="Rectangle 5">
            <a:extLst>
              <a:ext uri="{FF2B5EF4-FFF2-40B4-BE49-F238E27FC236}">
                <a16:creationId xmlns:a16="http://schemas.microsoft.com/office/drawing/2014/main" id="{4D0EEC54-DECE-F46D-C743-BC9641B51F91}"/>
              </a:ext>
            </a:extLst>
          </p:cNvPr>
          <p:cNvSpPr/>
          <p:nvPr/>
        </p:nvSpPr>
        <p:spPr>
          <a:xfrm>
            <a:off x="0" y="66675"/>
            <a:ext cx="4229100" cy="6791325"/>
          </a:xfrm>
          <a:prstGeom prst="rect">
            <a:avLst/>
          </a:prstGeom>
          <a:solidFill>
            <a:srgbClr val="F0F6FF"/>
          </a:solidFill>
          <a:ln w="3175">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200000"/>
              </a:lnSpc>
            </a:pPr>
            <a:endParaRPr lang="en-US">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41024D48-C8CD-BDEA-2571-46442665280F}"/>
              </a:ext>
            </a:extLst>
          </p:cNvPr>
          <p:cNvGrpSpPr/>
          <p:nvPr/>
        </p:nvGrpSpPr>
        <p:grpSpPr>
          <a:xfrm>
            <a:off x="456231" y="563394"/>
            <a:ext cx="1782144" cy="439581"/>
            <a:chOff x="400050" y="495300"/>
            <a:chExt cx="1543050" cy="439581"/>
          </a:xfrm>
        </p:grpSpPr>
        <p:sp>
          <p:nvSpPr>
            <p:cNvPr id="9" name="Rectangle: Rounded Corners 8">
              <a:extLst>
                <a:ext uri="{FF2B5EF4-FFF2-40B4-BE49-F238E27FC236}">
                  <a16:creationId xmlns:a16="http://schemas.microsoft.com/office/drawing/2014/main" id="{95E6DD2D-D8DD-C1F2-8B82-7BEADA9EBE79}"/>
                </a:ext>
              </a:extLst>
            </p:cNvPr>
            <p:cNvSpPr/>
            <p:nvPr/>
          </p:nvSpPr>
          <p:spPr>
            <a:xfrm>
              <a:off x="400050" y="495300"/>
              <a:ext cx="1543050" cy="439581"/>
            </a:xfrm>
            <a:prstGeom prst="roundRect">
              <a:avLst>
                <a:gd name="adj" fmla="val 50000"/>
              </a:avLst>
            </a:prstGeom>
            <a:solidFill>
              <a:srgbClr val="3B8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BD6D720-016D-3A1F-544C-FBB45671BE85}"/>
                </a:ext>
              </a:extLst>
            </p:cNvPr>
            <p:cNvSpPr txBox="1"/>
            <p:nvPr/>
          </p:nvSpPr>
          <p:spPr>
            <a:xfrm>
              <a:off x="793432" y="561201"/>
              <a:ext cx="923925" cy="307777"/>
            </a:xfrm>
            <a:prstGeom prst="rect">
              <a:avLst/>
            </a:prstGeom>
            <a:noFill/>
          </p:spPr>
          <p:txBody>
            <a:bodyPr wrap="square" rtlCol="0">
              <a:spAutoFit/>
            </a:bodyPr>
            <a:lstStyle/>
            <a:p>
              <a:r>
                <a:rPr lang="vi-VN">
                  <a:solidFill>
                    <a:schemeClr val="bg1"/>
                  </a:solidFill>
                  <a:latin typeface="+mj-lt"/>
                </a:rPr>
                <a:t>Insight 2</a:t>
              </a:r>
              <a:endParaRPr lang="en-US">
                <a:solidFill>
                  <a:schemeClr val="bg1"/>
                </a:solidFill>
                <a:latin typeface="+mj-lt"/>
              </a:endParaRPr>
            </a:p>
          </p:txBody>
        </p:sp>
      </p:grpSp>
      <p:sp>
        <p:nvSpPr>
          <p:cNvPr id="13" name="TextBox 12">
            <a:extLst>
              <a:ext uri="{FF2B5EF4-FFF2-40B4-BE49-F238E27FC236}">
                <a16:creationId xmlns:a16="http://schemas.microsoft.com/office/drawing/2014/main" id="{DE23194F-317D-6817-A243-08B2A81AE009}"/>
              </a:ext>
            </a:extLst>
          </p:cNvPr>
          <p:cNvSpPr txBox="1"/>
          <p:nvPr/>
        </p:nvSpPr>
        <p:spPr>
          <a:xfrm>
            <a:off x="456230" y="1431600"/>
            <a:ext cx="3283805" cy="1115690"/>
          </a:xfrm>
          <a:prstGeom prst="rect">
            <a:avLst/>
          </a:prstGeom>
          <a:noFill/>
        </p:spPr>
        <p:txBody>
          <a:bodyPr wrap="square">
            <a:spAutoFit/>
          </a:bodyPr>
          <a:lstStyle/>
          <a:p>
            <a:pPr lvl="0"/>
            <a:r>
              <a:rPr lang="en-US" sz="3200">
                <a:solidFill>
                  <a:srgbClr val="1E293B"/>
                </a:solidFill>
                <a:latin typeface="Times New Roman" panose="02020603050405020304" pitchFamily="18" charset="0"/>
                <a:ea typeface="Inter"/>
                <a:cs typeface="Times New Roman" panose="02020603050405020304" pitchFamily="18" charset="0"/>
                <a:sym typeface="Inter"/>
              </a:rPr>
              <a:t>Các môn phân hóa </a:t>
            </a:r>
            <a:r>
              <a:rPr lang="en-US" sz="3450" b="1">
                <a:solidFill>
                  <a:srgbClr val="3B82F6"/>
                </a:solidFill>
                <a:latin typeface="Times New Roman" panose="02020603050405020304" pitchFamily="18" charset="0"/>
                <a:ea typeface="Inter Medium"/>
                <a:cs typeface="Times New Roman" panose="02020603050405020304" pitchFamily="18" charset="0"/>
                <a:sym typeface="Inter"/>
              </a:rPr>
              <a:t>ổn định</a:t>
            </a:r>
            <a:endParaRPr lang="en-US" sz="3450" b="1">
              <a:solidFill>
                <a:srgbClr val="3B82F6"/>
              </a:solidFill>
              <a:latin typeface="Times New Roman" panose="02020603050405020304" pitchFamily="18" charset="0"/>
              <a:ea typeface="Inter Medium"/>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5668427A-5E75-2F46-9E87-1702EA6A4D47}"/>
              </a:ext>
            </a:extLst>
          </p:cNvPr>
          <p:cNvCxnSpPr>
            <a:cxnSpLocks/>
          </p:cNvCxnSpPr>
          <p:nvPr/>
        </p:nvCxnSpPr>
        <p:spPr>
          <a:xfrm>
            <a:off x="600075" y="2695575"/>
            <a:ext cx="3180731"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6ECBFFB-A6CA-FF1A-FA9E-CAC34CF0A35A}"/>
              </a:ext>
            </a:extLst>
          </p:cNvPr>
          <p:cNvSpPr txBox="1"/>
          <p:nvPr/>
        </p:nvSpPr>
        <p:spPr>
          <a:xfrm>
            <a:off x="456230" y="2917417"/>
            <a:ext cx="3283806" cy="1992661"/>
          </a:xfrm>
          <a:prstGeom prst="rect">
            <a:avLst/>
          </a:prstGeom>
          <a:noFill/>
        </p:spPr>
        <p:txBody>
          <a:bodyPr wrap="square">
            <a:spAutoFit/>
          </a:bodyPr>
          <a:lstStyle/>
          <a:p>
            <a:pPr algn="just">
              <a:lnSpc>
                <a:spcPct val="150000"/>
              </a:lnSpc>
            </a:pPr>
            <a:r>
              <a:rPr lang="vi-VN">
                <a:solidFill>
                  <a:srgbClr val="475569"/>
                </a:solidFill>
                <a:latin typeface="Times New Roman" panose="02020603050405020304" pitchFamily="18" charset="0"/>
                <a:ea typeface="Roboto"/>
                <a:cs typeface="Times New Roman" panose="02020603050405020304" pitchFamily="18" charset="0"/>
                <a:sym typeface="Montserrat SemiBold"/>
              </a:rPr>
              <a:t>Trên thang điểm 10, độ lệch chuẩn trung bình </a:t>
            </a:r>
          </a:p>
          <a:p>
            <a:pPr algn="just">
              <a:lnSpc>
                <a:spcPct val="150000"/>
              </a:lnSpc>
            </a:pPr>
            <a:r>
              <a:rPr lang="vi-VN" sz="2800" b="1">
                <a:solidFill>
                  <a:srgbClr val="3B82F6"/>
                </a:solidFill>
                <a:latin typeface="Times New Roman" panose="02020603050405020304" pitchFamily="18" charset="0"/>
                <a:ea typeface="Roboto"/>
                <a:cs typeface="Times New Roman" panose="02020603050405020304" pitchFamily="18" charset="0"/>
                <a:sym typeface="Montserrat SemiBold"/>
              </a:rPr>
              <a:t>1.125</a:t>
            </a:r>
            <a:r>
              <a:rPr lang="vi-VN" sz="2400" b="1">
                <a:solidFill>
                  <a:srgbClr val="3B82F6"/>
                </a:solidFill>
                <a:latin typeface="Times New Roman" panose="02020603050405020304" pitchFamily="18" charset="0"/>
                <a:ea typeface="Roboto"/>
                <a:cs typeface="Times New Roman" panose="02020603050405020304" pitchFamily="18" charset="0"/>
                <a:sym typeface="Montserrat SemiBold"/>
              </a:rPr>
              <a:t> </a:t>
            </a:r>
          </a:p>
          <a:p>
            <a:pPr algn="just">
              <a:lnSpc>
                <a:spcPct val="150000"/>
              </a:lnSpc>
            </a:pPr>
            <a:r>
              <a:rPr lang="vi-VN">
                <a:solidFill>
                  <a:srgbClr val="475569"/>
                </a:solidFill>
                <a:latin typeface="Times New Roman" panose="02020603050405020304" pitchFamily="18" charset="0"/>
                <a:ea typeface="Roboto"/>
                <a:cs typeface="Times New Roman" panose="02020603050405020304" pitchFamily="18" charset="0"/>
                <a:sym typeface="Montserrat SemiBold"/>
              </a:rPr>
              <a:t>cho thấy phổ điểm sinh viên đang </a:t>
            </a:r>
            <a:r>
              <a:rPr lang="vi-VN" b="1">
                <a:solidFill>
                  <a:srgbClr val="475569"/>
                </a:solidFill>
                <a:latin typeface="Times New Roman" panose="02020603050405020304" pitchFamily="18" charset="0"/>
                <a:ea typeface="Roboto"/>
                <a:cs typeface="Times New Roman" panose="02020603050405020304" pitchFamily="18" charset="0"/>
                <a:sym typeface="Montserrat SemiBold"/>
              </a:rPr>
              <a:t>phân bố đều và ổn định</a:t>
            </a:r>
          </a:p>
        </p:txBody>
      </p:sp>
      <p:sp>
        <p:nvSpPr>
          <p:cNvPr id="19" name="TextBox 18">
            <a:extLst>
              <a:ext uri="{FF2B5EF4-FFF2-40B4-BE49-F238E27FC236}">
                <a16:creationId xmlns:a16="http://schemas.microsoft.com/office/drawing/2014/main" id="{C8B13CDE-A3F3-F98B-2369-B665F1AEC6BA}"/>
              </a:ext>
            </a:extLst>
          </p:cNvPr>
          <p:cNvSpPr txBox="1"/>
          <p:nvPr/>
        </p:nvSpPr>
        <p:spPr>
          <a:xfrm>
            <a:off x="4580202" y="431404"/>
            <a:ext cx="3031596" cy="369332"/>
          </a:xfrm>
          <a:prstGeom prst="rect">
            <a:avLst/>
          </a:prstGeom>
          <a:noFill/>
        </p:spPr>
        <p:txBody>
          <a:bodyPr wrap="square" rtlCol="0">
            <a:spAutoFit/>
          </a:bodyPr>
          <a:lstStyle/>
          <a:p>
            <a:r>
              <a:rPr lang="vi-VN" sz="1800" b="1">
                <a:solidFill>
                  <a:srgbClr val="0B60EB"/>
                </a:solidFill>
                <a:latin typeface="+mj-lt"/>
              </a:rPr>
              <a:t>Các điểm nghẽn chính</a:t>
            </a:r>
            <a:endParaRPr lang="en-US" sz="1800" b="1">
              <a:solidFill>
                <a:srgbClr val="0B60EB"/>
              </a:solidFill>
              <a:latin typeface="+mj-lt"/>
            </a:endParaRPr>
          </a:p>
        </p:txBody>
      </p:sp>
      <p:cxnSp>
        <p:nvCxnSpPr>
          <p:cNvPr id="20" name="Straight Connector 19">
            <a:extLst>
              <a:ext uri="{FF2B5EF4-FFF2-40B4-BE49-F238E27FC236}">
                <a16:creationId xmlns:a16="http://schemas.microsoft.com/office/drawing/2014/main" id="{C5C408AF-F981-4286-61CA-32FD4A59CB81}"/>
              </a:ext>
            </a:extLst>
          </p:cNvPr>
          <p:cNvCxnSpPr>
            <a:cxnSpLocks/>
          </p:cNvCxnSpPr>
          <p:nvPr/>
        </p:nvCxnSpPr>
        <p:spPr>
          <a:xfrm>
            <a:off x="4708434" y="839050"/>
            <a:ext cx="25527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D30B6AC-DB91-D230-2651-C5B12C6560F7}"/>
              </a:ext>
            </a:extLst>
          </p:cNvPr>
          <p:cNvSpPr txBox="1"/>
          <p:nvPr/>
        </p:nvSpPr>
        <p:spPr>
          <a:xfrm>
            <a:off x="4708434" y="1268099"/>
            <a:ext cx="3099878" cy="2300438"/>
          </a:xfrm>
          <a:prstGeom prst="rect">
            <a:avLst/>
          </a:prstGeom>
          <a:noFill/>
        </p:spPr>
        <p:txBody>
          <a:bodyPr wrap="square" rtlCol="0">
            <a:spAutoFit/>
          </a:bodyPr>
          <a:lstStyle/>
          <a:p>
            <a:pPr algn="just"/>
            <a:endParaRPr lang="en-US" b="1">
              <a:solidFill>
                <a:srgbClr val="003366"/>
              </a:solidFill>
              <a:latin typeface="Times New Roman" panose="02020603050405020304" pitchFamily="18" charset="0"/>
              <a:cs typeface="Times New Roman" panose="02020603050405020304" pitchFamily="18" charset="0"/>
            </a:endParaRPr>
          </a:p>
          <a:p>
            <a:pPr>
              <a:lnSpc>
                <a:spcPct val="150000"/>
              </a:lnSpc>
            </a:pPr>
            <a:r>
              <a:rPr lang="vi-VN" sz="1800" b="1">
                <a:solidFill>
                  <a:srgbClr val="003366"/>
                </a:solidFill>
                <a:latin typeface="Times New Roman" panose="02020603050405020304" pitchFamily="18" charset="0"/>
                <a:cs typeface="Times New Roman" panose="02020603050405020304" pitchFamily="18" charset="0"/>
              </a:rPr>
              <a:t>K</a:t>
            </a:r>
            <a:r>
              <a:rPr lang="en-US" sz="1800" b="1">
                <a:solidFill>
                  <a:srgbClr val="003366"/>
                </a:solidFill>
                <a:latin typeface="Times New Roman" panose="02020603050405020304" pitchFamily="18" charset="0"/>
                <a:cs typeface="Times New Roman" panose="02020603050405020304" pitchFamily="18" charset="0"/>
              </a:rPr>
              <a:t>hối kinh tế</a:t>
            </a:r>
            <a:br>
              <a:rPr lang="vi-VN" sz="1800" b="1">
                <a:solidFill>
                  <a:srgbClr val="003366"/>
                </a:solidFill>
                <a:latin typeface="Times New Roman" panose="02020603050405020304" pitchFamily="18" charset="0"/>
                <a:cs typeface="Times New Roman" panose="02020603050405020304" pitchFamily="18" charset="0"/>
              </a:rPr>
            </a:br>
            <a:r>
              <a:rPr lang="en-US" i="1">
                <a:solidFill>
                  <a:srgbClr val="475569"/>
                </a:solidFill>
                <a:latin typeface="Times New Roman" panose="02020603050405020304" pitchFamily="18" charset="0"/>
                <a:ea typeface="Roboto"/>
                <a:cs typeface="Times New Roman" panose="02020603050405020304" pitchFamily="18" charset="0"/>
              </a:rPr>
              <a:t>40% </a:t>
            </a:r>
            <a:r>
              <a:rPr lang="vi-VN" i="1">
                <a:solidFill>
                  <a:srgbClr val="475569"/>
                </a:solidFill>
                <a:latin typeface="Times New Roman" panose="02020603050405020304" pitchFamily="18" charset="0"/>
                <a:ea typeface="Roboto"/>
                <a:cs typeface="Times New Roman" panose="02020603050405020304" pitchFamily="18" charset="0"/>
              </a:rPr>
              <a:t> ở Nhóm phân hóa thấp</a:t>
            </a:r>
            <a:endParaRPr lang="vi-VN" b="1">
              <a:solidFill>
                <a:srgbClr val="003366"/>
              </a:solidFill>
              <a:latin typeface="Times New Roman" panose="02020603050405020304" pitchFamily="18" charset="0"/>
              <a:cs typeface="Times New Roman" panose="02020603050405020304" pitchFamily="18" charset="0"/>
            </a:endParaRPr>
          </a:p>
          <a:p>
            <a:pPr>
              <a:lnSpc>
                <a:spcPct val="150000"/>
              </a:lnSpc>
            </a:pPr>
            <a:endParaRPr lang="vi-VN" i="1">
              <a:solidFill>
                <a:srgbClr val="475569"/>
              </a:solidFill>
              <a:latin typeface="Times New Roman" panose="02020603050405020304" pitchFamily="18" charset="0"/>
              <a:ea typeface="Roboto"/>
              <a:cs typeface="Times New Roman" panose="02020603050405020304" pitchFamily="18" charset="0"/>
              <a:sym typeface="Lato"/>
            </a:endParaRPr>
          </a:p>
          <a:p>
            <a:pPr marL="285750" indent="-285750">
              <a:lnSpc>
                <a:spcPct val="150000"/>
              </a:lnSpc>
              <a:buFont typeface="Wingdings" panose="05000000000000000000" pitchFamily="2" charset="2"/>
              <a:buChar char="§"/>
            </a:pPr>
            <a:endParaRPr lang="vi-VN" i="1">
              <a:solidFill>
                <a:srgbClr val="475569"/>
              </a:solidFill>
              <a:latin typeface="Times New Roman" panose="02020603050405020304" pitchFamily="18" charset="0"/>
              <a:ea typeface="Roboto"/>
              <a:cs typeface="Times New Roman" panose="02020603050405020304" pitchFamily="18" charset="0"/>
              <a:sym typeface="Lato"/>
            </a:endParaRPr>
          </a:p>
          <a:p>
            <a:pPr marL="285750" indent="-285750">
              <a:lnSpc>
                <a:spcPct val="150000"/>
              </a:lnSpc>
              <a:buFont typeface="Wingdings" panose="05000000000000000000" pitchFamily="2" charset="2"/>
              <a:buChar char="§"/>
            </a:pPr>
            <a:endParaRPr lang="vi-VN" i="1">
              <a:solidFill>
                <a:srgbClr val="475569"/>
              </a:solidFill>
              <a:latin typeface="Times New Roman" panose="02020603050405020304" pitchFamily="18" charset="0"/>
              <a:ea typeface="Roboto"/>
              <a:cs typeface="Times New Roman" panose="02020603050405020304" pitchFamily="18" charset="0"/>
              <a:sym typeface="Lato"/>
            </a:endParaRPr>
          </a:p>
          <a:p>
            <a:pPr>
              <a:lnSpc>
                <a:spcPct val="150000"/>
              </a:lnSpc>
            </a:pPr>
            <a:endParaRPr lang="en-US" b="1">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B2C6C62-E303-B016-AB0D-E94FF8A8742A}"/>
              </a:ext>
            </a:extLst>
          </p:cNvPr>
          <p:cNvSpPr txBox="1"/>
          <p:nvPr/>
        </p:nvSpPr>
        <p:spPr>
          <a:xfrm>
            <a:off x="456229" y="4910078"/>
            <a:ext cx="3283806" cy="1063753"/>
          </a:xfrm>
          <a:prstGeom prst="rect">
            <a:avLst/>
          </a:prstGeom>
          <a:noFill/>
        </p:spPr>
        <p:txBody>
          <a:bodyPr wrap="square">
            <a:spAutoFit/>
          </a:bodyPr>
          <a:lstStyle/>
          <a:p>
            <a:pPr algn="just">
              <a:lnSpc>
                <a:spcPct val="150000"/>
              </a:lnSpc>
            </a:pPr>
            <a:r>
              <a:rPr lang="vi-VN">
                <a:solidFill>
                  <a:srgbClr val="475569"/>
                </a:solidFill>
                <a:latin typeface="Times New Roman" panose="02020603050405020304" pitchFamily="18" charset="0"/>
                <a:ea typeface="Roboto"/>
                <a:cs typeface="Times New Roman" panose="02020603050405020304" pitchFamily="18" charset="0"/>
                <a:sym typeface="Montserrat SemiBold"/>
              </a:rPr>
              <a:t>Các môn học phân hóa ổn định </a:t>
            </a:r>
            <a:r>
              <a:rPr lang="vi-VN" b="1">
                <a:solidFill>
                  <a:srgbClr val="475569"/>
                </a:solidFill>
                <a:latin typeface="Times New Roman" panose="02020603050405020304" pitchFamily="18" charset="0"/>
                <a:ea typeface="Roboto"/>
                <a:cs typeface="Times New Roman" panose="02020603050405020304" pitchFamily="18" charset="0"/>
                <a:sym typeface="Montserrat SemiBold"/>
              </a:rPr>
              <a:t>theo nhóm môn</a:t>
            </a:r>
            <a:r>
              <a:rPr lang="vi-VN">
                <a:solidFill>
                  <a:srgbClr val="475569"/>
                </a:solidFill>
                <a:latin typeface="Times New Roman" panose="02020603050405020304" pitchFamily="18" charset="0"/>
                <a:ea typeface="Roboto"/>
                <a:cs typeface="Times New Roman" panose="02020603050405020304" pitchFamily="18" charset="0"/>
                <a:sym typeface="Montserrat SemiBold"/>
              </a:rPr>
              <a:t>. Đồng thời mức phân hóa các môn </a:t>
            </a:r>
            <a:r>
              <a:rPr lang="vi-VN" sz="1600" b="1">
                <a:solidFill>
                  <a:srgbClr val="0B60EB"/>
                </a:solidFill>
                <a:latin typeface="Times New Roman" panose="02020603050405020304" pitchFamily="18" charset="0"/>
                <a:ea typeface="Roboto"/>
                <a:cs typeface="Times New Roman" panose="02020603050405020304" pitchFamily="18" charset="0"/>
                <a:sym typeface="Montserrat SemiBold"/>
              </a:rPr>
              <a:t>Kỹ thuật</a:t>
            </a:r>
            <a:r>
              <a:rPr lang="vi-VN">
                <a:solidFill>
                  <a:srgbClr val="475569"/>
                </a:solidFill>
                <a:latin typeface="Times New Roman" panose="02020603050405020304" pitchFamily="18" charset="0"/>
                <a:ea typeface="Roboto"/>
                <a:cs typeface="Times New Roman" panose="02020603050405020304" pitchFamily="18" charset="0"/>
                <a:sym typeface="Montserrat SemiBold"/>
              </a:rPr>
              <a:t> cao hơn khi so với </a:t>
            </a:r>
            <a:r>
              <a:rPr lang="vi-VN" sz="1600" b="1">
                <a:solidFill>
                  <a:schemeClr val="tx1"/>
                </a:solidFill>
                <a:latin typeface="Times New Roman" panose="02020603050405020304" pitchFamily="18" charset="0"/>
                <a:ea typeface="Roboto"/>
                <a:cs typeface="Times New Roman" panose="02020603050405020304" pitchFamily="18" charset="0"/>
                <a:sym typeface="Montserrat SemiBold"/>
              </a:rPr>
              <a:t>Kinh tế.</a:t>
            </a:r>
          </a:p>
        </p:txBody>
      </p:sp>
      <p:sp>
        <p:nvSpPr>
          <p:cNvPr id="12" name="TextBox 11">
            <a:extLst>
              <a:ext uri="{FF2B5EF4-FFF2-40B4-BE49-F238E27FC236}">
                <a16:creationId xmlns:a16="http://schemas.microsoft.com/office/drawing/2014/main" id="{7155AB58-6ED2-50F4-9956-0F741121AB43}"/>
              </a:ext>
            </a:extLst>
          </p:cNvPr>
          <p:cNvSpPr txBox="1"/>
          <p:nvPr/>
        </p:nvSpPr>
        <p:spPr>
          <a:xfrm>
            <a:off x="8486169" y="410896"/>
            <a:ext cx="2190750" cy="369332"/>
          </a:xfrm>
          <a:prstGeom prst="rect">
            <a:avLst/>
          </a:prstGeom>
          <a:noFill/>
        </p:spPr>
        <p:txBody>
          <a:bodyPr wrap="square" rtlCol="0">
            <a:spAutoFit/>
          </a:bodyPr>
          <a:lstStyle/>
          <a:p>
            <a:r>
              <a:rPr lang="vi-VN" sz="1800" b="1">
                <a:solidFill>
                  <a:srgbClr val="0B60EB"/>
                </a:solidFill>
                <a:latin typeface="+mj-lt"/>
              </a:rPr>
              <a:t>Nguyên nhân</a:t>
            </a:r>
            <a:endParaRPr lang="en-US" sz="1800" b="1">
              <a:solidFill>
                <a:srgbClr val="0B60EB"/>
              </a:solidFill>
              <a:latin typeface="+mj-lt"/>
            </a:endParaRPr>
          </a:p>
        </p:txBody>
      </p:sp>
      <p:sp>
        <p:nvSpPr>
          <p:cNvPr id="24" name="TextBox 23">
            <a:extLst>
              <a:ext uri="{FF2B5EF4-FFF2-40B4-BE49-F238E27FC236}">
                <a16:creationId xmlns:a16="http://schemas.microsoft.com/office/drawing/2014/main" id="{DE63FC34-D55B-E61F-54CB-757CB15588F7}"/>
              </a:ext>
            </a:extLst>
          </p:cNvPr>
          <p:cNvSpPr txBox="1"/>
          <p:nvPr/>
        </p:nvSpPr>
        <p:spPr>
          <a:xfrm>
            <a:off x="8577045" y="839050"/>
            <a:ext cx="3066276" cy="3541354"/>
          </a:xfrm>
          <a:prstGeom prst="rect">
            <a:avLst/>
          </a:prstGeom>
          <a:noFill/>
        </p:spPr>
        <p:txBody>
          <a:bodyPr wrap="square" rtlCol="0">
            <a:spAutoFit/>
          </a:bodyPr>
          <a:lstStyle/>
          <a:p>
            <a:pPr algn="just"/>
            <a:endParaRPr lang="en-US" b="1">
              <a:solidFill>
                <a:srgbClr val="003366"/>
              </a:solidFill>
              <a:latin typeface="Times New Roman" panose="02020603050405020304" pitchFamily="18" charset="0"/>
              <a:cs typeface="Times New Roman" panose="02020603050405020304" pitchFamily="18" charset="0"/>
            </a:endParaRPr>
          </a:p>
          <a:p>
            <a:pPr marL="285750" lvl="0" indent="-285750" algn="just">
              <a:lnSpc>
                <a:spcPct val="150000"/>
              </a:lnSpc>
              <a:buFont typeface="Wingdings" panose="05000000000000000000" pitchFamily="2" charset="2"/>
              <a:buChar char="§"/>
            </a:pPr>
            <a:r>
              <a:rPr lang="en-US" sz="1600" b="1">
                <a:solidFill>
                  <a:srgbClr val="003366"/>
                </a:solidFill>
                <a:latin typeface="Times New Roman" panose="02020603050405020304" pitchFamily="18" charset="0"/>
                <a:cs typeface="Times New Roman" panose="02020603050405020304" pitchFamily="18" charset="0"/>
                <a:sym typeface="Lato"/>
              </a:rPr>
              <a:t>Cấu trúc đề thi</a:t>
            </a:r>
            <a:endParaRPr lang="vi-VN" sz="1600" b="1">
              <a:solidFill>
                <a:srgbClr val="003366"/>
              </a:solidFill>
              <a:latin typeface="Times New Roman" panose="02020603050405020304" pitchFamily="18" charset="0"/>
              <a:cs typeface="Times New Roman" panose="02020603050405020304" pitchFamily="18" charset="0"/>
              <a:sym typeface="Lato"/>
            </a:endParaRPr>
          </a:p>
          <a:p>
            <a:pPr lvl="0" algn="just">
              <a:lnSpc>
                <a:spcPct val="150000"/>
              </a:lnSpc>
            </a:pPr>
            <a:endParaRPr lang="vi-VN" i="1">
              <a:solidFill>
                <a:srgbClr val="475569"/>
              </a:solidFill>
              <a:latin typeface="Times New Roman" panose="02020603050405020304" pitchFamily="18" charset="0"/>
              <a:ea typeface="Roboto"/>
              <a:cs typeface="Times New Roman" panose="02020603050405020304" pitchFamily="18" charset="0"/>
            </a:endParaRPr>
          </a:p>
          <a:p>
            <a:pPr marL="285750" indent="-285750">
              <a:lnSpc>
                <a:spcPct val="150000"/>
              </a:lnSpc>
              <a:buFont typeface="Wingdings" panose="05000000000000000000" pitchFamily="2" charset="2"/>
              <a:buChar char="§"/>
            </a:pPr>
            <a:r>
              <a:rPr lang="vi-VN" sz="1600" b="1">
                <a:solidFill>
                  <a:srgbClr val="003366"/>
                </a:solidFill>
                <a:latin typeface="Times New Roman" panose="02020603050405020304" pitchFamily="18" charset="0"/>
                <a:cs typeface="Times New Roman" panose="02020603050405020304" pitchFamily="18" charset="0"/>
                <a:sym typeface="Lato"/>
              </a:rPr>
              <a:t>Tính chất môn học</a:t>
            </a:r>
          </a:p>
          <a:p>
            <a:pPr>
              <a:lnSpc>
                <a:spcPct val="150000"/>
              </a:lnSpc>
            </a:pPr>
            <a:endParaRPr lang="vi-VN" sz="160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vi-VN" sz="1600" b="1">
                <a:solidFill>
                  <a:srgbClr val="003366"/>
                </a:solidFill>
                <a:latin typeface="Times New Roman" panose="02020603050405020304" pitchFamily="18" charset="0"/>
                <a:cs typeface="Times New Roman" panose="02020603050405020304" pitchFamily="18" charset="0"/>
                <a:sym typeface="Lato"/>
              </a:rPr>
              <a:t>Phương pháp đánh giá</a:t>
            </a:r>
          </a:p>
          <a:p>
            <a:pPr>
              <a:lnSpc>
                <a:spcPct val="150000"/>
              </a:lnSpc>
            </a:pPr>
            <a:endParaRPr lang="vi-VN" sz="1600" b="1">
              <a:solidFill>
                <a:srgbClr val="003366"/>
              </a:solidFill>
              <a:latin typeface="Times New Roman" panose="02020603050405020304" pitchFamily="18" charset="0"/>
              <a:cs typeface="Times New Roman" panose="02020603050405020304" pitchFamily="18" charset="0"/>
              <a:sym typeface="Lato"/>
            </a:endParaRPr>
          </a:p>
          <a:p>
            <a:pPr marL="285750" indent="-285750">
              <a:lnSpc>
                <a:spcPct val="150000"/>
              </a:lnSpc>
              <a:buFont typeface="Wingdings" panose="05000000000000000000" pitchFamily="2" charset="2"/>
              <a:buChar char="§"/>
            </a:pPr>
            <a:r>
              <a:rPr lang="vi-VN" sz="1600" b="1">
                <a:solidFill>
                  <a:srgbClr val="003366"/>
                </a:solidFill>
                <a:latin typeface="Times New Roman" panose="02020603050405020304" pitchFamily="18" charset="0"/>
                <a:cs typeface="Times New Roman" panose="02020603050405020304" pitchFamily="18" charset="0"/>
                <a:sym typeface="Lato"/>
              </a:rPr>
              <a:t>Bản chất ngành KHDLTKD</a:t>
            </a:r>
          </a:p>
          <a:p>
            <a:pPr>
              <a:lnSpc>
                <a:spcPct val="150000"/>
              </a:lnSpc>
            </a:pPr>
            <a:endParaRPr lang="vi-VN" sz="1600" b="1">
              <a:solidFill>
                <a:srgbClr val="003366"/>
              </a:solidFill>
              <a:latin typeface="Times New Roman" panose="02020603050405020304" pitchFamily="18" charset="0"/>
              <a:cs typeface="Times New Roman" panose="02020603050405020304" pitchFamily="18" charset="0"/>
              <a:sym typeface="Lato"/>
            </a:endParaRPr>
          </a:p>
          <a:p>
            <a:pPr marL="285750" indent="-285750">
              <a:lnSpc>
                <a:spcPct val="150000"/>
              </a:lnSpc>
              <a:buFont typeface="Wingdings" panose="05000000000000000000" pitchFamily="2" charset="2"/>
              <a:buChar char="§"/>
            </a:pPr>
            <a:r>
              <a:rPr lang="vi-VN" sz="1600" b="1">
                <a:solidFill>
                  <a:srgbClr val="003366"/>
                </a:solidFill>
                <a:latin typeface="Times New Roman" panose="02020603050405020304" pitchFamily="18" charset="0"/>
                <a:cs typeface="Times New Roman" panose="02020603050405020304" pitchFamily="18" charset="0"/>
              </a:rPr>
              <a:t>Các môn học năm 1</a:t>
            </a:r>
          </a:p>
        </p:txBody>
      </p:sp>
      <p:sp>
        <p:nvSpPr>
          <p:cNvPr id="75" name="Rectangle: Rounded Corners 74">
            <a:extLst>
              <a:ext uri="{FF2B5EF4-FFF2-40B4-BE49-F238E27FC236}">
                <a16:creationId xmlns:a16="http://schemas.microsoft.com/office/drawing/2014/main" id="{469B9164-7619-D239-3C5F-CBD152DDC8B8}"/>
              </a:ext>
            </a:extLst>
          </p:cNvPr>
          <p:cNvSpPr/>
          <p:nvPr/>
        </p:nvSpPr>
        <p:spPr>
          <a:xfrm>
            <a:off x="4650665" y="1367617"/>
            <a:ext cx="3109417" cy="2765998"/>
          </a:xfrm>
          <a:prstGeom prst="roundRect">
            <a:avLst>
              <a:gd name="adj" fmla="val 2902"/>
            </a:avLst>
          </a:prstGeom>
          <a:noFill/>
          <a:ln>
            <a:solidFill>
              <a:srgbClr val="0B60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2B74152B-36C1-BE1F-8992-9D714F87931A}"/>
              </a:ext>
            </a:extLst>
          </p:cNvPr>
          <p:cNvSpPr txBox="1"/>
          <p:nvPr/>
        </p:nvSpPr>
        <p:spPr>
          <a:xfrm>
            <a:off x="4799534" y="4891892"/>
            <a:ext cx="2973827" cy="791050"/>
          </a:xfrm>
          <a:prstGeom prst="rect">
            <a:avLst/>
          </a:prstGeom>
          <a:noFill/>
        </p:spPr>
        <p:txBody>
          <a:bodyPr wrap="square" rtlCol="0">
            <a:spAutoFit/>
          </a:bodyPr>
          <a:lstStyle/>
          <a:p>
            <a:pPr>
              <a:lnSpc>
                <a:spcPct val="150000"/>
              </a:lnSpc>
            </a:pPr>
            <a:r>
              <a:rPr lang="en-US" sz="1800" b="1">
                <a:solidFill>
                  <a:srgbClr val="643F04"/>
                </a:solidFill>
                <a:latin typeface="Times New Roman" panose="02020603050405020304" pitchFamily="18" charset="0"/>
                <a:cs typeface="Times New Roman" panose="02020603050405020304" pitchFamily="18" charset="0"/>
              </a:rPr>
              <a:t>Chuỗi khối, TT HCM</a:t>
            </a:r>
            <a:br>
              <a:rPr lang="vi-VN" sz="1800" b="1">
                <a:solidFill>
                  <a:srgbClr val="643F04"/>
                </a:solidFill>
                <a:latin typeface="Times New Roman" panose="02020603050405020304" pitchFamily="18" charset="0"/>
                <a:cs typeface="Times New Roman" panose="02020603050405020304" pitchFamily="18" charset="0"/>
              </a:rPr>
            </a:br>
            <a:r>
              <a:rPr lang="vi-VN" i="1">
                <a:solidFill>
                  <a:srgbClr val="643F04"/>
                </a:solidFill>
                <a:latin typeface="Times New Roman" panose="02020603050405020304" pitchFamily="18" charset="0"/>
                <a:ea typeface="Roboto"/>
                <a:cs typeface="Times New Roman" panose="02020603050405020304" pitchFamily="18" charset="0"/>
              </a:rPr>
              <a:t>Hiện tượng “</a:t>
            </a:r>
            <a:r>
              <a:rPr lang="vi-VN" b="1" i="1">
                <a:solidFill>
                  <a:srgbClr val="643F04"/>
                </a:solidFill>
                <a:latin typeface="Times New Roman" panose="02020603050405020304" pitchFamily="18" charset="0"/>
                <a:ea typeface="Roboto"/>
                <a:cs typeface="Times New Roman" panose="02020603050405020304" pitchFamily="18" charset="0"/>
              </a:rPr>
              <a:t>lạm phát</a:t>
            </a:r>
            <a:endParaRPr lang="en-US" b="1" i="1">
              <a:solidFill>
                <a:srgbClr val="643F04"/>
              </a:solidFill>
              <a:latin typeface="Times New Roman" panose="02020603050405020304" pitchFamily="18" charset="0"/>
              <a:ea typeface="Roboto"/>
              <a:cs typeface="Times New Roman" panose="02020603050405020304" pitchFamily="18" charset="0"/>
            </a:endParaRPr>
          </a:p>
        </p:txBody>
      </p:sp>
      <p:sp>
        <p:nvSpPr>
          <p:cNvPr id="78" name="TextBox 77">
            <a:extLst>
              <a:ext uri="{FF2B5EF4-FFF2-40B4-BE49-F238E27FC236}">
                <a16:creationId xmlns:a16="http://schemas.microsoft.com/office/drawing/2014/main" id="{545A85E1-5E5D-075F-1B9E-4539A6DD1F22}"/>
              </a:ext>
            </a:extLst>
          </p:cNvPr>
          <p:cNvSpPr txBox="1"/>
          <p:nvPr/>
        </p:nvSpPr>
        <p:spPr>
          <a:xfrm>
            <a:off x="4792894" y="2302343"/>
            <a:ext cx="2973827" cy="1831271"/>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b="1">
                <a:solidFill>
                  <a:srgbClr val="003366"/>
                </a:solidFill>
                <a:latin typeface="Times New Roman" panose="02020603050405020304" pitchFamily="18" charset="0"/>
                <a:cs typeface="Times New Roman" panose="02020603050405020304" pitchFamily="18" charset="0"/>
              </a:rPr>
              <a:t>Nhóm KT Quản trị &amp; Lý luận</a:t>
            </a:r>
            <a:r>
              <a:rPr lang="vi-VN" b="1">
                <a:solidFill>
                  <a:srgbClr val="003366"/>
                </a:solidFill>
                <a:latin typeface="Times New Roman" panose="02020603050405020304" pitchFamily="18" charset="0"/>
                <a:cs typeface="Times New Roman" panose="02020603050405020304" pitchFamily="18" charset="0"/>
              </a:rPr>
              <a:t> </a:t>
            </a:r>
            <a:br>
              <a:rPr lang="vi-VN" b="1">
                <a:solidFill>
                  <a:schemeClr val="tx1">
                    <a:lumMod val="65000"/>
                    <a:lumOff val="35000"/>
                  </a:schemeClr>
                </a:solidFill>
                <a:latin typeface="Times New Roman" panose="02020603050405020304" pitchFamily="18" charset="0"/>
                <a:cs typeface="Times New Roman" panose="02020603050405020304" pitchFamily="18" charset="0"/>
              </a:rPr>
            </a:br>
            <a:r>
              <a:rPr lang="vi-VN" sz="1200" i="1">
                <a:solidFill>
                  <a:srgbClr val="475569"/>
                </a:solidFill>
                <a:latin typeface="Times New Roman" panose="02020603050405020304" pitchFamily="18" charset="0"/>
                <a:ea typeface="Roboto"/>
                <a:cs typeface="Times New Roman" panose="02020603050405020304" pitchFamily="18" charset="0"/>
              </a:rPr>
              <a:t>Nhóm phân hóa thấp</a:t>
            </a:r>
          </a:p>
          <a:p>
            <a:pPr marL="285750" indent="-285750">
              <a:lnSpc>
                <a:spcPct val="150000"/>
              </a:lnSpc>
              <a:buFont typeface="Wingdings" panose="05000000000000000000" pitchFamily="2" charset="2"/>
              <a:buChar char="§"/>
            </a:pPr>
            <a:r>
              <a:rPr lang="en-US" b="1">
                <a:solidFill>
                  <a:srgbClr val="003366"/>
                </a:solidFill>
                <a:latin typeface="Times New Roman" panose="02020603050405020304" pitchFamily="18" charset="0"/>
                <a:cs typeface="Times New Roman" panose="02020603050405020304" pitchFamily="18" charset="0"/>
                <a:sym typeface="Lato"/>
              </a:rPr>
              <a:t>NL Marketing, Quản trị học, </a:t>
            </a:r>
            <a:r>
              <a:rPr lang="vi-VN" b="1">
                <a:solidFill>
                  <a:srgbClr val="003366"/>
                </a:solidFill>
                <a:latin typeface="Times New Roman" panose="02020603050405020304" pitchFamily="18" charset="0"/>
                <a:cs typeface="Times New Roman" panose="02020603050405020304" pitchFamily="18" charset="0"/>
                <a:sym typeface="Lato"/>
              </a:rPr>
              <a:t>TMĐT</a:t>
            </a:r>
            <a:br>
              <a:rPr lang="vi-VN" b="1">
                <a:solidFill>
                  <a:srgbClr val="003366"/>
                </a:solidFill>
                <a:latin typeface="Times New Roman" panose="02020603050405020304" pitchFamily="18" charset="0"/>
                <a:cs typeface="Times New Roman" panose="02020603050405020304" pitchFamily="18" charset="0"/>
                <a:sym typeface="Lato"/>
              </a:rPr>
            </a:br>
            <a:r>
              <a:rPr lang="vi-VN" sz="1200" i="1">
                <a:solidFill>
                  <a:srgbClr val="475569"/>
                </a:solidFill>
                <a:latin typeface="Times New Roman" panose="02020603050405020304" pitchFamily="18" charset="0"/>
                <a:ea typeface="Roboto"/>
                <a:cs typeface="Times New Roman" panose="02020603050405020304" pitchFamily="18" charset="0"/>
                <a:sym typeface="Lato"/>
              </a:rPr>
              <a:t>Hiện tượng “</a:t>
            </a:r>
            <a:r>
              <a:rPr lang="vi-VN" sz="1200" b="1" i="1">
                <a:solidFill>
                  <a:srgbClr val="475569"/>
                </a:solidFill>
                <a:latin typeface="Times New Roman" panose="02020603050405020304" pitchFamily="18" charset="0"/>
                <a:ea typeface="Roboto"/>
                <a:cs typeface="Times New Roman" panose="02020603050405020304" pitchFamily="18" charset="0"/>
                <a:sym typeface="Lato"/>
              </a:rPr>
              <a:t>mắc kẹt</a:t>
            </a:r>
            <a:r>
              <a:rPr lang="vi-VN" sz="1200" i="1">
                <a:solidFill>
                  <a:srgbClr val="475569"/>
                </a:solidFill>
                <a:latin typeface="Times New Roman" panose="02020603050405020304" pitchFamily="18" charset="0"/>
                <a:ea typeface="Roboto"/>
                <a:cs typeface="Times New Roman" panose="02020603050405020304" pitchFamily="18" charset="0"/>
                <a:sym typeface="Lato"/>
              </a:rPr>
              <a:t>”</a:t>
            </a:r>
          </a:p>
          <a:p>
            <a:endParaRPr lang="en-US"/>
          </a:p>
        </p:txBody>
      </p:sp>
      <p:sp>
        <p:nvSpPr>
          <p:cNvPr id="84" name="Rectangle: Rounded Corners 83">
            <a:extLst>
              <a:ext uri="{FF2B5EF4-FFF2-40B4-BE49-F238E27FC236}">
                <a16:creationId xmlns:a16="http://schemas.microsoft.com/office/drawing/2014/main" id="{D79E2299-491F-6E6C-D613-54EB3FD142DB}"/>
              </a:ext>
            </a:extLst>
          </p:cNvPr>
          <p:cNvSpPr/>
          <p:nvPr/>
        </p:nvSpPr>
        <p:spPr>
          <a:xfrm>
            <a:off x="4657304" y="4710424"/>
            <a:ext cx="3109417" cy="1150285"/>
          </a:xfrm>
          <a:prstGeom prst="roundRect">
            <a:avLst>
              <a:gd name="adj" fmla="val 2902"/>
            </a:avLst>
          </a:prstGeom>
          <a:no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Rounded Corners 107">
            <a:extLst>
              <a:ext uri="{FF2B5EF4-FFF2-40B4-BE49-F238E27FC236}">
                <a16:creationId xmlns:a16="http://schemas.microsoft.com/office/drawing/2014/main" id="{AFD1BBB6-9EB9-A060-481A-337CD1943DF3}"/>
              </a:ext>
            </a:extLst>
          </p:cNvPr>
          <p:cNvSpPr/>
          <p:nvPr/>
        </p:nvSpPr>
        <p:spPr>
          <a:xfrm>
            <a:off x="8577045" y="1002975"/>
            <a:ext cx="3109417" cy="3377423"/>
          </a:xfrm>
          <a:prstGeom prst="roundRect">
            <a:avLst>
              <a:gd name="adj" fmla="val 2902"/>
            </a:avLst>
          </a:prstGeom>
          <a:noFill/>
          <a:ln w="9525">
            <a:solidFill>
              <a:srgbClr val="0B60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2" name="Straight Connector 111">
            <a:extLst>
              <a:ext uri="{FF2B5EF4-FFF2-40B4-BE49-F238E27FC236}">
                <a16:creationId xmlns:a16="http://schemas.microsoft.com/office/drawing/2014/main" id="{C0B7F067-C8AA-541A-62DF-2E4EF4588A53}"/>
              </a:ext>
            </a:extLst>
          </p:cNvPr>
          <p:cNvCxnSpPr>
            <a:cxnSpLocks/>
          </p:cNvCxnSpPr>
          <p:nvPr/>
        </p:nvCxnSpPr>
        <p:spPr>
          <a:xfrm>
            <a:off x="7808312" y="2743077"/>
            <a:ext cx="768733" cy="0"/>
          </a:xfrm>
          <a:prstGeom prst="line">
            <a:avLst/>
          </a:prstGeom>
        </p:spPr>
        <p:style>
          <a:lnRef idx="1">
            <a:schemeClr val="accent1"/>
          </a:lnRef>
          <a:fillRef idx="0">
            <a:schemeClr val="accent1"/>
          </a:fillRef>
          <a:effectRef idx="0">
            <a:schemeClr val="accent1"/>
          </a:effectRef>
          <a:fontRef idx="minor">
            <a:schemeClr val="tx1"/>
          </a:fontRef>
        </p:style>
      </p:cxnSp>
      <p:sp>
        <p:nvSpPr>
          <p:cNvPr id="116" name="Rectangle: Rounded Corners 115">
            <a:extLst>
              <a:ext uri="{FF2B5EF4-FFF2-40B4-BE49-F238E27FC236}">
                <a16:creationId xmlns:a16="http://schemas.microsoft.com/office/drawing/2014/main" id="{FC8E0948-C62B-F4EA-A583-CA564370DEE5}"/>
              </a:ext>
            </a:extLst>
          </p:cNvPr>
          <p:cNvSpPr/>
          <p:nvPr/>
        </p:nvSpPr>
        <p:spPr>
          <a:xfrm>
            <a:off x="8577045" y="5094439"/>
            <a:ext cx="3016968" cy="527246"/>
          </a:xfrm>
          <a:prstGeom prst="roundRect">
            <a:avLst>
              <a:gd name="adj" fmla="val 2902"/>
            </a:avLst>
          </a:prstGeom>
          <a:noFill/>
          <a:ln w="9525">
            <a:solidFill>
              <a:srgbClr val="FAD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TextBox 116">
            <a:extLst>
              <a:ext uri="{FF2B5EF4-FFF2-40B4-BE49-F238E27FC236}">
                <a16:creationId xmlns:a16="http://schemas.microsoft.com/office/drawing/2014/main" id="{35D4F358-3425-D887-9422-B0E68D8EF952}"/>
              </a:ext>
            </a:extLst>
          </p:cNvPr>
          <p:cNvSpPr txBox="1"/>
          <p:nvPr/>
        </p:nvSpPr>
        <p:spPr>
          <a:xfrm>
            <a:off x="8552391" y="5094439"/>
            <a:ext cx="3066276" cy="458074"/>
          </a:xfrm>
          <a:prstGeom prst="rect">
            <a:avLst/>
          </a:prstGeom>
          <a:noFill/>
        </p:spPr>
        <p:txBody>
          <a:bodyPr wrap="square" rtlCol="0">
            <a:spAutoFit/>
          </a:bodyPr>
          <a:lstStyle/>
          <a:p>
            <a:pPr marL="285750" lvl="0" indent="-285750" algn="just">
              <a:lnSpc>
                <a:spcPct val="150000"/>
              </a:lnSpc>
              <a:buFont typeface="Wingdings" panose="05000000000000000000" pitchFamily="2" charset="2"/>
              <a:buChar char="§"/>
            </a:pPr>
            <a:r>
              <a:rPr lang="vi-VN" sz="1800" b="1">
                <a:solidFill>
                  <a:srgbClr val="643F04"/>
                </a:solidFill>
                <a:latin typeface="Times New Roman" panose="02020603050405020304" pitchFamily="18" charset="0"/>
                <a:cs typeface="Times New Roman" panose="02020603050405020304" pitchFamily="18" charset="0"/>
              </a:rPr>
              <a:t>Yếu tố giảng viên</a:t>
            </a:r>
          </a:p>
        </p:txBody>
      </p:sp>
      <p:cxnSp>
        <p:nvCxnSpPr>
          <p:cNvPr id="118" name="Straight Connector 117">
            <a:extLst>
              <a:ext uri="{FF2B5EF4-FFF2-40B4-BE49-F238E27FC236}">
                <a16:creationId xmlns:a16="http://schemas.microsoft.com/office/drawing/2014/main" id="{2BFCF655-1D48-33EA-F027-6851E0152493}"/>
              </a:ext>
            </a:extLst>
          </p:cNvPr>
          <p:cNvCxnSpPr>
            <a:cxnSpLocks/>
          </p:cNvCxnSpPr>
          <p:nvPr/>
        </p:nvCxnSpPr>
        <p:spPr>
          <a:xfrm>
            <a:off x="7808312" y="5378868"/>
            <a:ext cx="768733" cy="0"/>
          </a:xfrm>
          <a:prstGeom prst="line">
            <a:avLst/>
          </a:prstGeom>
          <a:ln>
            <a:solidFill>
              <a:srgbClr val="F59E0B"/>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E3694D7F-9AF9-8E88-9999-62B0D1C86529}"/>
              </a:ext>
            </a:extLst>
          </p:cNvPr>
          <p:cNvCxnSpPr>
            <a:cxnSpLocks/>
          </p:cNvCxnSpPr>
          <p:nvPr/>
        </p:nvCxnSpPr>
        <p:spPr>
          <a:xfrm>
            <a:off x="8577045" y="809653"/>
            <a:ext cx="25527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02860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8450F202-ACB5-9024-AA3F-B76EB96F638A}"/>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9C360FB1-9EAE-6DCD-8229-F7EBD4A5EA28}"/>
              </a:ext>
            </a:extLst>
          </p:cNvPr>
          <p:cNvSpPr/>
          <p:nvPr/>
        </p:nvSpPr>
        <p:spPr>
          <a:xfrm>
            <a:off x="0" y="0"/>
            <a:ext cx="4229100" cy="934881"/>
          </a:xfrm>
          <a:prstGeom prst="roundRect">
            <a:avLst>
              <a:gd name="adj" fmla="val 0"/>
            </a:avLst>
          </a:prstGeom>
          <a:solidFill>
            <a:srgbClr val="3B82F6"/>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B82F6"/>
              </a:solidFill>
            </a:endParaRPr>
          </a:p>
        </p:txBody>
      </p:sp>
      <p:sp>
        <p:nvSpPr>
          <p:cNvPr id="6" name="Rectangle 5">
            <a:extLst>
              <a:ext uri="{FF2B5EF4-FFF2-40B4-BE49-F238E27FC236}">
                <a16:creationId xmlns:a16="http://schemas.microsoft.com/office/drawing/2014/main" id="{9102F139-4B5D-F44D-8AAE-115494398FDD}"/>
              </a:ext>
            </a:extLst>
          </p:cNvPr>
          <p:cNvSpPr/>
          <p:nvPr/>
        </p:nvSpPr>
        <p:spPr>
          <a:xfrm>
            <a:off x="0" y="66675"/>
            <a:ext cx="4229100" cy="6791325"/>
          </a:xfrm>
          <a:prstGeom prst="rect">
            <a:avLst/>
          </a:prstGeom>
          <a:solidFill>
            <a:srgbClr val="F0F6FF"/>
          </a:solidFill>
          <a:ln w="3175">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200000"/>
              </a:lnSpc>
            </a:pPr>
            <a:endParaRPr lang="en-US">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F1D37B63-B755-0039-8441-9E90A3509679}"/>
              </a:ext>
            </a:extLst>
          </p:cNvPr>
          <p:cNvGrpSpPr/>
          <p:nvPr/>
        </p:nvGrpSpPr>
        <p:grpSpPr>
          <a:xfrm>
            <a:off x="456231" y="563394"/>
            <a:ext cx="1782144" cy="439581"/>
            <a:chOff x="400050" y="495300"/>
            <a:chExt cx="1543050" cy="439581"/>
          </a:xfrm>
        </p:grpSpPr>
        <p:sp>
          <p:nvSpPr>
            <p:cNvPr id="9" name="Rectangle: Rounded Corners 8">
              <a:extLst>
                <a:ext uri="{FF2B5EF4-FFF2-40B4-BE49-F238E27FC236}">
                  <a16:creationId xmlns:a16="http://schemas.microsoft.com/office/drawing/2014/main" id="{CD0A5D70-48E4-8576-EE9C-E4192BD81008}"/>
                </a:ext>
              </a:extLst>
            </p:cNvPr>
            <p:cNvSpPr/>
            <p:nvPr/>
          </p:nvSpPr>
          <p:spPr>
            <a:xfrm>
              <a:off x="400050" y="495300"/>
              <a:ext cx="1543050" cy="439581"/>
            </a:xfrm>
            <a:prstGeom prst="roundRect">
              <a:avLst>
                <a:gd name="adj" fmla="val 50000"/>
              </a:avLst>
            </a:prstGeom>
            <a:solidFill>
              <a:srgbClr val="3B8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41A8B60-3784-EA92-8A43-9CDD027D5C1C}"/>
                </a:ext>
              </a:extLst>
            </p:cNvPr>
            <p:cNvSpPr txBox="1"/>
            <p:nvPr/>
          </p:nvSpPr>
          <p:spPr>
            <a:xfrm>
              <a:off x="793432" y="561201"/>
              <a:ext cx="923925" cy="307777"/>
            </a:xfrm>
            <a:prstGeom prst="rect">
              <a:avLst/>
            </a:prstGeom>
            <a:noFill/>
          </p:spPr>
          <p:txBody>
            <a:bodyPr wrap="square" rtlCol="0">
              <a:spAutoFit/>
            </a:bodyPr>
            <a:lstStyle/>
            <a:p>
              <a:r>
                <a:rPr lang="vi-VN">
                  <a:solidFill>
                    <a:schemeClr val="bg1"/>
                  </a:solidFill>
                  <a:latin typeface="+mj-lt"/>
                </a:rPr>
                <a:t>Insight 1</a:t>
              </a:r>
              <a:endParaRPr lang="en-US">
                <a:solidFill>
                  <a:schemeClr val="bg1"/>
                </a:solidFill>
                <a:latin typeface="+mj-lt"/>
              </a:endParaRPr>
            </a:p>
          </p:txBody>
        </p:sp>
      </p:grpSp>
      <p:sp>
        <p:nvSpPr>
          <p:cNvPr id="13" name="TextBox 12">
            <a:extLst>
              <a:ext uri="{FF2B5EF4-FFF2-40B4-BE49-F238E27FC236}">
                <a16:creationId xmlns:a16="http://schemas.microsoft.com/office/drawing/2014/main" id="{11972F09-6B0B-77BF-2BA4-A41344DBEC9D}"/>
              </a:ext>
            </a:extLst>
          </p:cNvPr>
          <p:cNvSpPr txBox="1"/>
          <p:nvPr/>
        </p:nvSpPr>
        <p:spPr>
          <a:xfrm>
            <a:off x="456230" y="1431600"/>
            <a:ext cx="3706195" cy="1115690"/>
          </a:xfrm>
          <a:prstGeom prst="rect">
            <a:avLst/>
          </a:prstGeom>
          <a:noFill/>
        </p:spPr>
        <p:txBody>
          <a:bodyPr wrap="square">
            <a:spAutoFit/>
          </a:bodyPr>
          <a:lstStyle/>
          <a:p>
            <a:pPr lvl="0"/>
            <a:r>
              <a:rPr lang="vi-VN" sz="3200">
                <a:solidFill>
                  <a:srgbClr val="1E293B"/>
                </a:solidFill>
                <a:latin typeface="Times New Roman" panose="02020603050405020304" pitchFamily="18" charset="0"/>
                <a:ea typeface="Inter"/>
                <a:cs typeface="Times New Roman" panose="02020603050405020304" pitchFamily="18" charset="0"/>
                <a:sym typeface="Inter"/>
              </a:rPr>
              <a:t>Phân bổ lớp tự chọn </a:t>
            </a:r>
            <a:r>
              <a:rPr lang="vi-VN" sz="3450" b="1">
                <a:solidFill>
                  <a:srgbClr val="3B82F6"/>
                </a:solidFill>
                <a:latin typeface="Times New Roman" panose="02020603050405020304" pitchFamily="18" charset="0"/>
                <a:ea typeface="Inter Medium"/>
                <a:cs typeface="Times New Roman" panose="02020603050405020304" pitchFamily="18" charset="0"/>
                <a:sym typeface="Inter"/>
              </a:rPr>
              <a:t>chưa đồng đều</a:t>
            </a:r>
            <a:endParaRPr lang="vi-VN" sz="3450" b="1">
              <a:solidFill>
                <a:srgbClr val="3B82F6"/>
              </a:solidFill>
              <a:latin typeface="Times New Roman" panose="02020603050405020304" pitchFamily="18" charset="0"/>
              <a:ea typeface="Inter Medium"/>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D9FBE824-1D20-FAD9-688F-1FF7CE9AD712}"/>
              </a:ext>
            </a:extLst>
          </p:cNvPr>
          <p:cNvCxnSpPr>
            <a:cxnSpLocks/>
          </p:cNvCxnSpPr>
          <p:nvPr/>
        </p:nvCxnSpPr>
        <p:spPr>
          <a:xfrm>
            <a:off x="600075" y="2695575"/>
            <a:ext cx="3180731"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Google Shape;91;p13">
            <a:extLst>
              <a:ext uri="{FF2B5EF4-FFF2-40B4-BE49-F238E27FC236}">
                <a16:creationId xmlns:a16="http://schemas.microsoft.com/office/drawing/2014/main" id="{7B3F45AB-4451-3158-CD81-F6CFA21870B9}"/>
              </a:ext>
            </a:extLst>
          </p:cNvPr>
          <p:cNvSpPr txBox="1"/>
          <p:nvPr/>
        </p:nvSpPr>
        <p:spPr>
          <a:xfrm>
            <a:off x="682683" y="2606681"/>
            <a:ext cx="504825"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000" b="1">
                <a:solidFill>
                  <a:srgbClr val="3B82F6"/>
                </a:solidFill>
                <a:latin typeface="Times New Roman" panose="02020603050405020304" pitchFamily="18" charset="0"/>
                <a:ea typeface="Roboto"/>
                <a:cs typeface="Times New Roman" panose="02020603050405020304" pitchFamily="18" charset="0"/>
                <a:sym typeface="Inter Medium"/>
              </a:rPr>
              <a:t>3</a:t>
            </a:r>
            <a:endParaRPr sz="6000" b="1">
              <a:solidFill>
                <a:srgbClr val="3B82F6"/>
              </a:solidFill>
              <a:latin typeface="Times New Roman" panose="02020603050405020304" pitchFamily="18" charset="0"/>
              <a:ea typeface="Roboto"/>
              <a:cs typeface="Times New Roman" panose="02020603050405020304" pitchFamily="18" charset="0"/>
            </a:endParaRPr>
          </a:p>
        </p:txBody>
      </p:sp>
      <p:sp>
        <p:nvSpPr>
          <p:cNvPr id="3" name="Google Shape;98;p13">
            <a:extLst>
              <a:ext uri="{FF2B5EF4-FFF2-40B4-BE49-F238E27FC236}">
                <a16:creationId xmlns:a16="http://schemas.microsoft.com/office/drawing/2014/main" id="{C4E16940-C65B-049D-BA68-8A923F35C7BD}"/>
              </a:ext>
            </a:extLst>
          </p:cNvPr>
          <p:cNvSpPr txBox="1"/>
          <p:nvPr/>
        </p:nvSpPr>
        <p:spPr>
          <a:xfrm>
            <a:off x="1254613" y="2852738"/>
            <a:ext cx="1057275" cy="30008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500" b="0" i="0" u="none" strike="noStrike" cap="none">
                <a:solidFill>
                  <a:schemeClr val="tx1">
                    <a:lumMod val="50000"/>
                    <a:lumOff val="50000"/>
                  </a:schemeClr>
                </a:solidFill>
                <a:latin typeface="Times New Roman" panose="02020603050405020304" pitchFamily="18" charset="0"/>
                <a:ea typeface="Inter"/>
                <a:cs typeface="Times New Roman" panose="02020603050405020304" pitchFamily="18" charset="0"/>
                <a:sym typeface="Inter"/>
              </a:rPr>
              <a:t>/8 môn</a:t>
            </a:r>
            <a:endParaRPr>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4" name="Google Shape;99;p13">
            <a:extLst>
              <a:ext uri="{FF2B5EF4-FFF2-40B4-BE49-F238E27FC236}">
                <a16:creationId xmlns:a16="http://schemas.microsoft.com/office/drawing/2014/main" id="{0459FEFA-9780-7A89-9BA0-8AC5567625F6}"/>
              </a:ext>
            </a:extLst>
          </p:cNvPr>
          <p:cNvSpPr txBox="1"/>
          <p:nvPr/>
        </p:nvSpPr>
        <p:spPr>
          <a:xfrm>
            <a:off x="1254613" y="3100388"/>
            <a:ext cx="1057275" cy="30008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500" b="0" i="0" u="none" strike="noStrike" cap="none">
                <a:solidFill>
                  <a:schemeClr val="tx1">
                    <a:lumMod val="50000"/>
                    <a:lumOff val="50000"/>
                  </a:schemeClr>
                </a:solidFill>
                <a:latin typeface="Times New Roman" panose="02020603050405020304" pitchFamily="18" charset="0"/>
                <a:ea typeface="Inter"/>
                <a:cs typeface="Times New Roman" panose="02020603050405020304" pitchFamily="18" charset="0"/>
                <a:sym typeface="Inter"/>
              </a:rPr>
              <a:t>đạt yêu cầu</a:t>
            </a:r>
            <a:endParaRPr>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5" name="Google Shape;88;p13">
            <a:extLst>
              <a:ext uri="{FF2B5EF4-FFF2-40B4-BE49-F238E27FC236}">
                <a16:creationId xmlns:a16="http://schemas.microsoft.com/office/drawing/2014/main" id="{56982C56-8403-B5B5-1971-BBB6D7FB5152}"/>
              </a:ext>
            </a:extLst>
          </p:cNvPr>
          <p:cNvSpPr txBox="1"/>
          <p:nvPr/>
        </p:nvSpPr>
        <p:spPr>
          <a:xfrm>
            <a:off x="495300" y="3743288"/>
            <a:ext cx="3667125" cy="689420"/>
          </a:xfrm>
          <a:prstGeom prst="rect">
            <a:avLst/>
          </a:prstGeom>
          <a:noFill/>
          <a:ln>
            <a:noFill/>
          </a:ln>
        </p:spPr>
        <p:txBody>
          <a:bodyPr spcFirstLastPara="1" wrap="square" lIns="0" tIns="0" rIns="0" bIns="0" anchor="t" anchorCtr="0">
            <a:spAutoFit/>
          </a:bodyPr>
          <a:lstStyle/>
          <a:p>
            <a:pPr marL="0" marR="0" lvl="0" indent="0" algn="just" rtl="0">
              <a:lnSpc>
                <a:spcPct val="159929"/>
              </a:lnSpc>
              <a:spcBef>
                <a:spcPts val="0"/>
              </a:spcBef>
              <a:spcAft>
                <a:spcPts val="0"/>
              </a:spcAft>
              <a:buNone/>
            </a:pPr>
            <a:r>
              <a:rPr lang="en-US" b="0" i="0" u="none" strike="noStrike" cap="none">
                <a:solidFill>
                  <a:srgbClr val="334155"/>
                </a:solidFill>
                <a:latin typeface="Times New Roman" panose="02020603050405020304" pitchFamily="18" charset="0"/>
                <a:ea typeface="Inter"/>
                <a:cs typeface="Times New Roman" panose="02020603050405020304" pitchFamily="18" charset="0"/>
                <a:sym typeface="Inter"/>
              </a:rPr>
              <a:t>Môn được </a:t>
            </a:r>
            <a:r>
              <a:rPr lang="en-US" b="1">
                <a:solidFill>
                  <a:srgbClr val="3B82F6"/>
                </a:solidFill>
                <a:latin typeface="Times New Roman" panose="02020603050405020304" pitchFamily="18" charset="0"/>
                <a:ea typeface="Inter Medium"/>
                <a:cs typeface="Times New Roman" panose="02020603050405020304" pitchFamily="18" charset="0"/>
                <a:sym typeface="Inter"/>
              </a:rPr>
              <a:t>đăng ký nhiều nhất </a:t>
            </a:r>
            <a:r>
              <a:rPr lang="en-US" b="0" i="0" u="none" strike="noStrike" cap="none">
                <a:solidFill>
                  <a:srgbClr val="334155"/>
                </a:solidFill>
                <a:latin typeface="Times New Roman" panose="02020603050405020304" pitchFamily="18" charset="0"/>
                <a:ea typeface="Inter"/>
                <a:cs typeface="Times New Roman" panose="02020603050405020304" pitchFamily="18" charset="0"/>
                <a:sym typeface="Inter"/>
              </a:rPr>
              <a:t>là những môn </a:t>
            </a:r>
            <a:r>
              <a:rPr lang="en-US" b="1">
                <a:solidFill>
                  <a:srgbClr val="3B82F6"/>
                </a:solidFill>
                <a:latin typeface="Times New Roman" panose="02020603050405020304" pitchFamily="18" charset="0"/>
                <a:ea typeface="Inter Medium"/>
                <a:cs typeface="Times New Roman" panose="02020603050405020304" pitchFamily="18" charset="0"/>
                <a:sym typeface="Inter"/>
              </a:rPr>
              <a:t>có điểm trung bình cao nhất</a:t>
            </a:r>
            <a:r>
              <a:rPr lang="en-US" b="0" i="0" u="none" strike="noStrike" cap="none">
                <a:solidFill>
                  <a:srgbClr val="334155"/>
                </a:solidFill>
                <a:latin typeface="Times New Roman" panose="02020603050405020304" pitchFamily="18" charset="0"/>
                <a:ea typeface="Inter"/>
                <a:cs typeface="Times New Roman" panose="02020603050405020304" pitchFamily="18" charset="0"/>
                <a:sym typeface="Inter"/>
              </a:rPr>
              <a:t>.</a:t>
            </a:r>
            <a:endParaRPr>
              <a:latin typeface="Times New Roman" panose="02020603050405020304" pitchFamily="18" charset="0"/>
              <a:cs typeface="Times New Roman" panose="02020603050405020304" pitchFamily="18" charset="0"/>
            </a:endParaRPr>
          </a:p>
        </p:txBody>
      </p:sp>
      <p:sp>
        <p:nvSpPr>
          <p:cNvPr id="7" name="Google Shape;89;p13">
            <a:extLst>
              <a:ext uri="{FF2B5EF4-FFF2-40B4-BE49-F238E27FC236}">
                <a16:creationId xmlns:a16="http://schemas.microsoft.com/office/drawing/2014/main" id="{5A1A57AC-BB9D-5646-C568-B69F05CFBE95}"/>
              </a:ext>
            </a:extLst>
          </p:cNvPr>
          <p:cNvSpPr txBox="1"/>
          <p:nvPr/>
        </p:nvSpPr>
        <p:spPr>
          <a:xfrm>
            <a:off x="456230" y="4512732"/>
            <a:ext cx="3473585" cy="701731"/>
          </a:xfrm>
          <a:prstGeom prst="rect">
            <a:avLst/>
          </a:prstGeom>
          <a:noFill/>
          <a:ln>
            <a:noFill/>
          </a:ln>
        </p:spPr>
        <p:txBody>
          <a:bodyPr spcFirstLastPara="1" wrap="square" lIns="0" tIns="0" rIns="0" bIns="0" anchor="t" anchorCtr="0">
            <a:spAutoFit/>
          </a:bodyPr>
          <a:lstStyle/>
          <a:p>
            <a:pPr lvl="0" algn="just">
              <a:lnSpc>
                <a:spcPct val="159929"/>
              </a:lnSpc>
            </a:pPr>
            <a:r>
              <a:rPr lang="en-US" b="0" i="0" u="none" strike="noStrike" cap="none">
                <a:solidFill>
                  <a:srgbClr val="334155"/>
                </a:solidFill>
                <a:latin typeface="Times New Roman" panose="02020603050405020304" pitchFamily="18" charset="0"/>
                <a:ea typeface="Inter"/>
                <a:cs typeface="Times New Roman" panose="02020603050405020304" pitchFamily="18" charset="0"/>
                <a:sym typeface="Inter"/>
              </a:rPr>
              <a:t>Ngược lại, các </a:t>
            </a:r>
            <a:r>
              <a:rPr lang="en-US" b="1">
                <a:solidFill>
                  <a:srgbClr val="3B82F6"/>
                </a:solidFill>
                <a:latin typeface="Times New Roman" panose="02020603050405020304" pitchFamily="18" charset="0"/>
                <a:ea typeface="Inter Medium"/>
                <a:cs typeface="Times New Roman" panose="02020603050405020304" pitchFamily="18" charset="0"/>
                <a:sym typeface="Inter"/>
              </a:rPr>
              <a:t>môn ít được chọn </a:t>
            </a:r>
            <a:r>
              <a:rPr lang="en-US" b="0" i="0" u="none" strike="noStrike" cap="none">
                <a:solidFill>
                  <a:srgbClr val="334155"/>
                </a:solidFill>
                <a:latin typeface="Times New Roman" panose="02020603050405020304" pitchFamily="18" charset="0"/>
                <a:ea typeface="Inter"/>
                <a:cs typeface="Times New Roman" panose="02020603050405020304" pitchFamily="18" charset="0"/>
                <a:sym typeface="Inter"/>
              </a:rPr>
              <a:t>gắn liền với điểm </a:t>
            </a:r>
            <a:r>
              <a:rPr lang="vi-VN" b="1">
                <a:solidFill>
                  <a:srgbClr val="3B82F6"/>
                </a:solidFill>
                <a:latin typeface="Times New Roman" panose="02020603050405020304" pitchFamily="18" charset="0"/>
                <a:ea typeface="Inter Medium"/>
                <a:cs typeface="Times New Roman" panose="02020603050405020304" pitchFamily="18" charset="0"/>
                <a:sym typeface="Inter"/>
              </a:rPr>
              <a:t>trung bình</a:t>
            </a:r>
            <a:r>
              <a:rPr lang="en-US" b="1">
                <a:solidFill>
                  <a:srgbClr val="3B82F6"/>
                </a:solidFill>
                <a:latin typeface="Times New Roman" panose="02020603050405020304" pitchFamily="18" charset="0"/>
                <a:ea typeface="Inter Medium"/>
                <a:cs typeface="Times New Roman" panose="02020603050405020304" pitchFamily="18" charset="0"/>
                <a:sym typeface="Inter"/>
              </a:rPr>
              <a:t> thấp. </a:t>
            </a:r>
            <a:endParaRPr lang="vi-VN" b="1">
              <a:solidFill>
                <a:srgbClr val="3B82F6"/>
              </a:solidFill>
              <a:latin typeface="Times New Roman" panose="02020603050405020304" pitchFamily="18" charset="0"/>
              <a:ea typeface="Inter Medium"/>
              <a:cs typeface="Times New Roman" panose="02020603050405020304" pitchFamily="18" charset="0"/>
              <a:sym typeface="Inter"/>
            </a:endParaRPr>
          </a:p>
        </p:txBody>
      </p:sp>
      <p:sp>
        <p:nvSpPr>
          <p:cNvPr id="12" name="Google Shape;89;p13">
            <a:extLst>
              <a:ext uri="{FF2B5EF4-FFF2-40B4-BE49-F238E27FC236}">
                <a16:creationId xmlns:a16="http://schemas.microsoft.com/office/drawing/2014/main" id="{77A5A2FA-2961-32CC-CD0C-6181CE8762E8}"/>
              </a:ext>
            </a:extLst>
          </p:cNvPr>
          <p:cNvSpPr txBox="1"/>
          <p:nvPr/>
        </p:nvSpPr>
        <p:spPr>
          <a:xfrm>
            <a:off x="453647" y="5294488"/>
            <a:ext cx="3473585" cy="701731"/>
          </a:xfrm>
          <a:prstGeom prst="rect">
            <a:avLst/>
          </a:prstGeom>
          <a:noFill/>
          <a:ln>
            <a:noFill/>
          </a:ln>
        </p:spPr>
        <p:txBody>
          <a:bodyPr spcFirstLastPara="1" wrap="square" lIns="0" tIns="0" rIns="0" bIns="0" anchor="t" anchorCtr="0">
            <a:spAutoFit/>
          </a:bodyPr>
          <a:lstStyle/>
          <a:p>
            <a:pPr marL="0" marR="0" algn="just" rtl="0">
              <a:lnSpc>
                <a:spcPct val="160000"/>
              </a:lnSpc>
              <a:buNone/>
            </a:pPr>
            <a:r>
              <a:rPr lang="vi-VN" sz="1400" b="0" i="1">
                <a:solidFill>
                  <a:srgbClr val="000000"/>
                </a:solidFill>
                <a:effectLst/>
                <a:latin typeface="Times New Roman" panose="02020603050405020304" pitchFamily="18" charset="0"/>
                <a:ea typeface="Inter" panose="020B0604020202020204" charset="0"/>
                <a:cs typeface="Times New Roman" panose="02020603050405020304" pitchFamily="18" charset="0"/>
              </a:rPr>
              <a:t>Thuế và Thanh toán điện tử </a:t>
            </a:r>
            <a:r>
              <a:rPr lang="vi-VN" sz="1400" b="0" i="0">
                <a:solidFill>
                  <a:srgbClr val="000000"/>
                </a:solidFill>
                <a:effectLst/>
                <a:latin typeface="Times New Roman" panose="02020603050405020304" pitchFamily="18" charset="0"/>
                <a:ea typeface="Inter" panose="020B0604020202020204" charset="0"/>
                <a:cs typeface="Times New Roman" panose="02020603050405020304" pitchFamily="18" charset="0"/>
              </a:rPr>
              <a:t>là những môn  </a:t>
            </a:r>
            <a:r>
              <a:rPr lang="en-US" sz="1400" b="0" i="0">
                <a:solidFill>
                  <a:srgbClr val="000000"/>
                </a:solidFill>
                <a:effectLst/>
                <a:latin typeface="Times New Roman" panose="02020603050405020304" pitchFamily="18" charset="0"/>
                <a:ea typeface="Inter" panose="020B0604020202020204" charset="0"/>
                <a:cs typeface="Times New Roman" panose="02020603050405020304" pitchFamily="18" charset="0"/>
              </a:rPr>
              <a:t>không có </a:t>
            </a:r>
            <a:r>
              <a:rPr lang="vi-VN" sz="1400" b="0" i="0">
                <a:solidFill>
                  <a:srgbClr val="000000"/>
                </a:solidFill>
                <a:effectLst/>
                <a:latin typeface="Times New Roman" panose="02020603050405020304" pitchFamily="18" charset="0"/>
                <a:ea typeface="Inter" panose="020B0604020202020204" charset="0"/>
                <a:cs typeface="Times New Roman" panose="02020603050405020304" pitchFamily="18" charset="0"/>
              </a:rPr>
              <a:t>sinh viên đăng ký </a:t>
            </a:r>
            <a:endParaRPr lang="en-US" sz="2000">
              <a:effectLst/>
            </a:endParaRPr>
          </a:p>
        </p:txBody>
      </p:sp>
      <p:pic>
        <p:nvPicPr>
          <p:cNvPr id="14" name="Google Shape;87;p13" descr="image.png">
            <a:extLst>
              <a:ext uri="{FF2B5EF4-FFF2-40B4-BE49-F238E27FC236}">
                <a16:creationId xmlns:a16="http://schemas.microsoft.com/office/drawing/2014/main" id="{0BEDB5B2-9AC2-6543-5F30-E3B10690C186}"/>
              </a:ext>
            </a:extLst>
          </p:cNvPr>
          <p:cNvPicPr preferRelativeResize="0"/>
          <p:nvPr/>
        </p:nvPicPr>
        <p:blipFill rotWithShape="1">
          <a:blip r:embed="rId3">
            <a:alphaModFix/>
          </a:blip>
          <a:srcRect/>
          <a:stretch/>
        </p:blipFill>
        <p:spPr>
          <a:xfrm>
            <a:off x="4836013" y="1265413"/>
            <a:ext cx="2011709" cy="4029075"/>
          </a:xfrm>
          <a:prstGeom prst="rect">
            <a:avLst/>
          </a:prstGeom>
          <a:noFill/>
          <a:ln>
            <a:noFill/>
          </a:ln>
        </p:spPr>
      </p:pic>
      <p:pic>
        <p:nvPicPr>
          <p:cNvPr id="16" name="Google Shape;88;p13" descr="image.png">
            <a:extLst>
              <a:ext uri="{FF2B5EF4-FFF2-40B4-BE49-F238E27FC236}">
                <a16:creationId xmlns:a16="http://schemas.microsoft.com/office/drawing/2014/main" id="{4EB6C4BC-B28F-524A-E162-5F9615D5291C}"/>
              </a:ext>
            </a:extLst>
          </p:cNvPr>
          <p:cNvPicPr preferRelativeResize="0"/>
          <p:nvPr/>
        </p:nvPicPr>
        <p:blipFill rotWithShape="1">
          <a:blip r:embed="rId4">
            <a:alphaModFix/>
          </a:blip>
          <a:srcRect/>
          <a:stretch/>
        </p:blipFill>
        <p:spPr>
          <a:xfrm>
            <a:off x="4836013" y="5437363"/>
            <a:ext cx="2011709" cy="400050"/>
          </a:xfrm>
          <a:prstGeom prst="rect">
            <a:avLst/>
          </a:prstGeom>
          <a:noFill/>
          <a:ln>
            <a:noFill/>
          </a:ln>
        </p:spPr>
      </p:pic>
      <p:pic>
        <p:nvPicPr>
          <p:cNvPr id="17" name="Google Shape;89;p13" descr="image.png">
            <a:extLst>
              <a:ext uri="{FF2B5EF4-FFF2-40B4-BE49-F238E27FC236}">
                <a16:creationId xmlns:a16="http://schemas.microsoft.com/office/drawing/2014/main" id="{069EBF63-D174-1B08-8ABD-C3C30E95738D}"/>
              </a:ext>
            </a:extLst>
          </p:cNvPr>
          <p:cNvPicPr preferRelativeResize="0"/>
          <p:nvPr/>
        </p:nvPicPr>
        <p:blipFill rotWithShape="1">
          <a:blip r:embed="rId5">
            <a:alphaModFix/>
          </a:blip>
          <a:srcRect/>
          <a:stretch/>
        </p:blipFill>
        <p:spPr>
          <a:xfrm>
            <a:off x="7038223" y="1265413"/>
            <a:ext cx="2011709" cy="4029075"/>
          </a:xfrm>
          <a:prstGeom prst="rect">
            <a:avLst/>
          </a:prstGeom>
          <a:noFill/>
          <a:ln>
            <a:noFill/>
          </a:ln>
        </p:spPr>
      </p:pic>
      <p:pic>
        <p:nvPicPr>
          <p:cNvPr id="22" name="Google Shape;90;p13" descr="image.png">
            <a:extLst>
              <a:ext uri="{FF2B5EF4-FFF2-40B4-BE49-F238E27FC236}">
                <a16:creationId xmlns:a16="http://schemas.microsoft.com/office/drawing/2014/main" id="{BCA4EFBE-803B-85B7-97AE-3323844D2D62}"/>
              </a:ext>
            </a:extLst>
          </p:cNvPr>
          <p:cNvPicPr preferRelativeResize="0"/>
          <p:nvPr/>
        </p:nvPicPr>
        <p:blipFill rotWithShape="1">
          <a:blip r:embed="rId6">
            <a:alphaModFix/>
          </a:blip>
          <a:srcRect/>
          <a:stretch/>
        </p:blipFill>
        <p:spPr>
          <a:xfrm>
            <a:off x="7038223" y="5437363"/>
            <a:ext cx="2011709" cy="400050"/>
          </a:xfrm>
          <a:prstGeom prst="rect">
            <a:avLst/>
          </a:prstGeom>
          <a:noFill/>
          <a:ln>
            <a:noFill/>
          </a:ln>
        </p:spPr>
      </p:pic>
      <p:pic>
        <p:nvPicPr>
          <p:cNvPr id="23" name="Google Shape;91;p13" descr="image.png">
            <a:extLst>
              <a:ext uri="{FF2B5EF4-FFF2-40B4-BE49-F238E27FC236}">
                <a16:creationId xmlns:a16="http://schemas.microsoft.com/office/drawing/2014/main" id="{FCA0828F-0F67-9F55-F41C-62E30D3025D0}"/>
              </a:ext>
            </a:extLst>
          </p:cNvPr>
          <p:cNvPicPr preferRelativeResize="0"/>
          <p:nvPr/>
        </p:nvPicPr>
        <p:blipFill rotWithShape="1">
          <a:blip r:embed="rId7">
            <a:alphaModFix/>
          </a:blip>
          <a:srcRect/>
          <a:stretch/>
        </p:blipFill>
        <p:spPr>
          <a:xfrm>
            <a:off x="9240433" y="1265413"/>
            <a:ext cx="2011709" cy="4029075"/>
          </a:xfrm>
          <a:prstGeom prst="rect">
            <a:avLst/>
          </a:prstGeom>
          <a:noFill/>
          <a:ln>
            <a:noFill/>
          </a:ln>
        </p:spPr>
      </p:pic>
      <p:pic>
        <p:nvPicPr>
          <p:cNvPr id="24" name="Google Shape;92;p13" descr="image.png">
            <a:extLst>
              <a:ext uri="{FF2B5EF4-FFF2-40B4-BE49-F238E27FC236}">
                <a16:creationId xmlns:a16="http://schemas.microsoft.com/office/drawing/2014/main" id="{77D1C241-CBD8-2E64-39DB-CE6EF327C691}"/>
              </a:ext>
            </a:extLst>
          </p:cNvPr>
          <p:cNvPicPr preferRelativeResize="0"/>
          <p:nvPr/>
        </p:nvPicPr>
        <p:blipFill rotWithShape="1">
          <a:blip r:embed="rId8">
            <a:alphaModFix/>
          </a:blip>
          <a:srcRect/>
          <a:stretch/>
        </p:blipFill>
        <p:spPr>
          <a:xfrm>
            <a:off x="9240433" y="5437363"/>
            <a:ext cx="2011709" cy="400050"/>
          </a:xfrm>
          <a:prstGeom prst="rect">
            <a:avLst/>
          </a:prstGeom>
          <a:noFill/>
          <a:ln>
            <a:noFill/>
          </a:ln>
        </p:spPr>
      </p:pic>
      <p:sp>
        <p:nvSpPr>
          <p:cNvPr id="25" name="Google Shape;101;p13">
            <a:extLst>
              <a:ext uri="{FF2B5EF4-FFF2-40B4-BE49-F238E27FC236}">
                <a16:creationId xmlns:a16="http://schemas.microsoft.com/office/drawing/2014/main" id="{B4B97312-ACF3-55B6-5508-16FBB537D0E8}"/>
              </a:ext>
            </a:extLst>
          </p:cNvPr>
          <p:cNvSpPr txBox="1"/>
          <p:nvPr/>
        </p:nvSpPr>
        <p:spPr>
          <a:xfrm>
            <a:off x="5083663" y="1589263"/>
            <a:ext cx="1516409" cy="5334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5250" b="1" i="0" u="none" strike="noStrike" cap="none">
                <a:solidFill>
                  <a:srgbClr val="EFF6FF"/>
                </a:solidFill>
                <a:latin typeface="Times New Roman"/>
                <a:ea typeface="Times New Roman"/>
                <a:cs typeface="Times New Roman"/>
                <a:sym typeface="Times New Roman"/>
              </a:rPr>
              <a:t>01</a:t>
            </a:r>
            <a:endParaRPr/>
          </a:p>
        </p:txBody>
      </p:sp>
      <p:sp>
        <p:nvSpPr>
          <p:cNvPr id="26" name="Google Shape;102;p13">
            <a:extLst>
              <a:ext uri="{FF2B5EF4-FFF2-40B4-BE49-F238E27FC236}">
                <a16:creationId xmlns:a16="http://schemas.microsoft.com/office/drawing/2014/main" id="{C4B8CB74-4296-C475-0051-0C93ACC2202E}"/>
              </a:ext>
            </a:extLst>
          </p:cNvPr>
          <p:cNvSpPr txBox="1"/>
          <p:nvPr/>
        </p:nvSpPr>
        <p:spPr>
          <a:xfrm>
            <a:off x="5083663" y="2313163"/>
            <a:ext cx="1516409" cy="544710"/>
          </a:xfrm>
          <a:prstGeom prst="rect">
            <a:avLst/>
          </a:prstGeom>
          <a:noFill/>
          <a:ln>
            <a:noFill/>
          </a:ln>
        </p:spPr>
        <p:txBody>
          <a:bodyPr spcFirstLastPara="1" wrap="square" lIns="0" tIns="0" rIns="0" bIns="0" anchor="t" anchorCtr="0">
            <a:spAutoFit/>
          </a:bodyPr>
          <a:lstStyle/>
          <a:p>
            <a:pPr marL="0" marR="0" lvl="0" indent="0" algn="l" rtl="0">
              <a:lnSpc>
                <a:spcPct val="119166"/>
              </a:lnSpc>
              <a:spcBef>
                <a:spcPts val="0"/>
              </a:spcBef>
              <a:spcAft>
                <a:spcPts val="0"/>
              </a:spcAft>
              <a:buNone/>
            </a:pPr>
            <a:r>
              <a:rPr lang="en-US" sz="1650" b="1" i="0" u="none" strike="noStrike" cap="none">
                <a:solidFill>
                  <a:srgbClr val="1E293B"/>
                </a:solidFill>
                <a:latin typeface="Times New Roman"/>
                <a:ea typeface="Times New Roman"/>
                <a:cs typeface="Times New Roman"/>
                <a:sym typeface="Times New Roman"/>
              </a:rPr>
              <a:t>Độ khó</a:t>
            </a:r>
            <a:br>
              <a:rPr lang="en-US" sz="1800" b="0" i="0" u="none" strike="noStrike" cap="none">
                <a:solidFill>
                  <a:schemeClr val="dk1"/>
                </a:solidFill>
                <a:latin typeface="Calibri"/>
                <a:ea typeface="Calibri"/>
                <a:cs typeface="Calibri"/>
                <a:sym typeface="Calibri"/>
              </a:rPr>
            </a:br>
            <a:r>
              <a:rPr lang="en-US" sz="1650" b="1" i="0" u="none" strike="noStrike" cap="none">
                <a:solidFill>
                  <a:srgbClr val="1E293B"/>
                </a:solidFill>
                <a:latin typeface="Times New Roman"/>
                <a:ea typeface="Times New Roman"/>
                <a:cs typeface="Times New Roman"/>
                <a:sym typeface="Times New Roman"/>
              </a:rPr>
              <a:t> môn học</a:t>
            </a:r>
            <a:endParaRPr/>
          </a:p>
        </p:txBody>
      </p:sp>
      <p:sp>
        <p:nvSpPr>
          <p:cNvPr id="39" name="Google Shape;103;p13">
            <a:extLst>
              <a:ext uri="{FF2B5EF4-FFF2-40B4-BE49-F238E27FC236}">
                <a16:creationId xmlns:a16="http://schemas.microsoft.com/office/drawing/2014/main" id="{5895E7F1-C13B-F439-D084-12EA89F4AE67}"/>
              </a:ext>
            </a:extLst>
          </p:cNvPr>
          <p:cNvSpPr/>
          <p:nvPr/>
        </p:nvSpPr>
        <p:spPr>
          <a:xfrm>
            <a:off x="5083663" y="3048373"/>
            <a:ext cx="151640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 name="Google Shape;104;p13">
            <a:extLst>
              <a:ext uri="{FF2B5EF4-FFF2-40B4-BE49-F238E27FC236}">
                <a16:creationId xmlns:a16="http://schemas.microsoft.com/office/drawing/2014/main" id="{29A9BF4B-F941-A882-2E47-7779DE6FDD87}"/>
              </a:ext>
            </a:extLst>
          </p:cNvPr>
          <p:cNvSpPr txBox="1"/>
          <p:nvPr/>
        </p:nvSpPr>
        <p:spPr>
          <a:xfrm>
            <a:off x="5083663" y="3248398"/>
            <a:ext cx="1516409"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Times New Roman"/>
                <a:ea typeface="Times New Roman"/>
                <a:cs typeface="Times New Roman"/>
                <a:sym typeface="Times New Roman"/>
              </a:rPr>
              <a:t>Sinh viên ưu tiên môn có lợi về điểm số, né tránh môn khó.</a:t>
            </a:r>
            <a:endParaRPr/>
          </a:p>
        </p:txBody>
      </p:sp>
      <p:sp>
        <p:nvSpPr>
          <p:cNvPr id="42" name="Google Shape;105;p13">
            <a:extLst>
              <a:ext uri="{FF2B5EF4-FFF2-40B4-BE49-F238E27FC236}">
                <a16:creationId xmlns:a16="http://schemas.microsoft.com/office/drawing/2014/main" id="{C8F5876A-6A4B-996A-C24A-F081023E4FC8}"/>
              </a:ext>
            </a:extLst>
          </p:cNvPr>
          <p:cNvSpPr txBox="1"/>
          <p:nvPr/>
        </p:nvSpPr>
        <p:spPr>
          <a:xfrm>
            <a:off x="7285873" y="1589263"/>
            <a:ext cx="1516409" cy="5334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5250" b="1" i="0" u="none" strike="noStrike" cap="none">
                <a:solidFill>
                  <a:srgbClr val="EFF6FF"/>
                </a:solidFill>
                <a:latin typeface="Times New Roman"/>
                <a:ea typeface="Times New Roman"/>
                <a:cs typeface="Times New Roman"/>
                <a:sym typeface="Times New Roman"/>
              </a:rPr>
              <a:t>02</a:t>
            </a:r>
            <a:endParaRPr/>
          </a:p>
        </p:txBody>
      </p:sp>
      <p:sp>
        <p:nvSpPr>
          <p:cNvPr id="43" name="Google Shape;106;p13">
            <a:extLst>
              <a:ext uri="{FF2B5EF4-FFF2-40B4-BE49-F238E27FC236}">
                <a16:creationId xmlns:a16="http://schemas.microsoft.com/office/drawing/2014/main" id="{E0BA2B5E-18C0-607E-A445-93DCA6BBC994}"/>
              </a:ext>
            </a:extLst>
          </p:cNvPr>
          <p:cNvSpPr txBox="1"/>
          <p:nvPr/>
        </p:nvSpPr>
        <p:spPr>
          <a:xfrm>
            <a:off x="7285873" y="2313163"/>
            <a:ext cx="1516409" cy="544710"/>
          </a:xfrm>
          <a:prstGeom prst="rect">
            <a:avLst/>
          </a:prstGeom>
          <a:noFill/>
          <a:ln>
            <a:noFill/>
          </a:ln>
        </p:spPr>
        <p:txBody>
          <a:bodyPr spcFirstLastPara="1" wrap="square" lIns="0" tIns="0" rIns="0" bIns="0" anchor="t" anchorCtr="0">
            <a:spAutoFit/>
          </a:bodyPr>
          <a:lstStyle/>
          <a:p>
            <a:pPr marL="0" marR="0" lvl="0" indent="0" algn="l" rtl="0">
              <a:lnSpc>
                <a:spcPct val="119166"/>
              </a:lnSpc>
              <a:spcBef>
                <a:spcPts val="0"/>
              </a:spcBef>
              <a:spcAft>
                <a:spcPts val="0"/>
              </a:spcAft>
              <a:buNone/>
            </a:pPr>
            <a:r>
              <a:rPr lang="en-US" sz="1650" b="1" i="0" u="none" strike="noStrike" cap="none">
                <a:solidFill>
                  <a:srgbClr val="1E293B"/>
                </a:solidFill>
                <a:latin typeface="Times New Roman"/>
                <a:ea typeface="Times New Roman"/>
                <a:cs typeface="Times New Roman"/>
                <a:sym typeface="Times New Roman"/>
              </a:rPr>
              <a:t>Sở thích</a:t>
            </a:r>
            <a:br>
              <a:rPr lang="en-US" sz="1800" b="0" i="0" u="none" strike="noStrike" cap="none">
                <a:solidFill>
                  <a:schemeClr val="dk1"/>
                </a:solidFill>
                <a:latin typeface="Calibri"/>
                <a:ea typeface="Calibri"/>
                <a:cs typeface="Calibri"/>
                <a:sym typeface="Calibri"/>
              </a:rPr>
            </a:br>
            <a:r>
              <a:rPr lang="en-US" sz="1650" b="1" i="0" u="none" strike="noStrike" cap="none">
                <a:solidFill>
                  <a:srgbClr val="1E293B"/>
                </a:solidFill>
                <a:latin typeface="Times New Roman"/>
                <a:ea typeface="Times New Roman"/>
                <a:cs typeface="Times New Roman"/>
                <a:sym typeface="Times New Roman"/>
              </a:rPr>
              <a:t> cá nhân</a:t>
            </a:r>
            <a:endParaRPr/>
          </a:p>
        </p:txBody>
      </p:sp>
      <p:sp>
        <p:nvSpPr>
          <p:cNvPr id="44" name="Google Shape;107;p13">
            <a:extLst>
              <a:ext uri="{FF2B5EF4-FFF2-40B4-BE49-F238E27FC236}">
                <a16:creationId xmlns:a16="http://schemas.microsoft.com/office/drawing/2014/main" id="{4060ED7C-1065-86D7-00D0-0F24BF735C56}"/>
              </a:ext>
            </a:extLst>
          </p:cNvPr>
          <p:cNvSpPr/>
          <p:nvPr/>
        </p:nvSpPr>
        <p:spPr>
          <a:xfrm>
            <a:off x="7285873" y="3048373"/>
            <a:ext cx="151640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 name="Google Shape;108;p13">
            <a:extLst>
              <a:ext uri="{FF2B5EF4-FFF2-40B4-BE49-F238E27FC236}">
                <a16:creationId xmlns:a16="http://schemas.microsoft.com/office/drawing/2014/main" id="{90CE81AA-B4C6-A3DE-2031-B0014E294E29}"/>
              </a:ext>
            </a:extLst>
          </p:cNvPr>
          <p:cNvSpPr txBox="1"/>
          <p:nvPr/>
        </p:nvSpPr>
        <p:spPr>
          <a:xfrm>
            <a:off x="7285873" y="3248398"/>
            <a:ext cx="1516409"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Times New Roman"/>
                <a:ea typeface="Times New Roman"/>
                <a:cs typeface="Times New Roman"/>
                <a:sym typeface="Times New Roman"/>
              </a:rPr>
              <a:t>Sinh viên KHDLTKD thiên về môn kỹ thuật và phân tích dữ liệu.</a:t>
            </a:r>
            <a:endParaRPr/>
          </a:p>
        </p:txBody>
      </p:sp>
      <p:sp>
        <p:nvSpPr>
          <p:cNvPr id="46" name="Google Shape;109;p13">
            <a:extLst>
              <a:ext uri="{FF2B5EF4-FFF2-40B4-BE49-F238E27FC236}">
                <a16:creationId xmlns:a16="http://schemas.microsoft.com/office/drawing/2014/main" id="{3647FB1A-1E20-D83B-992C-D6B7471D963D}"/>
              </a:ext>
            </a:extLst>
          </p:cNvPr>
          <p:cNvSpPr txBox="1"/>
          <p:nvPr/>
        </p:nvSpPr>
        <p:spPr>
          <a:xfrm>
            <a:off x="9488083" y="1611360"/>
            <a:ext cx="1516409" cy="5334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5250" b="1" i="0" u="none" strike="noStrike" cap="none">
                <a:solidFill>
                  <a:srgbClr val="EFF6FF"/>
                </a:solidFill>
                <a:latin typeface="Times New Roman"/>
                <a:ea typeface="Times New Roman"/>
                <a:cs typeface="Times New Roman"/>
                <a:sym typeface="Times New Roman"/>
              </a:rPr>
              <a:t>03</a:t>
            </a:r>
            <a:endParaRPr/>
          </a:p>
        </p:txBody>
      </p:sp>
      <p:sp>
        <p:nvSpPr>
          <p:cNvPr id="47" name="Google Shape;110;p13">
            <a:extLst>
              <a:ext uri="{FF2B5EF4-FFF2-40B4-BE49-F238E27FC236}">
                <a16:creationId xmlns:a16="http://schemas.microsoft.com/office/drawing/2014/main" id="{E982C4D7-23EA-36C1-59A5-61150C51FC76}"/>
              </a:ext>
            </a:extLst>
          </p:cNvPr>
          <p:cNvSpPr txBox="1"/>
          <p:nvPr/>
        </p:nvSpPr>
        <p:spPr>
          <a:xfrm>
            <a:off x="9488083" y="2313163"/>
            <a:ext cx="1516409" cy="544710"/>
          </a:xfrm>
          <a:prstGeom prst="rect">
            <a:avLst/>
          </a:prstGeom>
          <a:noFill/>
          <a:ln>
            <a:noFill/>
          </a:ln>
        </p:spPr>
        <p:txBody>
          <a:bodyPr spcFirstLastPara="1" wrap="square" lIns="0" tIns="0" rIns="0" bIns="0" anchor="t" anchorCtr="0">
            <a:spAutoFit/>
          </a:bodyPr>
          <a:lstStyle/>
          <a:p>
            <a:pPr marL="0" marR="0" lvl="0" indent="0" algn="l" rtl="0">
              <a:lnSpc>
                <a:spcPct val="119166"/>
              </a:lnSpc>
              <a:spcBef>
                <a:spcPts val="0"/>
              </a:spcBef>
              <a:spcAft>
                <a:spcPts val="0"/>
              </a:spcAft>
              <a:buNone/>
            </a:pPr>
            <a:r>
              <a:rPr lang="en-US" sz="1650" b="1" i="0" u="none" strike="noStrike" cap="none">
                <a:solidFill>
                  <a:srgbClr val="1E293B"/>
                </a:solidFill>
                <a:latin typeface="Times New Roman"/>
                <a:ea typeface="Times New Roman"/>
                <a:cs typeface="Times New Roman"/>
                <a:sym typeface="Times New Roman"/>
              </a:rPr>
              <a:t>Yếu tố</a:t>
            </a:r>
            <a:br>
              <a:rPr lang="en-US" sz="1800" b="0" i="0" u="none" strike="noStrike" cap="none">
                <a:solidFill>
                  <a:schemeClr val="dk1"/>
                </a:solidFill>
                <a:latin typeface="Calibri"/>
                <a:ea typeface="Calibri"/>
                <a:cs typeface="Calibri"/>
                <a:sym typeface="Calibri"/>
              </a:rPr>
            </a:br>
            <a:r>
              <a:rPr lang="en-US" sz="1650" b="1" i="0" u="none" strike="noStrike" cap="none">
                <a:solidFill>
                  <a:srgbClr val="1E293B"/>
                </a:solidFill>
                <a:latin typeface="Times New Roman"/>
                <a:ea typeface="Times New Roman"/>
                <a:cs typeface="Times New Roman"/>
                <a:sym typeface="Times New Roman"/>
              </a:rPr>
              <a:t> hệ thống</a:t>
            </a:r>
            <a:endParaRPr/>
          </a:p>
        </p:txBody>
      </p:sp>
      <p:sp>
        <p:nvSpPr>
          <p:cNvPr id="48" name="Google Shape;111;p13">
            <a:extLst>
              <a:ext uri="{FF2B5EF4-FFF2-40B4-BE49-F238E27FC236}">
                <a16:creationId xmlns:a16="http://schemas.microsoft.com/office/drawing/2014/main" id="{72AD654D-9255-8625-4D4C-CD9474AF6DDA}"/>
              </a:ext>
            </a:extLst>
          </p:cNvPr>
          <p:cNvSpPr/>
          <p:nvPr/>
        </p:nvSpPr>
        <p:spPr>
          <a:xfrm>
            <a:off x="9488083" y="3048373"/>
            <a:ext cx="151640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 name="Google Shape;112;p13">
            <a:extLst>
              <a:ext uri="{FF2B5EF4-FFF2-40B4-BE49-F238E27FC236}">
                <a16:creationId xmlns:a16="http://schemas.microsoft.com/office/drawing/2014/main" id="{C69E7F4D-4ED7-F068-1214-E95BC9496F73}"/>
              </a:ext>
            </a:extLst>
          </p:cNvPr>
          <p:cNvSpPr txBox="1"/>
          <p:nvPr/>
        </p:nvSpPr>
        <p:spPr>
          <a:xfrm>
            <a:off x="9488083" y="3248398"/>
            <a:ext cx="1516409" cy="1329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Times New Roman"/>
                <a:ea typeface="Times New Roman"/>
                <a:cs typeface="Times New Roman"/>
                <a:sym typeface="Times New Roman"/>
              </a:rPr>
              <a:t>Lịch giảng, chất lượng giảng viên, marketing môn học chưa tốt</a:t>
            </a:r>
            <a:r>
              <a:rPr lang="vi-VN" sz="1350">
                <a:solidFill>
                  <a:srgbClr val="475569"/>
                </a:solidFill>
                <a:latin typeface="Times New Roman"/>
                <a:ea typeface="Times New Roman"/>
                <a:cs typeface="Times New Roman"/>
                <a:sym typeface="Times New Roman"/>
              </a:rPr>
              <a:t> …</a:t>
            </a:r>
            <a:endParaRPr/>
          </a:p>
        </p:txBody>
      </p:sp>
      <p:sp>
        <p:nvSpPr>
          <p:cNvPr id="50" name="TextBox 49">
            <a:extLst>
              <a:ext uri="{FF2B5EF4-FFF2-40B4-BE49-F238E27FC236}">
                <a16:creationId xmlns:a16="http://schemas.microsoft.com/office/drawing/2014/main" id="{C3A4DA4C-58FF-E6A3-E1E0-27DF818203FE}"/>
              </a:ext>
            </a:extLst>
          </p:cNvPr>
          <p:cNvSpPr txBox="1"/>
          <p:nvPr/>
        </p:nvSpPr>
        <p:spPr>
          <a:xfrm>
            <a:off x="4836013" y="565549"/>
            <a:ext cx="2190750" cy="369332"/>
          </a:xfrm>
          <a:prstGeom prst="rect">
            <a:avLst/>
          </a:prstGeom>
          <a:noFill/>
        </p:spPr>
        <p:txBody>
          <a:bodyPr wrap="square" rtlCol="0">
            <a:spAutoFit/>
          </a:bodyPr>
          <a:lstStyle/>
          <a:p>
            <a:r>
              <a:rPr lang="vi-VN" sz="1800" b="1">
                <a:solidFill>
                  <a:srgbClr val="0B60EB"/>
                </a:solidFill>
                <a:latin typeface="+mj-lt"/>
              </a:rPr>
              <a:t>Nguyên nhân</a:t>
            </a:r>
            <a:endParaRPr lang="en-US" sz="1800" b="1">
              <a:solidFill>
                <a:srgbClr val="0B60EB"/>
              </a:solidFill>
              <a:latin typeface="+mj-lt"/>
            </a:endParaRPr>
          </a:p>
        </p:txBody>
      </p:sp>
      <p:cxnSp>
        <p:nvCxnSpPr>
          <p:cNvPr id="51" name="Straight Connector 50">
            <a:extLst>
              <a:ext uri="{FF2B5EF4-FFF2-40B4-BE49-F238E27FC236}">
                <a16:creationId xmlns:a16="http://schemas.microsoft.com/office/drawing/2014/main" id="{59B90933-7AC5-D857-1F36-42D8A2BBEBA0}"/>
              </a:ext>
            </a:extLst>
          </p:cNvPr>
          <p:cNvCxnSpPr/>
          <p:nvPr/>
        </p:nvCxnSpPr>
        <p:spPr>
          <a:xfrm>
            <a:off x="4893782" y="974332"/>
            <a:ext cx="25527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8388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123825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172812" y="2510850"/>
            <a:ext cx="826144" cy="533400"/>
          </a:xfrm>
          <a:prstGeom prst="rect">
            <a:avLst/>
          </a:prstGeom>
          <a:noFill/>
          <a:ln>
            <a:noFill/>
          </a:ln>
        </p:spPr>
      </p:pic>
      <p:pic>
        <p:nvPicPr>
          <p:cNvPr id="92" name="Google Shape;92;p13" descr="image.png"/>
          <p:cNvPicPr preferRelativeResize="0"/>
          <p:nvPr/>
        </p:nvPicPr>
        <p:blipFill rotWithShape="1">
          <a:blip r:embed="rId5">
            <a:alphaModFix/>
          </a:blip>
          <a:srcRect/>
          <a:stretch/>
        </p:blipFill>
        <p:spPr>
          <a:xfrm>
            <a:off x="172812" y="4569389"/>
            <a:ext cx="790277" cy="533400"/>
          </a:xfrm>
          <a:prstGeom prst="rect">
            <a:avLst/>
          </a:prstGeom>
          <a:noFill/>
          <a:ln>
            <a:noFill/>
          </a:ln>
        </p:spPr>
      </p:pic>
      <p:sp>
        <p:nvSpPr>
          <p:cNvPr id="100" name="Google Shape;100;p13"/>
          <p:cNvSpPr txBox="1"/>
          <p:nvPr/>
        </p:nvSpPr>
        <p:spPr>
          <a:xfrm>
            <a:off x="476250" y="214312"/>
            <a:ext cx="3599199"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FFFFF"/>
                </a:solidFill>
                <a:latin typeface="Times New Roman"/>
                <a:ea typeface="Times New Roman"/>
                <a:cs typeface="Times New Roman"/>
                <a:sym typeface="Times New Roman"/>
              </a:rPr>
              <a:t>Giải pháp tổng thể</a:t>
            </a:r>
            <a:endParaRPr/>
          </a:p>
        </p:txBody>
      </p:sp>
      <p:sp>
        <p:nvSpPr>
          <p:cNvPr id="101" name="Google Shape;101;p13"/>
          <p:cNvSpPr txBox="1"/>
          <p:nvPr/>
        </p:nvSpPr>
        <p:spPr>
          <a:xfrm>
            <a:off x="476250" y="776287"/>
            <a:ext cx="3427809"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1" u="none" strike="noStrike" cap="none">
                <a:solidFill>
                  <a:srgbClr val="93C5FD"/>
                </a:solidFill>
                <a:latin typeface="Times New Roman"/>
                <a:ea typeface="Times New Roman"/>
                <a:cs typeface="Times New Roman"/>
                <a:sym typeface="Times New Roman"/>
              </a:rPr>
              <a:t>Từ 3 insights — 10 giải pháp hành động</a:t>
            </a:r>
            <a:endParaRPr sz="1200" i="1"/>
          </a:p>
        </p:txBody>
      </p:sp>
      <p:sp>
        <p:nvSpPr>
          <p:cNvPr id="106" name="Google Shape;106;p13"/>
          <p:cNvSpPr txBox="1"/>
          <p:nvPr/>
        </p:nvSpPr>
        <p:spPr>
          <a:xfrm>
            <a:off x="218182" y="3084314"/>
            <a:ext cx="770632"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64748B"/>
                </a:solidFill>
                <a:latin typeface="Times New Roman"/>
                <a:ea typeface="Times New Roman"/>
                <a:cs typeface="Times New Roman"/>
                <a:sym typeface="Times New Roman"/>
              </a:rPr>
              <a:t>1 – 2 học kỳ</a:t>
            </a:r>
            <a:endParaRPr/>
          </a:p>
        </p:txBody>
      </p:sp>
      <p:sp>
        <p:nvSpPr>
          <p:cNvPr id="107" name="Google Shape;107;p13"/>
          <p:cNvSpPr txBox="1"/>
          <p:nvPr/>
        </p:nvSpPr>
        <p:spPr>
          <a:xfrm>
            <a:off x="262866" y="5179352"/>
            <a:ext cx="630882"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64748B"/>
                </a:solidFill>
                <a:latin typeface="Times New Roman"/>
                <a:ea typeface="Times New Roman"/>
                <a:cs typeface="Times New Roman"/>
                <a:sym typeface="Times New Roman"/>
              </a:rPr>
              <a:t>1 – 3 năm</a:t>
            </a:r>
            <a:endParaRPr/>
          </a:p>
        </p:txBody>
      </p:sp>
      <p:sp>
        <p:nvSpPr>
          <p:cNvPr id="109" name="Google Shape;109;p13"/>
          <p:cNvSpPr txBox="1"/>
          <p:nvPr/>
        </p:nvSpPr>
        <p:spPr>
          <a:xfrm>
            <a:off x="1390204" y="2007765"/>
            <a:ext cx="1294209" cy="570156"/>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vi-VN" sz="1425" b="1" i="0" u="none" strike="noStrike" cap="none">
                <a:solidFill>
                  <a:srgbClr val="1E293B"/>
                </a:solidFill>
                <a:latin typeface="Times New Roman"/>
                <a:ea typeface="Times New Roman"/>
                <a:cs typeface="Times New Roman"/>
                <a:sym typeface="Times New Roman"/>
              </a:rPr>
              <a:t>Sử dụng AI hiệu quả</a:t>
            </a:r>
            <a:endParaRPr/>
          </a:p>
        </p:txBody>
      </p:sp>
      <p:sp>
        <p:nvSpPr>
          <p:cNvPr id="110" name="Google Shape;110;p13"/>
          <p:cNvSpPr txBox="1"/>
          <p:nvPr/>
        </p:nvSpPr>
        <p:spPr>
          <a:xfrm>
            <a:off x="1274861" y="2592361"/>
            <a:ext cx="1425474" cy="1292662"/>
          </a:xfrm>
          <a:prstGeom prst="rect">
            <a:avLst/>
          </a:prstGeom>
          <a:noFill/>
          <a:ln>
            <a:noFill/>
          </a:ln>
        </p:spPr>
        <p:txBody>
          <a:bodyPr spcFirstLastPara="1" wrap="square" lIns="0" tIns="0" rIns="0" bIns="0" anchor="t" anchorCtr="0">
            <a:spAutoFit/>
          </a:bodyPr>
          <a:lstStyle/>
          <a:p>
            <a:pPr marL="171450" marR="0" lvl="0" indent="-171450" rtl="0">
              <a:lnSpc>
                <a:spcPct val="139916"/>
              </a:lnSpc>
              <a:spcBef>
                <a:spcPts val="0"/>
              </a:spcBef>
              <a:spcAft>
                <a:spcPts val="0"/>
              </a:spcAft>
              <a:buFont typeface="Wingdings" panose="05000000000000000000" pitchFamily="2" charset="2"/>
              <a:buChar char="§"/>
            </a:pPr>
            <a:r>
              <a:rPr lang="vi-VN" sz="1200" b="0" i="0" u="none" strike="noStrike" cap="none">
                <a:solidFill>
                  <a:srgbClr val="475569"/>
                </a:solidFill>
                <a:latin typeface="Times New Roman"/>
                <a:ea typeface="Times New Roman"/>
                <a:cs typeface="Times New Roman"/>
                <a:sym typeface="Times New Roman"/>
              </a:rPr>
              <a:t>Tổ chức các</a:t>
            </a:r>
            <a:r>
              <a:rPr lang="vi-VN" sz="1200">
                <a:solidFill>
                  <a:srgbClr val="475569"/>
                </a:solidFill>
                <a:latin typeface="Times New Roman"/>
                <a:ea typeface="Times New Roman"/>
                <a:cs typeface="Times New Roman"/>
                <a:sym typeface="Times New Roman"/>
              </a:rPr>
              <a:t> c</a:t>
            </a:r>
            <a:r>
              <a:rPr lang="en-US" sz="1200" b="0" i="0" u="none" strike="noStrike" cap="none">
                <a:solidFill>
                  <a:srgbClr val="475569"/>
                </a:solidFill>
                <a:latin typeface="Times New Roman"/>
                <a:ea typeface="Times New Roman"/>
                <a:cs typeface="Times New Roman"/>
                <a:sym typeface="Times New Roman"/>
              </a:rPr>
              <a:t>huyên đề, workshop </a:t>
            </a:r>
            <a:r>
              <a:rPr lang="vi-VN" sz="1200" b="0" i="0" u="none" strike="noStrike" cap="none">
                <a:solidFill>
                  <a:srgbClr val="475569"/>
                </a:solidFill>
                <a:latin typeface="Times New Roman"/>
                <a:ea typeface="Times New Roman"/>
                <a:cs typeface="Times New Roman"/>
                <a:sym typeface="Times New Roman"/>
              </a:rPr>
              <a:t>AI</a:t>
            </a:r>
          </a:p>
          <a:p>
            <a:pPr marL="171450" marR="0" lvl="0" indent="-171450" rtl="0">
              <a:lnSpc>
                <a:spcPct val="139916"/>
              </a:lnSpc>
              <a:spcBef>
                <a:spcPts val="0"/>
              </a:spcBef>
              <a:spcAft>
                <a:spcPts val="0"/>
              </a:spcAft>
              <a:buFont typeface="Wingdings" panose="05000000000000000000" pitchFamily="2" charset="2"/>
              <a:buChar char="§"/>
            </a:pPr>
            <a:r>
              <a:rPr lang="vi-VN" sz="1200">
                <a:solidFill>
                  <a:srgbClr val="475569"/>
                </a:solidFill>
                <a:latin typeface="Times New Roman"/>
                <a:cs typeface="Times New Roman"/>
              </a:rPr>
              <a:t>Giảng viên hướng sinh viên sử dụng AI đúng cách.</a:t>
            </a:r>
            <a:endParaRPr sz="1200">
              <a:solidFill>
                <a:srgbClr val="475569"/>
              </a:solidFill>
              <a:latin typeface="Times New Roman"/>
              <a:cs typeface="Times New Roman"/>
            </a:endParaRPr>
          </a:p>
        </p:txBody>
      </p:sp>
      <p:sp>
        <p:nvSpPr>
          <p:cNvPr id="112" name="Google Shape;112;p13"/>
          <p:cNvSpPr txBox="1"/>
          <p:nvPr/>
        </p:nvSpPr>
        <p:spPr>
          <a:xfrm>
            <a:off x="3189239" y="2007765"/>
            <a:ext cx="1294209" cy="570156"/>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en-US" sz="1425" b="1" i="0" u="none" strike="noStrike" cap="none">
                <a:solidFill>
                  <a:srgbClr val="1E293B"/>
                </a:solidFill>
                <a:latin typeface="Times New Roman"/>
                <a:ea typeface="Times New Roman"/>
                <a:cs typeface="Times New Roman"/>
                <a:sym typeface="Times New Roman"/>
              </a:rPr>
              <a:t>Rà soát phương pháp đánh giá</a:t>
            </a:r>
            <a:endParaRPr/>
          </a:p>
        </p:txBody>
      </p:sp>
      <p:sp>
        <p:nvSpPr>
          <p:cNvPr id="113" name="Google Shape;113;p13"/>
          <p:cNvSpPr txBox="1"/>
          <p:nvPr/>
        </p:nvSpPr>
        <p:spPr>
          <a:xfrm>
            <a:off x="3121111" y="2849923"/>
            <a:ext cx="1493601" cy="775597"/>
          </a:xfrm>
          <a:prstGeom prst="rect">
            <a:avLst/>
          </a:prstGeom>
          <a:noFill/>
          <a:ln>
            <a:noFill/>
          </a:ln>
        </p:spPr>
        <p:txBody>
          <a:bodyPr spcFirstLastPara="1" wrap="square" lIns="0" tIns="0" rIns="0" bIns="0" anchor="t" anchorCtr="0">
            <a:spAutoFit/>
          </a:bodyPr>
          <a:lstStyle/>
          <a:p>
            <a:pPr marL="171450" marR="0" lvl="0" indent="-171450" rtl="0">
              <a:lnSpc>
                <a:spcPct val="139916"/>
              </a:lnSpc>
              <a:spcBef>
                <a:spcPts val="0"/>
              </a:spcBef>
              <a:spcAft>
                <a:spcPts val="0"/>
              </a:spcAft>
              <a:buFont typeface="Wingdings" panose="05000000000000000000" pitchFamily="2" charset="2"/>
              <a:buChar char="§"/>
            </a:pPr>
            <a:r>
              <a:rPr lang="en-US" sz="1200" b="0" i="0" u="none" strike="noStrike" cap="none">
                <a:solidFill>
                  <a:srgbClr val="475569"/>
                </a:solidFill>
                <a:latin typeface="Times New Roman"/>
                <a:ea typeface="Times New Roman"/>
                <a:cs typeface="Times New Roman"/>
                <a:sym typeface="Times New Roman"/>
              </a:rPr>
              <a:t>Kiểm tra barem chấm điểm, đặc biệt các môn Kinh tế.</a:t>
            </a:r>
            <a:endParaRPr/>
          </a:p>
        </p:txBody>
      </p:sp>
      <p:sp>
        <p:nvSpPr>
          <p:cNvPr id="115" name="Google Shape;115;p13"/>
          <p:cNvSpPr txBox="1"/>
          <p:nvPr/>
        </p:nvSpPr>
        <p:spPr>
          <a:xfrm>
            <a:off x="4740073" y="1987003"/>
            <a:ext cx="1711225" cy="570156"/>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vi-VN" sz="1425" b="1" i="0" u="none" strike="noStrike" cap="none">
                <a:solidFill>
                  <a:srgbClr val="1E293B"/>
                </a:solidFill>
                <a:latin typeface="Times New Roman"/>
                <a:ea typeface="Times New Roman"/>
                <a:cs typeface="Times New Roman"/>
                <a:sym typeface="Times New Roman"/>
              </a:rPr>
              <a:t>Đảm bảo </a:t>
            </a:r>
            <a:r>
              <a:rPr lang="en-US" sz="1425" b="1" i="0" u="none" strike="noStrike" cap="none">
                <a:solidFill>
                  <a:srgbClr val="1E293B"/>
                </a:solidFill>
                <a:latin typeface="Times New Roman"/>
                <a:ea typeface="Times New Roman"/>
                <a:cs typeface="Times New Roman"/>
                <a:sym typeface="Times New Roman"/>
              </a:rPr>
              <a:t>Giảng viên bám sát barem</a:t>
            </a:r>
            <a:endParaRPr/>
          </a:p>
        </p:txBody>
      </p:sp>
      <p:sp>
        <p:nvSpPr>
          <p:cNvPr id="116" name="Google Shape;116;p13"/>
          <p:cNvSpPr txBox="1"/>
          <p:nvPr/>
        </p:nvSpPr>
        <p:spPr>
          <a:xfrm>
            <a:off x="4845397" y="2849923"/>
            <a:ext cx="1568350" cy="1034129"/>
          </a:xfrm>
          <a:prstGeom prst="rect">
            <a:avLst/>
          </a:prstGeom>
          <a:noFill/>
          <a:ln>
            <a:noFill/>
          </a:ln>
        </p:spPr>
        <p:txBody>
          <a:bodyPr spcFirstLastPara="1" wrap="square" lIns="0" tIns="0" rIns="0" bIns="0" anchor="t" anchorCtr="0">
            <a:spAutoFit/>
          </a:bodyPr>
          <a:lstStyle/>
          <a:p>
            <a:pPr marL="171450" marR="0" lvl="0" indent="-171450" rtl="0">
              <a:lnSpc>
                <a:spcPct val="139916"/>
              </a:lnSpc>
              <a:spcBef>
                <a:spcPts val="0"/>
              </a:spcBef>
              <a:spcAft>
                <a:spcPts val="0"/>
              </a:spcAft>
              <a:buFont typeface="Wingdings" panose="05000000000000000000" pitchFamily="2" charset="2"/>
              <a:buChar char="§"/>
            </a:pPr>
            <a:r>
              <a:rPr lang="en-US" sz="1200" b="0" i="0" u="none" strike="noStrike" cap="none">
                <a:solidFill>
                  <a:srgbClr val="475569"/>
                </a:solidFill>
                <a:latin typeface="Times New Roman"/>
                <a:ea typeface="Times New Roman"/>
                <a:cs typeface="Times New Roman"/>
                <a:sym typeface="Times New Roman"/>
              </a:rPr>
              <a:t>Đảm bảo tính phân hóa và công bằng trong đánh giá quá trình.</a:t>
            </a:r>
            <a:endParaRPr/>
          </a:p>
        </p:txBody>
      </p:sp>
      <p:sp>
        <p:nvSpPr>
          <p:cNvPr id="118" name="Google Shape;118;p13"/>
          <p:cNvSpPr txBox="1"/>
          <p:nvPr/>
        </p:nvSpPr>
        <p:spPr>
          <a:xfrm>
            <a:off x="6787308" y="2007765"/>
            <a:ext cx="1294209" cy="570156"/>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en-US" sz="1425" b="1" i="0" u="none" strike="noStrike" cap="none">
                <a:solidFill>
                  <a:srgbClr val="1E293B"/>
                </a:solidFill>
                <a:latin typeface="Times New Roman"/>
                <a:ea typeface="Times New Roman"/>
                <a:cs typeface="Times New Roman"/>
                <a:sym typeface="Times New Roman"/>
              </a:rPr>
              <a:t>Tăng lấy ý kiến sinh viên</a:t>
            </a:r>
            <a:endParaRPr/>
          </a:p>
        </p:txBody>
      </p:sp>
      <p:sp>
        <p:nvSpPr>
          <p:cNvPr id="119" name="Google Shape;119;p13"/>
          <p:cNvSpPr txBox="1"/>
          <p:nvPr/>
        </p:nvSpPr>
        <p:spPr>
          <a:xfrm>
            <a:off x="6644432" y="2849923"/>
            <a:ext cx="1579960" cy="775597"/>
          </a:xfrm>
          <a:prstGeom prst="rect">
            <a:avLst/>
          </a:prstGeom>
          <a:noFill/>
          <a:ln>
            <a:noFill/>
          </a:ln>
        </p:spPr>
        <p:txBody>
          <a:bodyPr spcFirstLastPara="1" wrap="square" lIns="0" tIns="0" rIns="0" bIns="0" anchor="t" anchorCtr="0">
            <a:spAutoFit/>
          </a:bodyPr>
          <a:lstStyle/>
          <a:p>
            <a:pPr marL="171450" marR="0" lvl="0" indent="-171450" rtl="0">
              <a:lnSpc>
                <a:spcPct val="139916"/>
              </a:lnSpc>
              <a:spcBef>
                <a:spcPts val="0"/>
              </a:spcBef>
              <a:spcAft>
                <a:spcPts val="0"/>
              </a:spcAft>
              <a:buFont typeface="Wingdings" panose="05000000000000000000" pitchFamily="2" charset="2"/>
              <a:buChar char="§"/>
            </a:pPr>
            <a:r>
              <a:rPr lang="en-US" sz="1200" b="0" i="0" u="none" strike="noStrike" cap="none">
                <a:solidFill>
                  <a:srgbClr val="475569"/>
                </a:solidFill>
                <a:latin typeface="Times New Roman"/>
                <a:ea typeface="Times New Roman"/>
                <a:cs typeface="Times New Roman"/>
                <a:sym typeface="Times New Roman"/>
              </a:rPr>
              <a:t>Thu thập phản hồi thường xuyên về chất lượng môn học.</a:t>
            </a:r>
            <a:endParaRPr/>
          </a:p>
        </p:txBody>
      </p:sp>
      <p:sp>
        <p:nvSpPr>
          <p:cNvPr id="121" name="Google Shape;121;p13"/>
          <p:cNvSpPr txBox="1"/>
          <p:nvPr/>
        </p:nvSpPr>
        <p:spPr>
          <a:xfrm>
            <a:off x="8421029" y="1949891"/>
            <a:ext cx="1524893" cy="570156"/>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en-US" sz="1425" b="1" i="0" u="none" strike="noStrike" cap="none">
                <a:solidFill>
                  <a:srgbClr val="1E293B"/>
                </a:solidFill>
                <a:latin typeface="Times New Roman"/>
                <a:ea typeface="Times New Roman"/>
                <a:cs typeface="Times New Roman"/>
                <a:sym typeface="Times New Roman"/>
              </a:rPr>
              <a:t>Rà soát môn "Lạm phát" &amp; "Mắc kẹt"</a:t>
            </a:r>
            <a:endParaRPr/>
          </a:p>
        </p:txBody>
      </p:sp>
      <p:sp>
        <p:nvSpPr>
          <p:cNvPr id="122" name="Google Shape;122;p13"/>
          <p:cNvSpPr txBox="1"/>
          <p:nvPr/>
        </p:nvSpPr>
        <p:spPr>
          <a:xfrm>
            <a:off x="8455077" y="2849923"/>
            <a:ext cx="1556739" cy="775597"/>
          </a:xfrm>
          <a:prstGeom prst="rect">
            <a:avLst/>
          </a:prstGeom>
          <a:noFill/>
          <a:ln>
            <a:noFill/>
          </a:ln>
        </p:spPr>
        <p:txBody>
          <a:bodyPr spcFirstLastPara="1" wrap="square" lIns="0" tIns="0" rIns="0" bIns="0" anchor="t" anchorCtr="0">
            <a:spAutoFit/>
          </a:bodyPr>
          <a:lstStyle/>
          <a:p>
            <a:pPr marL="171450" marR="0" lvl="0" indent="-171450" rtl="0">
              <a:lnSpc>
                <a:spcPct val="139916"/>
              </a:lnSpc>
              <a:spcBef>
                <a:spcPts val="0"/>
              </a:spcBef>
              <a:spcAft>
                <a:spcPts val="0"/>
              </a:spcAft>
              <a:buFont typeface="Wingdings" panose="05000000000000000000" pitchFamily="2" charset="2"/>
              <a:buChar char="§"/>
            </a:pPr>
            <a:r>
              <a:rPr lang="vi-VN" sz="1200" b="0" i="0" u="none" strike="noStrike" cap="none">
                <a:solidFill>
                  <a:srgbClr val="475569"/>
                </a:solidFill>
                <a:latin typeface="Times New Roman"/>
                <a:ea typeface="Times New Roman"/>
                <a:cs typeface="Times New Roman"/>
                <a:sym typeface="Times New Roman"/>
              </a:rPr>
              <a:t>Kiểm tra toàn diện các môn này ngay trong học kì tới.</a:t>
            </a:r>
            <a:endParaRPr/>
          </a:p>
        </p:txBody>
      </p:sp>
      <p:sp>
        <p:nvSpPr>
          <p:cNvPr id="124" name="Google Shape;124;p13"/>
          <p:cNvSpPr txBox="1"/>
          <p:nvPr/>
        </p:nvSpPr>
        <p:spPr>
          <a:xfrm>
            <a:off x="10264227" y="1974801"/>
            <a:ext cx="1437085" cy="570156"/>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en-US" sz="1425" b="1" i="0" u="none" strike="noStrike" cap="none">
                <a:solidFill>
                  <a:srgbClr val="1E293B"/>
                </a:solidFill>
                <a:latin typeface="Times New Roman"/>
                <a:ea typeface="Times New Roman"/>
                <a:cs typeface="Times New Roman"/>
                <a:sym typeface="Times New Roman"/>
              </a:rPr>
              <a:t>Định hướng sinh viên chủ động</a:t>
            </a:r>
            <a:endParaRPr/>
          </a:p>
        </p:txBody>
      </p:sp>
      <p:sp>
        <p:nvSpPr>
          <p:cNvPr id="125" name="Google Shape;125;p13"/>
          <p:cNvSpPr txBox="1"/>
          <p:nvPr/>
        </p:nvSpPr>
        <p:spPr>
          <a:xfrm>
            <a:off x="10242500" y="2849923"/>
            <a:ext cx="1568350" cy="775597"/>
          </a:xfrm>
          <a:prstGeom prst="rect">
            <a:avLst/>
          </a:prstGeom>
          <a:noFill/>
          <a:ln>
            <a:noFill/>
          </a:ln>
        </p:spPr>
        <p:txBody>
          <a:bodyPr spcFirstLastPara="1" wrap="square" lIns="0" tIns="0" rIns="0" bIns="0" anchor="t" anchorCtr="0">
            <a:spAutoFit/>
          </a:bodyPr>
          <a:lstStyle/>
          <a:p>
            <a:pPr marL="171450" marR="0" lvl="0" indent="-171450" rtl="0">
              <a:lnSpc>
                <a:spcPct val="139916"/>
              </a:lnSpc>
              <a:spcBef>
                <a:spcPts val="0"/>
              </a:spcBef>
              <a:spcAft>
                <a:spcPts val="0"/>
              </a:spcAft>
              <a:buFont typeface="Wingdings" panose="05000000000000000000" pitchFamily="2" charset="2"/>
              <a:buChar char="§"/>
            </a:pPr>
            <a:r>
              <a:rPr lang="en-US" sz="1200" b="0" i="0" u="none" strike="noStrike" cap="none">
                <a:solidFill>
                  <a:srgbClr val="475569"/>
                </a:solidFill>
                <a:latin typeface="Times New Roman"/>
                <a:ea typeface="Times New Roman"/>
                <a:cs typeface="Times New Roman"/>
                <a:sym typeface="Times New Roman"/>
              </a:rPr>
              <a:t>Giảng viên hướng dẫn tăng cường tư vấn học thuật cá nhân.</a:t>
            </a:r>
            <a:endParaRPr/>
          </a:p>
        </p:txBody>
      </p:sp>
      <p:sp>
        <p:nvSpPr>
          <p:cNvPr id="127" name="Google Shape;127;p13"/>
          <p:cNvSpPr txBox="1"/>
          <p:nvPr/>
        </p:nvSpPr>
        <p:spPr>
          <a:xfrm>
            <a:off x="1207189" y="4380744"/>
            <a:ext cx="2202805" cy="285078"/>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en-US" sz="1425" b="1" i="0" u="none" strike="noStrike" cap="none">
                <a:solidFill>
                  <a:srgbClr val="1E293B"/>
                </a:solidFill>
                <a:latin typeface="Times New Roman"/>
                <a:ea typeface="Times New Roman"/>
                <a:cs typeface="Times New Roman"/>
                <a:sym typeface="Times New Roman"/>
              </a:rPr>
              <a:t>Định hướng Hybrid thực sự</a:t>
            </a:r>
            <a:endParaRPr/>
          </a:p>
        </p:txBody>
      </p:sp>
      <p:sp>
        <p:nvSpPr>
          <p:cNvPr id="128" name="Google Shape;128;p13"/>
          <p:cNvSpPr txBox="1"/>
          <p:nvPr/>
        </p:nvSpPr>
        <p:spPr>
          <a:xfrm>
            <a:off x="1207188" y="4631540"/>
            <a:ext cx="2202805" cy="1551194"/>
          </a:xfrm>
          <a:prstGeom prst="rect">
            <a:avLst/>
          </a:prstGeom>
          <a:noFill/>
          <a:ln>
            <a:noFill/>
          </a:ln>
        </p:spPr>
        <p:txBody>
          <a:bodyPr spcFirstLastPara="1" wrap="square" lIns="0" tIns="0" rIns="0" bIns="0" anchor="t" anchorCtr="0">
            <a:spAutoFit/>
          </a:bodyPr>
          <a:lstStyle/>
          <a:p>
            <a:pPr marL="171450" marR="0" lvl="0" indent="-171450" algn="l" rtl="0">
              <a:lnSpc>
                <a:spcPct val="139916"/>
              </a:lnSpc>
              <a:spcBef>
                <a:spcPts val="0"/>
              </a:spcBef>
              <a:spcAft>
                <a:spcPts val="0"/>
              </a:spcAft>
              <a:buFont typeface="Wingdings" panose="05000000000000000000" pitchFamily="2" charset="2"/>
              <a:buChar char="§"/>
            </a:pPr>
            <a:r>
              <a:rPr lang="en-US" sz="1200" b="0" i="0" u="none" strike="noStrike" cap="none">
                <a:solidFill>
                  <a:srgbClr val="475569"/>
                </a:solidFill>
                <a:latin typeface="Times New Roman"/>
                <a:ea typeface="Times New Roman"/>
                <a:cs typeface="Times New Roman"/>
                <a:sym typeface="Times New Roman"/>
              </a:rPr>
              <a:t>Cân bằng trọng số Tech/</a:t>
            </a:r>
            <a:r>
              <a:rPr lang="vi-VN" sz="1200" b="0" i="0" u="none" strike="noStrike" cap="none">
                <a:solidFill>
                  <a:srgbClr val="475569"/>
                </a:solidFill>
                <a:latin typeface="Times New Roman"/>
                <a:ea typeface="Times New Roman"/>
                <a:cs typeface="Times New Roman"/>
                <a:sym typeface="Times New Roman"/>
              </a:rPr>
              <a:t>Biz trong CTĐT </a:t>
            </a:r>
          </a:p>
          <a:p>
            <a:pPr marL="171450" marR="0" lvl="0" indent="-171450" algn="l" rtl="0">
              <a:lnSpc>
                <a:spcPct val="139916"/>
              </a:lnSpc>
              <a:spcBef>
                <a:spcPts val="0"/>
              </a:spcBef>
              <a:spcAft>
                <a:spcPts val="0"/>
              </a:spcAft>
              <a:buFont typeface="Wingdings" panose="05000000000000000000" pitchFamily="2" charset="2"/>
              <a:buChar char="§"/>
            </a:pPr>
            <a:r>
              <a:rPr lang="vi-VN" sz="1200" b="0" i="0" u="none" strike="noStrike" cap="none">
                <a:solidFill>
                  <a:srgbClr val="475569"/>
                </a:solidFill>
                <a:latin typeface="Times New Roman"/>
                <a:ea typeface="Times New Roman"/>
                <a:cs typeface="Times New Roman"/>
                <a:sym typeface="Times New Roman"/>
              </a:rPr>
              <a:t>Có kế hoạch mở thêm các lớp lai giữa 2 khối. </a:t>
            </a:r>
          </a:p>
          <a:p>
            <a:pPr marL="171450" marR="0" lvl="0" indent="-171450" algn="l" rtl="0">
              <a:lnSpc>
                <a:spcPct val="139916"/>
              </a:lnSpc>
              <a:spcBef>
                <a:spcPts val="0"/>
              </a:spcBef>
              <a:spcAft>
                <a:spcPts val="0"/>
              </a:spcAft>
              <a:buFont typeface="Wingdings" panose="05000000000000000000" pitchFamily="2" charset="2"/>
              <a:buChar char="§"/>
            </a:pPr>
            <a:r>
              <a:rPr lang="vi-VN" sz="1200" b="0" i="0" u="none" strike="noStrike" cap="none">
                <a:solidFill>
                  <a:srgbClr val="475569"/>
                </a:solidFill>
                <a:latin typeface="Times New Roman"/>
                <a:ea typeface="Times New Roman"/>
                <a:cs typeface="Times New Roman"/>
                <a:sym typeface="Times New Roman"/>
              </a:rPr>
              <a:t>Tăng cường các hoạt động chuyên ngành</a:t>
            </a:r>
            <a:endParaRPr/>
          </a:p>
        </p:txBody>
      </p:sp>
      <p:sp>
        <p:nvSpPr>
          <p:cNvPr id="130" name="Google Shape;130;p13"/>
          <p:cNvSpPr txBox="1"/>
          <p:nvPr/>
        </p:nvSpPr>
        <p:spPr>
          <a:xfrm>
            <a:off x="3925980" y="4380744"/>
            <a:ext cx="2202805" cy="570156"/>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en-US" sz="1425" b="1" i="0" u="none" strike="noStrike" cap="none">
                <a:solidFill>
                  <a:srgbClr val="1E293B"/>
                </a:solidFill>
                <a:latin typeface="Times New Roman"/>
                <a:ea typeface="Times New Roman"/>
                <a:cs typeface="Times New Roman"/>
                <a:sym typeface="Times New Roman"/>
              </a:rPr>
              <a:t>Loại bỏ môn</a:t>
            </a:r>
            <a:r>
              <a:rPr lang="vi-VN" sz="1425" b="1" i="0" u="none" strike="noStrike" cap="none">
                <a:solidFill>
                  <a:srgbClr val="1E293B"/>
                </a:solidFill>
                <a:latin typeface="Times New Roman"/>
                <a:ea typeface="Times New Roman"/>
                <a:cs typeface="Times New Roman"/>
                <a:sym typeface="Times New Roman"/>
              </a:rPr>
              <a:t> tự chọn</a:t>
            </a:r>
            <a:r>
              <a:rPr lang="en-US" sz="1425" b="1" i="0" u="none" strike="noStrike" cap="none">
                <a:solidFill>
                  <a:srgbClr val="1E293B"/>
                </a:solidFill>
                <a:latin typeface="Times New Roman"/>
                <a:ea typeface="Times New Roman"/>
                <a:cs typeface="Times New Roman"/>
                <a:sym typeface="Times New Roman"/>
              </a:rPr>
              <a:t> không có </a:t>
            </a:r>
            <a:r>
              <a:rPr lang="vi-VN" sz="1425" b="1" i="0" u="none" strike="noStrike" cap="none">
                <a:solidFill>
                  <a:srgbClr val="1E293B"/>
                </a:solidFill>
                <a:latin typeface="Times New Roman"/>
                <a:ea typeface="Times New Roman"/>
                <a:cs typeface="Times New Roman"/>
                <a:sym typeface="Times New Roman"/>
              </a:rPr>
              <a:t>nhu cầu</a:t>
            </a:r>
            <a:endParaRPr/>
          </a:p>
        </p:txBody>
      </p:sp>
      <p:sp>
        <p:nvSpPr>
          <p:cNvPr id="131" name="Google Shape;131;p13"/>
          <p:cNvSpPr txBox="1"/>
          <p:nvPr/>
        </p:nvSpPr>
        <p:spPr>
          <a:xfrm>
            <a:off x="3925979" y="4943462"/>
            <a:ext cx="2202805" cy="517065"/>
          </a:xfrm>
          <a:prstGeom prst="rect">
            <a:avLst/>
          </a:prstGeom>
          <a:noFill/>
          <a:ln>
            <a:noFill/>
          </a:ln>
        </p:spPr>
        <p:txBody>
          <a:bodyPr spcFirstLastPara="1" wrap="square" lIns="0" tIns="0" rIns="0" bIns="0" anchor="t" anchorCtr="0">
            <a:spAutoFit/>
          </a:bodyPr>
          <a:lstStyle/>
          <a:p>
            <a:pPr marL="171450" marR="0" lvl="0" indent="-171450" algn="l" rtl="0">
              <a:lnSpc>
                <a:spcPct val="139916"/>
              </a:lnSpc>
              <a:spcBef>
                <a:spcPts val="0"/>
              </a:spcBef>
              <a:spcAft>
                <a:spcPts val="0"/>
              </a:spcAft>
              <a:buFont typeface="Wingdings" panose="05000000000000000000" pitchFamily="2" charset="2"/>
              <a:buChar char="§"/>
            </a:pPr>
            <a:r>
              <a:rPr lang="en-US" sz="1200" b="0" i="0" u="none" strike="noStrike" cap="none">
                <a:solidFill>
                  <a:srgbClr val="475569"/>
                </a:solidFill>
                <a:latin typeface="Times New Roman"/>
                <a:ea typeface="Times New Roman"/>
                <a:cs typeface="Times New Roman"/>
                <a:sym typeface="Times New Roman"/>
              </a:rPr>
              <a:t>Cân nhắc xoá hoặc tái thiết kế các môn tự chọn không ai chọn.</a:t>
            </a:r>
            <a:endParaRPr/>
          </a:p>
        </p:txBody>
      </p:sp>
      <p:sp>
        <p:nvSpPr>
          <p:cNvPr id="133" name="Google Shape;133;p13"/>
          <p:cNvSpPr txBox="1"/>
          <p:nvPr/>
        </p:nvSpPr>
        <p:spPr>
          <a:xfrm>
            <a:off x="6633610" y="4380744"/>
            <a:ext cx="2202805" cy="285078"/>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en-US" sz="1425" b="1" i="0" u="none" strike="noStrike" cap="none">
                <a:solidFill>
                  <a:srgbClr val="1E293B"/>
                </a:solidFill>
                <a:latin typeface="Times New Roman"/>
                <a:ea typeface="Times New Roman"/>
                <a:cs typeface="Times New Roman"/>
                <a:sym typeface="Times New Roman"/>
              </a:rPr>
              <a:t>Chuyển dịch cấu trúc đề thi</a:t>
            </a:r>
            <a:endParaRPr/>
          </a:p>
        </p:txBody>
      </p:sp>
      <p:sp>
        <p:nvSpPr>
          <p:cNvPr id="134" name="Google Shape;134;p13"/>
          <p:cNvSpPr txBox="1"/>
          <p:nvPr/>
        </p:nvSpPr>
        <p:spPr>
          <a:xfrm>
            <a:off x="6633609" y="4833737"/>
            <a:ext cx="2202805" cy="517065"/>
          </a:xfrm>
          <a:prstGeom prst="rect">
            <a:avLst/>
          </a:prstGeom>
          <a:noFill/>
          <a:ln>
            <a:noFill/>
          </a:ln>
        </p:spPr>
        <p:txBody>
          <a:bodyPr spcFirstLastPara="1" wrap="square" lIns="0" tIns="0" rIns="0" bIns="0" anchor="t" anchorCtr="0">
            <a:spAutoFit/>
          </a:bodyPr>
          <a:lstStyle/>
          <a:p>
            <a:pPr marL="171450" marR="0" lvl="0" indent="-171450" algn="l" rtl="0">
              <a:lnSpc>
                <a:spcPct val="139916"/>
              </a:lnSpc>
              <a:spcBef>
                <a:spcPts val="0"/>
              </a:spcBef>
              <a:spcAft>
                <a:spcPts val="0"/>
              </a:spcAft>
              <a:buFont typeface="Wingdings" panose="05000000000000000000" pitchFamily="2" charset="2"/>
              <a:buChar char="§"/>
            </a:pPr>
            <a:r>
              <a:rPr lang="en-US" sz="1200" b="0" i="0" u="none" strike="noStrike" cap="none">
                <a:solidFill>
                  <a:srgbClr val="475569"/>
                </a:solidFill>
                <a:latin typeface="Times New Roman"/>
                <a:ea typeface="Times New Roman"/>
                <a:cs typeface="Times New Roman"/>
                <a:sym typeface="Times New Roman"/>
              </a:rPr>
              <a:t>Ưu tiên đồ án, báo cáo cuối kỳ thay vì trắc nghiệm 4 đáp án.</a:t>
            </a:r>
            <a:endParaRPr/>
          </a:p>
        </p:txBody>
      </p:sp>
      <p:sp>
        <p:nvSpPr>
          <p:cNvPr id="136" name="Google Shape;136;p13"/>
          <p:cNvSpPr txBox="1"/>
          <p:nvPr/>
        </p:nvSpPr>
        <p:spPr>
          <a:xfrm>
            <a:off x="9341240" y="4380744"/>
            <a:ext cx="2202805" cy="285078"/>
          </a:xfrm>
          <a:prstGeom prst="rect">
            <a:avLst/>
          </a:prstGeom>
          <a:noFill/>
          <a:ln>
            <a:noFill/>
          </a:ln>
        </p:spPr>
        <p:txBody>
          <a:bodyPr spcFirstLastPara="1" wrap="square" lIns="0" tIns="0" rIns="0" bIns="0" anchor="t" anchorCtr="0">
            <a:spAutoFit/>
          </a:bodyPr>
          <a:lstStyle/>
          <a:p>
            <a:pPr marL="0" marR="0" lvl="0" indent="0" algn="ctr" rtl="0">
              <a:lnSpc>
                <a:spcPct val="129964"/>
              </a:lnSpc>
              <a:spcBef>
                <a:spcPts val="0"/>
              </a:spcBef>
              <a:spcAft>
                <a:spcPts val="0"/>
              </a:spcAft>
              <a:buNone/>
            </a:pPr>
            <a:r>
              <a:rPr lang="en-US" sz="1425" b="1" i="0" u="none" strike="noStrike" cap="none">
                <a:solidFill>
                  <a:srgbClr val="1E293B"/>
                </a:solidFill>
                <a:latin typeface="Times New Roman"/>
                <a:ea typeface="Times New Roman"/>
                <a:cs typeface="Times New Roman"/>
                <a:sym typeface="Times New Roman"/>
              </a:rPr>
              <a:t>Nâng dần mức phân hóa</a:t>
            </a:r>
            <a:endParaRPr/>
          </a:p>
        </p:txBody>
      </p:sp>
      <p:sp>
        <p:nvSpPr>
          <p:cNvPr id="137" name="Google Shape;137;p13"/>
          <p:cNvSpPr txBox="1"/>
          <p:nvPr/>
        </p:nvSpPr>
        <p:spPr>
          <a:xfrm>
            <a:off x="9341240" y="4778297"/>
            <a:ext cx="2202805" cy="775597"/>
          </a:xfrm>
          <a:prstGeom prst="rect">
            <a:avLst/>
          </a:prstGeom>
          <a:noFill/>
          <a:ln>
            <a:noFill/>
          </a:ln>
        </p:spPr>
        <p:txBody>
          <a:bodyPr spcFirstLastPara="1" wrap="square" lIns="0" tIns="0" rIns="0" bIns="0" anchor="t" anchorCtr="0">
            <a:spAutoFit/>
          </a:bodyPr>
          <a:lstStyle/>
          <a:p>
            <a:pPr marL="171450" marR="0" lvl="0" indent="-171450" algn="l" rtl="0">
              <a:lnSpc>
                <a:spcPct val="139916"/>
              </a:lnSpc>
              <a:spcBef>
                <a:spcPts val="0"/>
              </a:spcBef>
              <a:spcAft>
                <a:spcPts val="0"/>
              </a:spcAft>
              <a:buFont typeface="Wingdings" panose="05000000000000000000" pitchFamily="2" charset="2"/>
              <a:buChar char="§"/>
            </a:pPr>
            <a:r>
              <a:rPr lang="en-US" sz="1200" b="0" i="0" u="none" strike="noStrike" cap="none">
                <a:solidFill>
                  <a:srgbClr val="475569"/>
                </a:solidFill>
                <a:latin typeface="Times New Roman"/>
                <a:ea typeface="Times New Roman"/>
                <a:cs typeface="Times New Roman"/>
                <a:sym typeface="Times New Roman"/>
              </a:rPr>
              <a:t>Mục tiêu độ lệch chuẩn 1.2 – 1.3, nâng chất lượng nguồn nhân lực AI.</a:t>
            </a:r>
            <a:endParaRPr/>
          </a:p>
        </p:txBody>
      </p:sp>
      <p:sp>
        <p:nvSpPr>
          <p:cNvPr id="2" name="Rectangle: Rounded Corners 1">
            <a:extLst>
              <a:ext uri="{FF2B5EF4-FFF2-40B4-BE49-F238E27FC236}">
                <a16:creationId xmlns:a16="http://schemas.microsoft.com/office/drawing/2014/main" id="{4CD8F734-3CF6-3D66-5DD1-D72AFDC011D5}"/>
              </a:ext>
            </a:extLst>
          </p:cNvPr>
          <p:cNvSpPr/>
          <p:nvPr/>
        </p:nvSpPr>
        <p:spPr>
          <a:xfrm>
            <a:off x="1177047" y="1624519"/>
            <a:ext cx="10824454" cy="2372979"/>
          </a:xfrm>
          <a:prstGeom prst="roundRect">
            <a:avLst>
              <a:gd name="adj" fmla="val 2729"/>
            </a:avLst>
          </a:prstGeom>
          <a:noFill/>
          <a:ln w="9525">
            <a:solidFill>
              <a:srgbClr val="0B60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D1E9A467-E42A-A430-72A1-33ACBDDE7229}"/>
              </a:ext>
            </a:extLst>
          </p:cNvPr>
          <p:cNvSpPr/>
          <p:nvPr/>
        </p:nvSpPr>
        <p:spPr>
          <a:xfrm>
            <a:off x="1143449" y="4290262"/>
            <a:ext cx="10824454" cy="2032717"/>
          </a:xfrm>
          <a:prstGeom prst="roundRect">
            <a:avLst>
              <a:gd name="adj" fmla="val 2729"/>
            </a:avLst>
          </a:prstGeom>
          <a:noFill/>
          <a:ln w="9525">
            <a:solidFill>
              <a:srgbClr val="0B60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378C6C-5BD0-4FB5-4B70-E496E12C2AAC}"/>
              </a:ext>
            </a:extLst>
          </p:cNvPr>
          <p:cNvCxnSpPr>
            <a:cxnSpLocks/>
          </p:cNvCxnSpPr>
          <p:nvPr/>
        </p:nvCxnSpPr>
        <p:spPr>
          <a:xfrm>
            <a:off x="2937753" y="1987003"/>
            <a:ext cx="0" cy="1533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9DF8ADE-81E5-0D3B-3263-E048953ED7C3}"/>
              </a:ext>
            </a:extLst>
          </p:cNvPr>
          <p:cNvCxnSpPr>
            <a:cxnSpLocks/>
          </p:cNvCxnSpPr>
          <p:nvPr/>
        </p:nvCxnSpPr>
        <p:spPr>
          <a:xfrm>
            <a:off x="4668735" y="1987003"/>
            <a:ext cx="0" cy="1533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4D33718-334D-A1B4-EC99-351ABD497212}"/>
              </a:ext>
            </a:extLst>
          </p:cNvPr>
          <p:cNvCxnSpPr>
            <a:cxnSpLocks/>
          </p:cNvCxnSpPr>
          <p:nvPr/>
        </p:nvCxnSpPr>
        <p:spPr>
          <a:xfrm>
            <a:off x="6499938" y="1987003"/>
            <a:ext cx="0" cy="1533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60F3F48-EA7F-AC6B-DA46-B1DE45AA963F}"/>
              </a:ext>
            </a:extLst>
          </p:cNvPr>
          <p:cNvCxnSpPr>
            <a:cxnSpLocks/>
          </p:cNvCxnSpPr>
          <p:nvPr/>
        </p:nvCxnSpPr>
        <p:spPr>
          <a:xfrm>
            <a:off x="8309469" y="1987003"/>
            <a:ext cx="0" cy="1533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52A095C-95C0-FBE1-5F62-DF30900DBB2E}"/>
              </a:ext>
            </a:extLst>
          </p:cNvPr>
          <p:cNvCxnSpPr>
            <a:cxnSpLocks/>
          </p:cNvCxnSpPr>
          <p:nvPr/>
        </p:nvCxnSpPr>
        <p:spPr>
          <a:xfrm>
            <a:off x="10105842" y="1987003"/>
            <a:ext cx="0" cy="1533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2D2F6A1-8A78-331C-DCC3-8BBDAB2763CA}"/>
              </a:ext>
            </a:extLst>
          </p:cNvPr>
          <p:cNvCxnSpPr>
            <a:cxnSpLocks/>
          </p:cNvCxnSpPr>
          <p:nvPr/>
        </p:nvCxnSpPr>
        <p:spPr>
          <a:xfrm>
            <a:off x="3672617" y="4399544"/>
            <a:ext cx="0" cy="1533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FA307A8-EE5E-60B3-4AD0-C27262F097BE}"/>
              </a:ext>
            </a:extLst>
          </p:cNvPr>
          <p:cNvCxnSpPr>
            <a:cxnSpLocks/>
          </p:cNvCxnSpPr>
          <p:nvPr/>
        </p:nvCxnSpPr>
        <p:spPr>
          <a:xfrm>
            <a:off x="6337972" y="4399544"/>
            <a:ext cx="0" cy="1533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67231BC-390C-86CA-64F9-433886E5D381}"/>
              </a:ext>
            </a:extLst>
          </p:cNvPr>
          <p:cNvCxnSpPr>
            <a:cxnSpLocks/>
          </p:cNvCxnSpPr>
          <p:nvPr/>
        </p:nvCxnSpPr>
        <p:spPr>
          <a:xfrm>
            <a:off x="9068202" y="4399544"/>
            <a:ext cx="0" cy="1533103"/>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0DEBAB0-E879-8C88-F471-6190567A6260}"/>
            </a:ext>
          </a:extLst>
        </p:cNvPr>
        <p:cNvGrpSpPr/>
        <p:nvPr/>
      </p:nvGrpSpPr>
      <p:grpSpPr>
        <a:xfrm>
          <a:off x="0" y="0"/>
          <a:ext cx="0" cy="0"/>
          <a:chOff x="0" y="0"/>
          <a:chExt cx="0" cy="0"/>
        </a:xfrm>
      </p:grpSpPr>
      <p:sp>
        <p:nvSpPr>
          <p:cNvPr id="2" name="Google Shape;88;p13">
            <a:extLst>
              <a:ext uri="{FF2B5EF4-FFF2-40B4-BE49-F238E27FC236}">
                <a16:creationId xmlns:a16="http://schemas.microsoft.com/office/drawing/2014/main" id="{FC06381B-ED9E-0688-71C1-C6BF8E009C25}"/>
              </a:ext>
            </a:extLst>
          </p:cNvPr>
          <p:cNvSpPr txBox="1"/>
          <p:nvPr/>
        </p:nvSpPr>
        <p:spPr>
          <a:xfrm>
            <a:off x="4687922" y="2403155"/>
            <a:ext cx="3473584" cy="138499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vi-VN" sz="9000" b="0" i="0" u="none" strike="noStrike" cap="none">
                <a:solidFill>
                  <a:srgbClr val="3B82F6"/>
                </a:solidFill>
                <a:latin typeface="Montserrat Light"/>
                <a:ea typeface="Montserrat Light"/>
                <a:cs typeface="Montserrat Light"/>
                <a:sym typeface="Montserrat Light"/>
              </a:rPr>
              <a:t>END</a:t>
            </a:r>
            <a:endParaRPr/>
          </a:p>
        </p:txBody>
      </p:sp>
    </p:spTree>
    <p:extLst>
      <p:ext uri="{BB962C8B-B14F-4D97-AF65-F5344CB8AC3E}">
        <p14:creationId xmlns:p14="http://schemas.microsoft.com/office/powerpoint/2010/main" val="12910013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3369</TotalTime>
  <Words>3962</Words>
  <Application>Microsoft Office PowerPoint</Application>
  <PresentationFormat>Widescreen</PresentationFormat>
  <Paragraphs>440</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Wingdings</vt:lpstr>
      <vt:lpstr>Montserrat</vt:lpstr>
      <vt:lpstr>Times New Roman</vt:lpstr>
      <vt:lpstr>Montserrat Light</vt:lpstr>
      <vt:lpstr>Roboto Light</vt:lpstr>
      <vt:lpstr>Calibri</vt:lpstr>
      <vt:lpstr>Cambria Math</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PC</dc:creator>
  <cp:lastModifiedBy>Bảo tôn</cp:lastModifiedBy>
  <cp:revision>76</cp:revision>
  <dcterms:modified xsi:type="dcterms:W3CDTF">2026-05-29T06:14:46Z</dcterms:modified>
</cp:coreProperties>
</file>